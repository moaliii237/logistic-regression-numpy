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8" r:id="rId4"/>
  </p:sldMasterIdLst>
  <p:notesMasterIdLst>
    <p:notesMasterId r:id="rId56"/>
  </p:notesMasterIdLst>
  <p:sldIdLst>
    <p:sldId id="256" r:id="rId5"/>
    <p:sldId id="257" r:id="rId6"/>
    <p:sldId id="258" r:id="rId7"/>
    <p:sldId id="263" r:id="rId8"/>
    <p:sldId id="260" r:id="rId9"/>
    <p:sldId id="261" r:id="rId10"/>
    <p:sldId id="262" r:id="rId11"/>
    <p:sldId id="364" r:id="rId12"/>
    <p:sldId id="365" r:id="rId13"/>
    <p:sldId id="305" r:id="rId14"/>
    <p:sldId id="264" r:id="rId15"/>
    <p:sldId id="361" r:id="rId16"/>
    <p:sldId id="265" r:id="rId17"/>
    <p:sldId id="268" r:id="rId18"/>
    <p:sldId id="362" r:id="rId19"/>
    <p:sldId id="269" r:id="rId20"/>
    <p:sldId id="270" r:id="rId21"/>
    <p:sldId id="363" r:id="rId22"/>
    <p:sldId id="271" r:id="rId23"/>
    <p:sldId id="324" r:id="rId24"/>
    <p:sldId id="366" r:id="rId25"/>
    <p:sldId id="325" r:id="rId26"/>
    <p:sldId id="308" r:id="rId27"/>
    <p:sldId id="367" r:id="rId28"/>
    <p:sldId id="326" r:id="rId29"/>
    <p:sldId id="327" r:id="rId30"/>
    <p:sldId id="311" r:id="rId31"/>
    <p:sldId id="328" r:id="rId32"/>
    <p:sldId id="329" r:id="rId33"/>
    <p:sldId id="331" r:id="rId34"/>
    <p:sldId id="332" r:id="rId35"/>
    <p:sldId id="282" r:id="rId36"/>
    <p:sldId id="283" r:id="rId37"/>
    <p:sldId id="343" r:id="rId38"/>
    <p:sldId id="345" r:id="rId39"/>
    <p:sldId id="352" r:id="rId40"/>
    <p:sldId id="346" r:id="rId41"/>
    <p:sldId id="353" r:id="rId42"/>
    <p:sldId id="347" r:id="rId43"/>
    <p:sldId id="354" r:id="rId44"/>
    <p:sldId id="348" r:id="rId45"/>
    <p:sldId id="355" r:id="rId46"/>
    <p:sldId id="360" r:id="rId47"/>
    <p:sldId id="359" r:id="rId48"/>
    <p:sldId id="350" r:id="rId49"/>
    <p:sldId id="357" r:id="rId50"/>
    <p:sldId id="333" r:id="rId51"/>
    <p:sldId id="334" r:id="rId52"/>
    <p:sldId id="296" r:id="rId53"/>
    <p:sldId id="297" r:id="rId54"/>
    <p:sldId id="298" r:id="rId55"/>
  </p:sldIdLst>
  <p:sldSz cx="9144000" cy="5143500" type="screen16x9"/>
  <p:notesSz cx="6858000" cy="9144000"/>
  <p:embeddedFontLst>
    <p:embeddedFont>
      <p:font typeface="Helvetica Neue" panose="020B0604020202020204" charset="0"/>
      <p:regular r:id="rId57"/>
      <p:bold r:id="rId58"/>
      <p:italic r:id="rId59"/>
      <p:boldItalic r:id="rId60"/>
    </p:embeddedFont>
    <p:embeddedFont>
      <p:font typeface="Open Sans" panose="020B0606030504020204" pitchFamily="34" charset="0"/>
      <p:regular r:id="rId61"/>
      <p:bold r:id="rId62"/>
      <p:italic r:id="rId63"/>
      <p:boldItalic r:id="rId64"/>
    </p:embeddedFont>
    <p:embeddedFont>
      <p:font typeface="Proxima Nova" panose="020B0604020202020204" charset="0"/>
      <p:regular r:id="rId65"/>
      <p:bold r:id="rId66"/>
      <p:italic r:id="rId67"/>
      <p:boldItalic r:id="rId68"/>
    </p:embeddedFont>
    <p:embeddedFont>
      <p:font typeface="Roboto" panose="02000000000000000000" pitchFamily="2" charset="0"/>
      <p:regular r:id="rId69"/>
      <p:bold r:id="rId70"/>
      <p:italic r:id="rId71"/>
      <p:boldItalic r:id="rId72"/>
    </p:embeddedFont>
    <p:embeddedFont>
      <p:font typeface="Roboto Light" panose="02000000000000000000" pitchFamily="2" charset="0"/>
      <p:regular r:id="rId73"/>
      <p:italic r:id="rId74"/>
    </p:embeddedFont>
    <p:embeddedFont>
      <p:font typeface="Roboto Thin" panose="02000000000000000000" pitchFamily="2" charset="0"/>
      <p:regular r:id="rId75"/>
      <p: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3F07B12-FAE0-28AD-E538-EEDF72EBCEF7}" name="Noyan, Alican" initials="NA" userId="S::noyan.a@buas.nl::f2106684-872a-4b1d-b983-18c991c413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iswas, Abhishek" initials="BA" lastIdx="1" clrIdx="0">
    <p:extLst>
      <p:ext uri="{19B8F6BF-5375-455C-9EA6-DF929625EA0E}">
        <p15:presenceInfo xmlns:p15="http://schemas.microsoft.com/office/powerpoint/2012/main" userId="S::biswas.a@buas.nl::fb8d240a-d551-4b24-ab9a-9862bbc79dd8" providerId="AD"/>
      </p:ext>
    </p:extLst>
  </p:cmAuthor>
  <p:cmAuthor id="2" name="Noyan, Alican" initials="NA" lastIdx="3" clrIdx="1">
    <p:extLst>
      <p:ext uri="{19B8F6BF-5375-455C-9EA6-DF929625EA0E}">
        <p15:presenceInfo xmlns:p15="http://schemas.microsoft.com/office/powerpoint/2012/main" userId="S::noyan.a@buas.nl::f2106684-872a-4b1d-b983-18c991c41330" providerId="AD"/>
      </p:ext>
    </p:extLst>
  </p:cmAuthor>
  <p:cmAuthor id="3" name="Heijligers, Bram" initials="HB" lastIdx="3" clrIdx="2">
    <p:extLst>
      <p:ext uri="{19B8F6BF-5375-455C-9EA6-DF929625EA0E}">
        <p15:presenceInfo xmlns:p15="http://schemas.microsoft.com/office/powerpoint/2012/main" userId="S::heijligers.b@buas.nl::5cef929d-ecf9-4fca-bf12-bc5ee065fc9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CC"/>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DE4B18-C8E5-9083-0879-DA16C72BA878}" v="6" dt="2024-11-19T09:26:58.345"/>
    <p1510:client id="{18493BC5-0301-A393-696D-B1ACF87E9631}" v="10" dt="2024-11-19T10:13:31.259"/>
    <p1510:client id="{8EF9EFED-4EAA-8D6B-875A-87C751E43961}" v="4" dt="2024-11-19T10:20:50.873"/>
    <p1510:client id="{925896CF-2934-AE40-9346-8DAA55A656D1}" v="12" dt="2024-11-19T04:15:32.799"/>
    <p1510:client id="{9A3757C3-AD88-9D4C-7BCC-FA6E48DBB8C4}" v="5" dt="2024-11-19T10:18:20.738"/>
    <p1510:client id="{A7FBBC6F-7762-5F33-BE83-DB69F7694010}" v="148" dt="2024-11-19T08:19:17.950"/>
    <p1510:client id="{CD9E5212-1E66-6ED2-C9A9-E0B7D2519126}" v="883" dt="2024-11-18T15:45:56.763"/>
    <p1510:client id="{E4169D13-82C7-3490-4C71-8AEE22B0DBE0}" v="62" dt="2024-11-19T08:15:02.372"/>
    <p1510:client id="{FC8E8401-842F-4812-B2C8-459C3AC9E6C6}" v="17" dt="2024-11-19T10:26:41.705"/>
  </p1510:revLst>
</p1510:revInfo>
</file>

<file path=ppt/tableStyles.xml><?xml version="1.0" encoding="utf-8"?>
<a:tblStyleLst xmlns:a="http://schemas.openxmlformats.org/drawingml/2006/main" def="{764D4AE7-FFBC-431D-9275-528F30A785D3}">
  <a:tblStyle styleId="{764D4AE7-FFBC-431D-9275-528F30A785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103" d="100"/>
          <a:sy n="103" d="100"/>
        </p:scale>
        <p:origin x="902"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7.fntdata"/><Relationship Id="rId68" Type="http://schemas.openxmlformats.org/officeDocument/2006/relationships/font" Target="fonts/font12.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font" Target="fonts/font2.fntdata"/><Relationship Id="rId74" Type="http://schemas.openxmlformats.org/officeDocument/2006/relationships/font" Target="fonts/font18.fntdata"/><Relationship Id="rId79"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font" Target="fonts/font5.fntdata"/><Relationship Id="rId82"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64" Type="http://schemas.openxmlformats.org/officeDocument/2006/relationships/font" Target="fonts/font8.fntdata"/><Relationship Id="rId69" Type="http://schemas.openxmlformats.org/officeDocument/2006/relationships/font" Target="fonts/font13.fntdata"/><Relationship Id="rId77"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font" Target="fonts/font16.fntdata"/><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font" Target="fonts/font6.fntdata"/><Relationship Id="rId70" Type="http://schemas.openxmlformats.org/officeDocument/2006/relationships/font" Target="fonts/font14.fntdata"/><Relationship Id="rId75" Type="http://schemas.openxmlformats.org/officeDocument/2006/relationships/font" Target="fonts/font19.fntdata"/><Relationship Id="rId83"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1.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4.fntdata"/><Relationship Id="rId65" Type="http://schemas.openxmlformats.org/officeDocument/2006/relationships/font" Target="fonts/font9.fntdata"/><Relationship Id="rId73" Type="http://schemas.openxmlformats.org/officeDocument/2006/relationships/font" Target="fonts/font17.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20.fntdata"/><Relationship Id="rId7" Type="http://schemas.openxmlformats.org/officeDocument/2006/relationships/slide" Target="slides/slide3.xml"/><Relationship Id="rId71" Type="http://schemas.openxmlformats.org/officeDocument/2006/relationships/font" Target="fonts/font15.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6b4f495656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6b4f495656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6b4f495656_0_6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6b4f495656_0_6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b4f495656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b4f495656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6b602ea5a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6b602ea5a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Copy and paste the feedback from the previous block’s assessment into the text box.</a:t>
            </a:r>
            <a:endParaRPr/>
          </a:p>
          <a:p>
            <a:pPr marL="0" lvl="0" indent="0" algn="l" rtl="0">
              <a:spcBef>
                <a:spcPts val="0"/>
              </a:spcBef>
              <a:spcAft>
                <a:spcPts val="0"/>
              </a:spcAft>
              <a:buNone/>
            </a:pPr>
            <a:r>
              <a:rPr lang="en"/>
              <a:t>Copy and paste the bullet points you listed on the “Lessons Learned” page in section C of your last block’s log.</a:t>
            </a:r>
            <a:endParaRPr/>
          </a:p>
          <a:p>
            <a:pPr marL="0" lvl="0" indent="0" algn="l" rtl="0">
              <a:spcBef>
                <a:spcPts val="0"/>
              </a:spcBef>
              <a:spcAft>
                <a:spcPts val="0"/>
              </a:spcAft>
              <a:buNone/>
            </a:pPr>
            <a:r>
              <a:rPr lang="en"/>
              <a:t>Compare the grade you gave yourself with the grade you received, and reevaluate or restate your feeling on your current level of progress.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6b602ea5a7_1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6b602ea5a7_1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Copy and paste the feedback from the previous block’s assessment into the text box.</a:t>
            </a:r>
            <a:endParaRPr/>
          </a:p>
          <a:p>
            <a:pPr marL="0" lvl="0" indent="0" algn="l" rtl="0">
              <a:spcBef>
                <a:spcPts val="0"/>
              </a:spcBef>
              <a:spcAft>
                <a:spcPts val="0"/>
              </a:spcAft>
              <a:buNone/>
            </a:pPr>
            <a:r>
              <a:rPr lang="en"/>
              <a:t>Copy and paste the bullet points you listed on the “Lessons Learned” page in section C of your last block’s log.</a:t>
            </a:r>
            <a:endParaRPr/>
          </a:p>
          <a:p>
            <a:pPr marL="0" lvl="0" indent="0" algn="l" rtl="0">
              <a:spcBef>
                <a:spcPts val="0"/>
              </a:spcBef>
              <a:spcAft>
                <a:spcPts val="0"/>
              </a:spcAft>
              <a:buNone/>
            </a:pPr>
            <a:r>
              <a:rPr lang="en"/>
              <a:t>Compare the grade you gave yourself with the grade you received, and reevaluate or restate your feeling on your current level of progress.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6b602ea5a7_1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6b602ea5a7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Describe your goals for this block using the SMARTER method. Make sure they are clear, relevant, have a measurable outcome, and can be recorded. Consider how well do they align with the role(s) you wish to take, and with the requirements given in the project brief. Think about the objectives you plan to choose, or that are mandated by the project. Are there any competencies that you need to focus 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For each goal, find concrete examples of tasks you expect to undertake that will demonstrate this within the project for the block. Make sure the plan has an outcome that can be tracked and assessed. Make sure you have a clearly stated target for each goal. If you are unsure of how to demonstrate something, ask for help from your teachers.</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extLst>
      <p:ext uri="{BB962C8B-B14F-4D97-AF65-F5344CB8AC3E}">
        <p14:creationId xmlns:p14="http://schemas.microsoft.com/office/powerpoint/2010/main" val="326737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75e44ff1a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75e44ff1a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6b602ea5a7_1_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6b602ea5a7_1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8344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77827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8241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777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39993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870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93011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52333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60816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23156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6b4f495656_0_6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6b4f495656_0_6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 BUT SHOULD BE UPDATED REGULARLY</a:t>
            </a:r>
            <a:endParaRPr/>
          </a:p>
          <a:p>
            <a:pPr marL="0" lvl="0" indent="0" algn="l" rtl="0">
              <a:spcBef>
                <a:spcPts val="0"/>
              </a:spcBef>
              <a:spcAft>
                <a:spcPts val="0"/>
              </a:spcAft>
              <a:buNone/>
            </a:pPr>
            <a:r>
              <a:rPr lang="en"/>
              <a:t>This is where you link your evidence to each of the Intended Learning Outcomes of this block.</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67210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38435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24284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1638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23348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94239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36045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76626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12843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42176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15746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98919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95789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6480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6b602ea5a7_1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2684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6b4f495656_0_7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6b4f495656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a:t>
            </a:r>
            <a:endParaRPr/>
          </a:p>
          <a:p>
            <a:pPr marL="0" lvl="0" indent="0" algn="l" rtl="0">
              <a:spcBef>
                <a:spcPts val="0"/>
              </a:spcBef>
              <a:spcAft>
                <a:spcPts val="0"/>
              </a:spcAft>
              <a:buNone/>
            </a:pPr>
            <a:r>
              <a:rPr lang="en"/>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6b602ea5a7_1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6b602ea5a7_1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6b602ea5a7_1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6b602ea5a7_1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_1">
    <p:bg>
      <p:bgPr>
        <a:solidFill>
          <a:srgbClr val="EC781C"/>
        </a:solidFill>
        <a:effectLst/>
      </p:bgPr>
    </p:bg>
    <p:spTree>
      <p:nvGrpSpPr>
        <p:cNvPr id="1" name="Shape 9"/>
        <p:cNvGrpSpPr/>
        <p:nvPr/>
      </p:nvGrpSpPr>
      <p:grpSpPr>
        <a:xfrm>
          <a:off x="0" y="0"/>
          <a:ext cx="0" cy="0"/>
          <a:chOff x="0" y="0"/>
          <a:chExt cx="0" cy="0"/>
        </a:xfrm>
      </p:grpSpPr>
      <p:sp>
        <p:nvSpPr>
          <p:cNvPr id="10" name="Google Shape;10;p2"/>
          <p:cNvSpPr/>
          <p:nvPr/>
        </p:nvSpPr>
        <p:spPr>
          <a:xfrm>
            <a:off x="3109025" y="-1200"/>
            <a:ext cx="6035100" cy="51462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0" y="4363525"/>
            <a:ext cx="9144000" cy="7773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657600" y="548650"/>
            <a:ext cx="4937700" cy="3264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1800"/>
              <a:buNone/>
              <a:defRPr sz="1800">
                <a:solidFill>
                  <a:srgbClr val="FFFFFF"/>
                </a:solidFill>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3" name="Google Shape;13;p2"/>
          <p:cNvSpPr txBox="1">
            <a:spLocks noGrp="1"/>
          </p:cNvSpPr>
          <p:nvPr>
            <p:ph type="subTitle" idx="1"/>
          </p:nvPr>
        </p:nvSpPr>
        <p:spPr>
          <a:xfrm>
            <a:off x="548650" y="548650"/>
            <a:ext cx="2011800" cy="326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800"/>
              <a:buNone/>
              <a:defRPr sz="1800">
                <a:solidFill>
                  <a:srgbClr val="FFFFFF"/>
                </a:solidFill>
              </a:defRPr>
            </a:lvl1pPr>
            <a:lvl2pPr lvl="1" algn="ctr" rtl="0">
              <a:lnSpc>
                <a:spcPct val="100000"/>
              </a:lnSpc>
              <a:spcBef>
                <a:spcPts val="0"/>
              </a:spcBef>
              <a:spcAft>
                <a:spcPts val="0"/>
              </a:spcAft>
              <a:buClr>
                <a:srgbClr val="FFFFFF"/>
              </a:buClr>
              <a:buSzPts val="3000"/>
              <a:buNone/>
              <a:defRPr sz="3000">
                <a:solidFill>
                  <a:srgbClr val="FFFFFF"/>
                </a:solidFill>
              </a:defRPr>
            </a:lvl2pPr>
            <a:lvl3pPr lvl="2" algn="ctr" rtl="0">
              <a:lnSpc>
                <a:spcPct val="100000"/>
              </a:lnSpc>
              <a:spcBef>
                <a:spcPts val="0"/>
              </a:spcBef>
              <a:spcAft>
                <a:spcPts val="0"/>
              </a:spcAft>
              <a:buClr>
                <a:srgbClr val="FFFFFF"/>
              </a:buClr>
              <a:buSzPts val="3000"/>
              <a:buNone/>
              <a:defRPr sz="3000">
                <a:solidFill>
                  <a:srgbClr val="FFFFFF"/>
                </a:solidFill>
              </a:defRPr>
            </a:lvl3pPr>
            <a:lvl4pPr lvl="3" algn="ctr" rtl="0">
              <a:lnSpc>
                <a:spcPct val="100000"/>
              </a:lnSpc>
              <a:spcBef>
                <a:spcPts val="0"/>
              </a:spcBef>
              <a:spcAft>
                <a:spcPts val="0"/>
              </a:spcAft>
              <a:buClr>
                <a:srgbClr val="FFFFFF"/>
              </a:buClr>
              <a:buSzPts val="3000"/>
              <a:buNone/>
              <a:defRPr sz="3000">
                <a:solidFill>
                  <a:srgbClr val="FFFFFF"/>
                </a:solidFill>
              </a:defRPr>
            </a:lvl4pPr>
            <a:lvl5pPr lvl="4" algn="ctr" rtl="0">
              <a:lnSpc>
                <a:spcPct val="100000"/>
              </a:lnSpc>
              <a:spcBef>
                <a:spcPts val="0"/>
              </a:spcBef>
              <a:spcAft>
                <a:spcPts val="0"/>
              </a:spcAft>
              <a:buClr>
                <a:srgbClr val="FFFFFF"/>
              </a:buClr>
              <a:buSzPts val="3000"/>
              <a:buNone/>
              <a:defRPr sz="3000">
                <a:solidFill>
                  <a:srgbClr val="FFFFFF"/>
                </a:solidFill>
              </a:defRPr>
            </a:lvl5pPr>
            <a:lvl6pPr lvl="5" algn="ctr" rtl="0">
              <a:lnSpc>
                <a:spcPct val="100000"/>
              </a:lnSpc>
              <a:spcBef>
                <a:spcPts val="0"/>
              </a:spcBef>
              <a:spcAft>
                <a:spcPts val="0"/>
              </a:spcAft>
              <a:buClr>
                <a:srgbClr val="FFFFFF"/>
              </a:buClr>
              <a:buSzPts val="3000"/>
              <a:buNone/>
              <a:defRPr sz="3000">
                <a:solidFill>
                  <a:srgbClr val="FFFFFF"/>
                </a:solidFill>
              </a:defRPr>
            </a:lvl6pPr>
            <a:lvl7pPr lvl="6" algn="ctr" rtl="0">
              <a:lnSpc>
                <a:spcPct val="100000"/>
              </a:lnSpc>
              <a:spcBef>
                <a:spcPts val="0"/>
              </a:spcBef>
              <a:spcAft>
                <a:spcPts val="0"/>
              </a:spcAft>
              <a:buClr>
                <a:srgbClr val="FFFFFF"/>
              </a:buClr>
              <a:buSzPts val="3000"/>
              <a:buNone/>
              <a:defRPr sz="3000">
                <a:solidFill>
                  <a:srgbClr val="FFFFFF"/>
                </a:solidFill>
              </a:defRPr>
            </a:lvl7pPr>
            <a:lvl8pPr lvl="7" algn="ctr" rtl="0">
              <a:lnSpc>
                <a:spcPct val="100000"/>
              </a:lnSpc>
              <a:spcBef>
                <a:spcPts val="0"/>
              </a:spcBef>
              <a:spcAft>
                <a:spcPts val="0"/>
              </a:spcAft>
              <a:buClr>
                <a:srgbClr val="FFFFFF"/>
              </a:buClr>
              <a:buSzPts val="3000"/>
              <a:buNone/>
              <a:defRPr sz="3000">
                <a:solidFill>
                  <a:srgbClr val="FFFFFF"/>
                </a:solidFill>
              </a:defRPr>
            </a:lvl8pPr>
            <a:lvl9pPr lvl="8" algn="ctr" rtl="0">
              <a:lnSpc>
                <a:spcPct val="100000"/>
              </a:lnSpc>
              <a:spcBef>
                <a:spcPts val="0"/>
              </a:spcBef>
              <a:spcAft>
                <a:spcPts val="0"/>
              </a:spcAft>
              <a:buClr>
                <a:srgbClr val="FFFFFF"/>
              </a:buClr>
              <a:buSzPts val="3000"/>
              <a:buNone/>
              <a:defRPr sz="3000">
                <a:solidFill>
                  <a:srgbClr val="FFFFFF"/>
                </a:solidFill>
              </a:defRPr>
            </a:lvl9pPr>
          </a:lstStyle>
          <a:p>
            <a:endParaRPr/>
          </a:p>
        </p:txBody>
      </p:sp>
      <p:pic>
        <p:nvPicPr>
          <p:cNvPr id="14" name="Google Shape;14;p2"/>
          <p:cNvPicPr preferRelativeResize="0"/>
          <p:nvPr/>
        </p:nvPicPr>
        <p:blipFill>
          <a:blip r:embed="rId2">
            <a:alphaModFix/>
          </a:blip>
          <a:stretch>
            <a:fillRect/>
          </a:stretch>
        </p:blipFill>
        <p:spPr>
          <a:xfrm>
            <a:off x="164592" y="4523578"/>
            <a:ext cx="1329394" cy="457200"/>
          </a:xfrm>
          <a:prstGeom prst="rect">
            <a:avLst/>
          </a:prstGeom>
          <a:noFill/>
          <a:ln>
            <a:noFill/>
          </a:ln>
        </p:spPr>
      </p:pic>
      <p:graphicFrame>
        <p:nvGraphicFramePr>
          <p:cNvPr id="4" name="Table 3">
            <a:extLst>
              <a:ext uri="{FF2B5EF4-FFF2-40B4-BE49-F238E27FC236}">
                <a16:creationId xmlns:a16="http://schemas.microsoft.com/office/drawing/2014/main" id="{9C37A2C8-F053-CFA5-72C7-D1B7AFD043D0}"/>
              </a:ext>
            </a:extLst>
          </p:cNvPr>
          <p:cNvGraphicFramePr>
            <a:graphicFrameLocks noGrp="1"/>
          </p:cNvGraphicFramePr>
          <p:nvPr userDrawn="1">
            <p:extLst>
              <p:ext uri="{D42A27DB-BD31-4B8C-83A1-F6EECF244321}">
                <p14:modId xmlns:p14="http://schemas.microsoft.com/office/powerpoint/2010/main" val="251012479"/>
              </p:ext>
            </p:extLst>
          </p:nvPr>
        </p:nvGraphicFramePr>
        <p:xfrm>
          <a:off x="1845398" y="4454995"/>
          <a:ext cx="7094899" cy="594360"/>
        </p:xfrm>
        <a:graphic>
          <a:graphicData uri="http://schemas.openxmlformats.org/drawingml/2006/table">
            <a:tbl>
              <a:tblPr firstRow="1" bandRow="1">
                <a:tableStyleId>{764D4AE7-FFBC-431D-9275-528F30A785D3}</a:tableStyleId>
              </a:tblPr>
              <a:tblGrid>
                <a:gridCol w="1189355">
                  <a:extLst>
                    <a:ext uri="{9D8B030D-6E8A-4147-A177-3AD203B41FA5}">
                      <a16:colId xmlns:a16="http://schemas.microsoft.com/office/drawing/2014/main" val="828907917"/>
                    </a:ext>
                  </a:extLst>
                </a:gridCol>
                <a:gridCol w="5905544">
                  <a:extLst>
                    <a:ext uri="{9D8B030D-6E8A-4147-A177-3AD203B41FA5}">
                      <a16:colId xmlns:a16="http://schemas.microsoft.com/office/drawing/2014/main" val="682174830"/>
                    </a:ext>
                  </a:extLst>
                </a:gridCol>
              </a:tblGrid>
              <a:tr h="1854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700" b="1">
                          <a:solidFill>
                            <a:srgbClr val="999999"/>
                          </a:solidFill>
                          <a:latin typeface="Helvetica Neue"/>
                          <a:ea typeface="Helvetica Neue"/>
                          <a:cs typeface="Helvetica Neue"/>
                          <a:sym typeface="Helvetica Neue"/>
                        </a:rPr>
                        <a:t>Project Brief</a:t>
                      </a:r>
                      <a:r>
                        <a:rPr lang="en-NL" sz="700" b="1">
                          <a:solidFill>
                            <a:srgbClr val="999999"/>
                          </a:solidFill>
                          <a:latin typeface="Helvetica Neue"/>
                          <a:ea typeface="Helvetica Neue"/>
                          <a:cs typeface="Helvetica Neue"/>
                          <a:sym typeface="Helvetica Neue"/>
                        </a:rPr>
                        <a:t>:</a:t>
                      </a:r>
                      <a:r>
                        <a:rPr lang="en" sz="700" b="1">
                          <a:solidFill>
                            <a:srgbClr val="999999"/>
                          </a:solidFill>
                          <a:latin typeface="Helvetica Neue"/>
                          <a:ea typeface="Helvetica Neue"/>
                          <a:cs typeface="Helvetica Neue"/>
                          <a:sym typeface="Helvetica Neue"/>
                        </a:rPr>
                        <a:t> </a:t>
                      </a:r>
                      <a:endParaRPr lang="en-NL" sz="700" b="1">
                        <a:solidFill>
                          <a:srgbClr val="999999"/>
                        </a:solidFill>
                        <a:latin typeface="Helvetica Neue"/>
                        <a:ea typeface="Helvetica Neue"/>
                        <a:cs typeface="Helvetica Neue"/>
                        <a:sym typeface="Helvetica Neue"/>
                      </a:endParaRPr>
                    </a:p>
                  </a:txBody>
                  <a:tcPr/>
                </a:tc>
                <a:tc>
                  <a:txBody>
                    <a:bodyPr/>
                    <a:lstStyle/>
                    <a:p>
                      <a:endParaRPr lang="en-GB" sz="700"/>
                    </a:p>
                  </a:txBody>
                  <a:tcPr/>
                </a:tc>
                <a:extLst>
                  <a:ext uri="{0D108BD9-81ED-4DB2-BD59-A6C34878D82A}">
                    <a16:rowId xmlns:a16="http://schemas.microsoft.com/office/drawing/2014/main" val="1000607423"/>
                  </a:ext>
                </a:extLst>
              </a:tr>
              <a:tr h="1854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700" b="1">
                          <a:solidFill>
                            <a:srgbClr val="999999"/>
                          </a:solidFill>
                          <a:latin typeface="Helvetica Neue"/>
                          <a:ea typeface="Helvetica Neue"/>
                          <a:cs typeface="Helvetica Neue"/>
                          <a:sym typeface="Helvetica Neue"/>
                        </a:rPr>
                        <a:t>Assessment Assignment:</a:t>
                      </a:r>
                      <a:endParaRPr lang="en-US" sz="700" b="1">
                        <a:latin typeface="Helvetica Neue"/>
                        <a:ea typeface="Helvetica Neue"/>
                        <a:cs typeface="Helvetica Neue"/>
                        <a:sym typeface="Helvetica Neue"/>
                      </a:endParaRPr>
                    </a:p>
                  </a:txBody>
                  <a:tcPr/>
                </a:tc>
                <a:tc>
                  <a:txBody>
                    <a:bodyPr/>
                    <a:lstStyle/>
                    <a:p>
                      <a:endParaRPr lang="en-GB" sz="700"/>
                    </a:p>
                  </a:txBody>
                  <a:tcPr/>
                </a:tc>
                <a:extLst>
                  <a:ext uri="{0D108BD9-81ED-4DB2-BD59-A6C34878D82A}">
                    <a16:rowId xmlns:a16="http://schemas.microsoft.com/office/drawing/2014/main" val="1233139930"/>
                  </a:ext>
                </a:extLst>
              </a:tr>
              <a:tr h="185420">
                <a:tc>
                  <a:txBody>
                    <a:bodyPr/>
                    <a:lstStyle/>
                    <a:p>
                      <a:r>
                        <a:rPr lang="en-NL" sz="700" b="1">
                          <a:solidFill>
                            <a:srgbClr val="999999"/>
                          </a:solidFill>
                          <a:latin typeface="Helvetica Neue"/>
                          <a:ea typeface="Helvetica Neue"/>
                          <a:cs typeface="Helvetica Neue"/>
                          <a:sym typeface="Helvetica Neue"/>
                        </a:rPr>
                        <a:t>Student </a:t>
                      </a:r>
                      <a:r>
                        <a:rPr lang="en" sz="700" b="1">
                          <a:solidFill>
                            <a:srgbClr val="999999"/>
                          </a:solidFill>
                          <a:latin typeface="Helvetica Neue"/>
                          <a:ea typeface="Helvetica Neue"/>
                          <a:cs typeface="Helvetica Neue"/>
                          <a:sym typeface="Helvetica Neue"/>
                        </a:rPr>
                        <a:t>GitHub Folder: </a:t>
                      </a:r>
                      <a:endParaRPr lang="en-GB" sz="700"/>
                    </a:p>
                  </a:txBody>
                  <a:tcPr/>
                </a:tc>
                <a:tc>
                  <a:txBody>
                    <a:bodyPr/>
                    <a:lstStyle/>
                    <a:p>
                      <a:endParaRPr lang="en-GB" sz="700"/>
                    </a:p>
                  </a:txBody>
                  <a:tcPr/>
                </a:tc>
                <a:extLst>
                  <a:ext uri="{0D108BD9-81ED-4DB2-BD59-A6C34878D82A}">
                    <a16:rowId xmlns:a16="http://schemas.microsoft.com/office/drawing/2014/main" val="1618248095"/>
                  </a:ext>
                </a:extLst>
              </a:tr>
            </a:tbl>
          </a:graphicData>
        </a:graphic>
      </p:graphicFrame>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CUSTOM_1_2">
    <p:bg>
      <p:bgPr>
        <a:solidFill>
          <a:srgbClr val="666666"/>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6000"/>
              <a:buFont typeface="Roboto Thin"/>
              <a:buNone/>
              <a:defRPr sz="6000" b="0">
                <a:solidFill>
                  <a:srgbClr val="FFFFFF"/>
                </a:solidFill>
                <a:latin typeface="Roboto Thin"/>
                <a:ea typeface="Roboto Thin"/>
                <a:cs typeface="Roboto Thin"/>
                <a:sym typeface="Roboto Thin"/>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9" name="Google Shape;19;p3"/>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1pPr>
            <a:lvl2pPr lvl="1"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2pPr>
            <a:lvl3pPr lvl="2"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3pPr>
            <a:lvl4pPr lvl="3"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4pPr>
            <a:lvl5pPr lvl="4"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5pPr>
            <a:lvl6pPr lvl="5"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6pPr>
            <a:lvl7pPr lvl="6"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7pPr>
            <a:lvl8pPr lvl="7"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8pPr>
            <a:lvl9pPr lvl="8"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9pPr>
          </a:lstStyle>
          <a:p>
            <a:endParaRPr/>
          </a:p>
        </p:txBody>
      </p:sp>
      <p:sp>
        <p:nvSpPr>
          <p:cNvPr id="2" name="Rectangle 1">
            <a:extLst>
              <a:ext uri="{FF2B5EF4-FFF2-40B4-BE49-F238E27FC236}">
                <a16:creationId xmlns:a16="http://schemas.microsoft.com/office/drawing/2014/main" id="{ED2E902F-3793-054A-A49F-5F75EC799503}"/>
              </a:ext>
            </a:extLst>
          </p:cNvPr>
          <p:cNvSpPr/>
          <p:nvPr userDrawn="1"/>
        </p:nvSpPr>
        <p:spPr>
          <a:xfrm>
            <a:off x="0" y="4393870"/>
            <a:ext cx="9144000" cy="7496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oogle Shape;20;p3"/>
          <p:cNvPicPr preferRelativeResize="0"/>
          <p:nvPr/>
        </p:nvPicPr>
        <p:blipFill>
          <a:blip r:embed="rId2">
            <a:alphaModFix/>
          </a:blip>
          <a:stretch>
            <a:fillRect/>
          </a:stretch>
        </p:blipFill>
        <p:spPr>
          <a:xfrm>
            <a:off x="7214616" y="4434840"/>
            <a:ext cx="1691640" cy="58267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Sub-Header">
  <p:cSld name="CUSTOM_1_2_1">
    <p:bg>
      <p:bgPr>
        <a:solidFill>
          <a:srgbClr val="666666"/>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Font typeface="Roboto Thin"/>
              <a:buNone/>
              <a:defRPr sz="6000" b="0">
                <a:latin typeface="Roboto Thin"/>
                <a:ea typeface="Roboto Thin"/>
                <a:cs typeface="Roboto Thin"/>
                <a:sym typeface="Roboto Thin"/>
              </a:defRPr>
            </a:lvl1pPr>
            <a:lvl2pPr lvl="1" algn="ctr" rtl="0">
              <a:spcBef>
                <a:spcPts val="0"/>
              </a:spcBef>
              <a:spcAft>
                <a:spcPts val="0"/>
              </a:spcAft>
              <a:buClr>
                <a:srgbClr val="434343"/>
              </a:buClr>
              <a:buSzPts val="3600"/>
              <a:buNone/>
              <a:defRPr sz="3600">
                <a:solidFill>
                  <a:srgbClr val="434343"/>
                </a:solidFill>
              </a:defRPr>
            </a:lvl2pPr>
            <a:lvl3pPr lvl="2" algn="ctr" rtl="0">
              <a:spcBef>
                <a:spcPts val="0"/>
              </a:spcBef>
              <a:spcAft>
                <a:spcPts val="0"/>
              </a:spcAft>
              <a:buClr>
                <a:srgbClr val="434343"/>
              </a:buClr>
              <a:buSzPts val="3600"/>
              <a:buNone/>
              <a:defRPr sz="3600">
                <a:solidFill>
                  <a:srgbClr val="434343"/>
                </a:solidFill>
              </a:defRPr>
            </a:lvl3pPr>
            <a:lvl4pPr lvl="3" algn="ctr" rtl="0">
              <a:spcBef>
                <a:spcPts val="0"/>
              </a:spcBef>
              <a:spcAft>
                <a:spcPts val="0"/>
              </a:spcAft>
              <a:buClr>
                <a:srgbClr val="434343"/>
              </a:buClr>
              <a:buSzPts val="3600"/>
              <a:buNone/>
              <a:defRPr sz="3600">
                <a:solidFill>
                  <a:srgbClr val="434343"/>
                </a:solidFill>
              </a:defRPr>
            </a:lvl4pPr>
            <a:lvl5pPr lvl="4" algn="ctr" rtl="0">
              <a:spcBef>
                <a:spcPts val="0"/>
              </a:spcBef>
              <a:spcAft>
                <a:spcPts val="0"/>
              </a:spcAft>
              <a:buClr>
                <a:srgbClr val="434343"/>
              </a:buClr>
              <a:buSzPts val="3600"/>
              <a:buNone/>
              <a:defRPr sz="3600">
                <a:solidFill>
                  <a:srgbClr val="434343"/>
                </a:solidFill>
              </a:defRPr>
            </a:lvl5pPr>
            <a:lvl6pPr lvl="5" algn="ctr" rtl="0">
              <a:spcBef>
                <a:spcPts val="0"/>
              </a:spcBef>
              <a:spcAft>
                <a:spcPts val="0"/>
              </a:spcAft>
              <a:buClr>
                <a:srgbClr val="434343"/>
              </a:buClr>
              <a:buSzPts val="3600"/>
              <a:buNone/>
              <a:defRPr sz="3600">
                <a:solidFill>
                  <a:srgbClr val="434343"/>
                </a:solidFill>
              </a:defRPr>
            </a:lvl6pPr>
            <a:lvl7pPr lvl="6" algn="ctr" rtl="0">
              <a:spcBef>
                <a:spcPts val="0"/>
              </a:spcBef>
              <a:spcAft>
                <a:spcPts val="0"/>
              </a:spcAft>
              <a:buClr>
                <a:srgbClr val="434343"/>
              </a:buClr>
              <a:buSzPts val="3600"/>
              <a:buNone/>
              <a:defRPr sz="3600">
                <a:solidFill>
                  <a:srgbClr val="434343"/>
                </a:solidFill>
              </a:defRPr>
            </a:lvl7pPr>
            <a:lvl8pPr lvl="7" algn="ctr" rtl="0">
              <a:spcBef>
                <a:spcPts val="0"/>
              </a:spcBef>
              <a:spcAft>
                <a:spcPts val="0"/>
              </a:spcAft>
              <a:buClr>
                <a:srgbClr val="434343"/>
              </a:buClr>
              <a:buSzPts val="3600"/>
              <a:buNone/>
              <a:defRPr sz="3600">
                <a:solidFill>
                  <a:srgbClr val="434343"/>
                </a:solidFill>
              </a:defRPr>
            </a:lvl8pPr>
            <a:lvl9pPr lvl="8" algn="ctr" rtl="0">
              <a:spcBef>
                <a:spcPts val="0"/>
              </a:spcBef>
              <a:spcAft>
                <a:spcPts val="0"/>
              </a:spcAft>
              <a:buClr>
                <a:srgbClr val="434343"/>
              </a:buClr>
              <a:buSzPts val="3600"/>
              <a:buNone/>
              <a:defRPr sz="3600">
                <a:solidFill>
                  <a:srgbClr val="434343"/>
                </a:solidFill>
              </a:defRPr>
            </a:lvl9pPr>
          </a:lstStyle>
          <a:p>
            <a:endParaRPr/>
          </a:p>
        </p:txBody>
      </p:sp>
      <p:sp>
        <p:nvSpPr>
          <p:cNvPr id="23" name="Google Shape;23;p4"/>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1pPr>
            <a:lvl2pPr lvl="1"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4" name="Google Shape;24;p4"/>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Font typeface="Roboto Light"/>
              <a:buNone/>
              <a:defRPr>
                <a:latin typeface="Roboto Light"/>
                <a:ea typeface="Roboto Light"/>
                <a:cs typeface="Roboto Light"/>
                <a:sym typeface="Roboto Light"/>
              </a:defRPr>
            </a:lvl1pPr>
            <a:lvl2pPr lvl="1"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5" name="Google Shape;25;p4"/>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40000">
              <a:solidFill>
                <a:srgbClr val="B7B7B7"/>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CUSTOM_2_4">
    <p:spTree>
      <p:nvGrpSpPr>
        <p:cNvPr id="1" name="Shape 26"/>
        <p:cNvGrpSpPr/>
        <p:nvPr/>
      </p:nvGrpSpPr>
      <p:grpSpPr>
        <a:xfrm>
          <a:off x="0" y="0"/>
          <a:ext cx="0" cy="0"/>
          <a:chOff x="0" y="0"/>
          <a:chExt cx="0" cy="0"/>
        </a:xfrm>
      </p:grpSpPr>
      <p:sp>
        <p:nvSpPr>
          <p:cNvPr id="27" name="Google Shape;27;p5"/>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29" name="Google Shape;29;p5"/>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0" name="Google Shape;30;p5"/>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31" name="Google Shape;31;p5"/>
          <p:cNvSpPr txBox="1">
            <a:spLocks noGrp="1"/>
          </p:cNvSpPr>
          <p:nvPr>
            <p:ph type="body" idx="3"/>
          </p:nvPr>
        </p:nvSpPr>
        <p:spPr>
          <a:xfrm>
            <a:off x="182880" y="1069848"/>
            <a:ext cx="5486400" cy="38952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sz="1000"/>
            </a:lvl1pPr>
            <a:lvl2pPr marL="914400" lvl="1" indent="-292100" rtl="0">
              <a:spcBef>
                <a:spcPts val="800"/>
              </a:spcBef>
              <a:spcAft>
                <a:spcPts val="0"/>
              </a:spcAft>
              <a:buSzPts val="1000"/>
              <a:buChar char="○"/>
              <a:defRPr sz="1000"/>
            </a:lvl2pPr>
            <a:lvl3pPr marL="1371600" lvl="2" indent="-292100" rtl="0">
              <a:spcBef>
                <a:spcPts val="800"/>
              </a:spcBef>
              <a:spcAft>
                <a:spcPts val="0"/>
              </a:spcAft>
              <a:buSzPts val="1000"/>
              <a:buChar char="■"/>
              <a:defRPr sz="1000"/>
            </a:lvl3pPr>
            <a:lvl4pPr marL="1828800" lvl="3" indent="-292100" rtl="0">
              <a:spcBef>
                <a:spcPts val="800"/>
              </a:spcBef>
              <a:spcAft>
                <a:spcPts val="0"/>
              </a:spcAft>
              <a:buSzPts val="1000"/>
              <a:buChar char="●"/>
              <a:defRPr sz="1000"/>
            </a:lvl4pPr>
            <a:lvl5pPr marL="2286000" lvl="4" indent="-292100" rtl="0">
              <a:spcBef>
                <a:spcPts val="800"/>
              </a:spcBef>
              <a:spcAft>
                <a:spcPts val="0"/>
              </a:spcAft>
              <a:buSzPts val="1000"/>
              <a:buChar char="○"/>
              <a:defRPr sz="1000"/>
            </a:lvl5pPr>
            <a:lvl6pPr marL="2743200" lvl="5" indent="-292100" rtl="0">
              <a:spcBef>
                <a:spcPts val="800"/>
              </a:spcBef>
              <a:spcAft>
                <a:spcPts val="0"/>
              </a:spcAft>
              <a:buSzPts val="1000"/>
              <a:buChar char="■"/>
              <a:defRPr sz="1000"/>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sz="1000"/>
            </a:lvl8pPr>
            <a:lvl9pPr marL="4114800" lvl="8" indent="-292100" rtl="0">
              <a:spcBef>
                <a:spcPts val="800"/>
              </a:spcBef>
              <a:spcAft>
                <a:spcPts val="800"/>
              </a:spcAft>
              <a:buSzPts val="1000"/>
              <a:buChar char="■"/>
              <a:defRPr sz="1000"/>
            </a:lvl9pPr>
          </a:lstStyle>
          <a:p>
            <a:endParaRPr/>
          </a:p>
        </p:txBody>
      </p:sp>
      <p:sp>
        <p:nvSpPr>
          <p:cNvPr id="32" name="Google Shape;32;p5"/>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LO's" userDrawn="1">
  <p:cSld name="CUSTOM_2_3_1">
    <p:spTree>
      <p:nvGrpSpPr>
        <p:cNvPr id="1" name="Shape 33"/>
        <p:cNvGrpSpPr/>
        <p:nvPr/>
      </p:nvGrpSpPr>
      <p:grpSpPr>
        <a:xfrm>
          <a:off x="0" y="0"/>
          <a:ext cx="0" cy="0"/>
          <a:chOff x="0" y="0"/>
          <a:chExt cx="0" cy="0"/>
        </a:xfrm>
      </p:grpSpPr>
      <p:sp>
        <p:nvSpPr>
          <p:cNvPr id="34" name="Google Shape;34;p6"/>
          <p:cNvSpPr/>
          <p:nvPr/>
        </p:nvSpPr>
        <p:spPr>
          <a:xfrm>
            <a:off x="0" y="571460"/>
            <a:ext cx="9144000" cy="4938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0"/>
            <a:ext cx="9144000" cy="5727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7" name="Google Shape;37;p6"/>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9" name="Google Shape;39;p6"/>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0" name="Google Shape;40;p6"/>
          <p:cNvSpPr txBox="1">
            <a:spLocks noGrp="1"/>
          </p:cNvSpPr>
          <p:nvPr>
            <p:ph type="title" idx="4"/>
          </p:nvPr>
        </p:nvSpPr>
        <p:spPr>
          <a:xfrm>
            <a:off x="68250" y="576000"/>
            <a:ext cx="8397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600">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1" name="Google Shape;41;p6"/>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2" name="Google Shape;42;p6"/>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200"/>
            </a:lvl1pPr>
            <a:lvl2pPr lvl="1" rtl="0">
              <a:spcBef>
                <a:spcPts val="0"/>
              </a:spcBef>
              <a:spcAft>
                <a:spcPts val="0"/>
              </a:spcAft>
              <a:buNone/>
              <a:defRPr sz="900"/>
            </a:lvl2pPr>
            <a:lvl3pPr lvl="2" rtl="0">
              <a:spcBef>
                <a:spcPts val="0"/>
              </a:spcBef>
              <a:spcAft>
                <a:spcPts val="0"/>
              </a:spcAft>
              <a:buNone/>
              <a:defRPr sz="900"/>
            </a:lvl3pPr>
            <a:lvl4pPr lvl="3" rtl="0">
              <a:spcBef>
                <a:spcPts val="0"/>
              </a:spcBef>
              <a:spcAft>
                <a:spcPts val="0"/>
              </a:spcAft>
              <a:buNone/>
              <a:defRPr sz="900"/>
            </a:lvl4pPr>
            <a:lvl5pPr lvl="4" rtl="0">
              <a:spcBef>
                <a:spcPts val="0"/>
              </a:spcBef>
              <a:spcAft>
                <a:spcPts val="0"/>
              </a:spcAft>
              <a:buNone/>
              <a:defRPr sz="900"/>
            </a:lvl5pPr>
            <a:lvl6pPr lvl="5" rtl="0">
              <a:spcBef>
                <a:spcPts val="0"/>
              </a:spcBef>
              <a:spcAft>
                <a:spcPts val="0"/>
              </a:spcAft>
              <a:buNone/>
              <a:defRPr sz="900"/>
            </a:lvl6pPr>
            <a:lvl7pPr lvl="6" rtl="0">
              <a:spcBef>
                <a:spcPts val="0"/>
              </a:spcBef>
              <a:spcAft>
                <a:spcPts val="0"/>
              </a:spcAft>
              <a:buNone/>
              <a:defRPr sz="900"/>
            </a:lvl7pPr>
            <a:lvl8pPr lvl="7" rtl="0">
              <a:spcBef>
                <a:spcPts val="0"/>
              </a:spcBef>
              <a:spcAft>
                <a:spcPts val="0"/>
              </a:spcAft>
              <a:buNone/>
              <a:defRPr sz="900"/>
            </a:lvl8pPr>
            <a:lvl9pPr lvl="8" rtl="0">
              <a:spcBef>
                <a:spcPts val="0"/>
              </a:spcBef>
              <a:spcAft>
                <a:spcPts val="0"/>
              </a:spcAft>
              <a:buNone/>
              <a:defRPr sz="9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3"/>
        <p:cNvGrpSpPr/>
        <p:nvPr/>
      </p:nvGrpSpPr>
      <p:grpSpPr>
        <a:xfrm>
          <a:off x="0" y="0"/>
          <a:ext cx="0" cy="0"/>
          <a:chOff x="0" y="0"/>
          <a:chExt cx="0" cy="0"/>
        </a:xfrm>
      </p:grpSpPr>
      <p:sp>
        <p:nvSpPr>
          <p:cNvPr id="84" name="Google Shape;84;p11"/>
          <p:cNvSpPr/>
          <p:nvPr/>
        </p:nvSpPr>
        <p:spPr>
          <a:xfrm>
            <a:off x="3108960" y="-1200"/>
            <a:ext cx="6035100" cy="51435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5" name="Google Shape;85;p11"/>
          <p:cNvSpPr txBox="1">
            <a:spLocks noGrp="1"/>
          </p:cNvSpPr>
          <p:nvPr>
            <p:ph type="title"/>
          </p:nvPr>
        </p:nvSpPr>
        <p:spPr>
          <a:xfrm>
            <a:off x="265500" y="308799"/>
            <a:ext cx="4045200" cy="155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800"/>
              <a:buNone/>
              <a:defRPr sz="3800"/>
            </a:lvl2pPr>
            <a:lvl3pPr lvl="2" algn="ctr" rtl="0">
              <a:spcBef>
                <a:spcPts val="0"/>
              </a:spcBef>
              <a:spcAft>
                <a:spcPts val="0"/>
              </a:spcAft>
              <a:buSzPts val="3800"/>
              <a:buNone/>
              <a:defRPr sz="3800"/>
            </a:lvl3pPr>
            <a:lvl4pPr lvl="3" algn="ctr" rtl="0">
              <a:spcBef>
                <a:spcPts val="0"/>
              </a:spcBef>
              <a:spcAft>
                <a:spcPts val="0"/>
              </a:spcAft>
              <a:buSzPts val="3800"/>
              <a:buNone/>
              <a:defRPr sz="3800"/>
            </a:lvl4pPr>
            <a:lvl5pPr lvl="4" algn="ctr" rtl="0">
              <a:spcBef>
                <a:spcPts val="0"/>
              </a:spcBef>
              <a:spcAft>
                <a:spcPts val="0"/>
              </a:spcAft>
              <a:buSzPts val="3800"/>
              <a:buNone/>
              <a:defRPr sz="3800"/>
            </a:lvl5pPr>
            <a:lvl6pPr lvl="5" algn="ctr" rtl="0">
              <a:spcBef>
                <a:spcPts val="0"/>
              </a:spcBef>
              <a:spcAft>
                <a:spcPts val="0"/>
              </a:spcAft>
              <a:buSzPts val="3800"/>
              <a:buNone/>
              <a:defRPr sz="3800"/>
            </a:lvl6pPr>
            <a:lvl7pPr lvl="6" algn="ctr" rtl="0">
              <a:spcBef>
                <a:spcPts val="0"/>
              </a:spcBef>
              <a:spcAft>
                <a:spcPts val="0"/>
              </a:spcAft>
              <a:buSzPts val="3800"/>
              <a:buNone/>
              <a:defRPr sz="3800"/>
            </a:lvl7pPr>
            <a:lvl8pPr lvl="7" algn="ctr" rtl="0">
              <a:spcBef>
                <a:spcPts val="0"/>
              </a:spcBef>
              <a:spcAft>
                <a:spcPts val="0"/>
              </a:spcAft>
              <a:buSzPts val="3800"/>
              <a:buNone/>
              <a:defRPr sz="3800"/>
            </a:lvl8pPr>
            <a:lvl9pPr lvl="8" algn="ctr" rtl="0">
              <a:spcBef>
                <a:spcPts val="0"/>
              </a:spcBef>
              <a:spcAft>
                <a:spcPts val="0"/>
              </a:spcAft>
              <a:buSzPts val="3800"/>
              <a:buNone/>
              <a:defRPr sz="3800"/>
            </a:lvl9pPr>
          </a:lstStyle>
          <a:p>
            <a:endParaRPr/>
          </a:p>
        </p:txBody>
      </p:sp>
      <p:sp>
        <p:nvSpPr>
          <p:cNvPr id="86" name="Google Shape;86;p11"/>
          <p:cNvSpPr txBox="1">
            <a:spLocks noGrp="1"/>
          </p:cNvSpPr>
          <p:nvPr>
            <p:ph type="subTitle" idx="1"/>
          </p:nvPr>
        </p:nvSpPr>
        <p:spPr>
          <a:xfrm>
            <a:off x="265500" y="1860700"/>
            <a:ext cx="4045200" cy="301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87" name="Google Shape;87;p1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292100" rtl="0">
              <a:spcBef>
                <a:spcPts val="0"/>
              </a:spcBef>
              <a:spcAft>
                <a:spcPts val="0"/>
              </a:spcAft>
              <a:buClr>
                <a:schemeClr val="lt1"/>
              </a:buClr>
              <a:buSzPts val="1000"/>
              <a:buChar char="●"/>
              <a:defRPr>
                <a:solidFill>
                  <a:schemeClr val="lt1"/>
                </a:solidFill>
              </a:defRPr>
            </a:lvl1pPr>
            <a:lvl2pPr marL="914400" lvl="1" indent="-292100" rtl="0">
              <a:spcBef>
                <a:spcPts val="800"/>
              </a:spcBef>
              <a:spcAft>
                <a:spcPts val="0"/>
              </a:spcAft>
              <a:buClr>
                <a:schemeClr val="lt1"/>
              </a:buClr>
              <a:buSzPts val="1000"/>
              <a:buChar char="○"/>
              <a:defRPr>
                <a:solidFill>
                  <a:schemeClr val="lt1"/>
                </a:solidFill>
              </a:defRPr>
            </a:lvl2pPr>
            <a:lvl3pPr marL="1371600" lvl="2" indent="-292100" rtl="0">
              <a:spcBef>
                <a:spcPts val="800"/>
              </a:spcBef>
              <a:spcAft>
                <a:spcPts val="0"/>
              </a:spcAft>
              <a:buClr>
                <a:schemeClr val="lt1"/>
              </a:buClr>
              <a:buSzPts val="1000"/>
              <a:buChar char="■"/>
              <a:defRPr>
                <a:solidFill>
                  <a:schemeClr val="lt1"/>
                </a:solidFill>
              </a:defRPr>
            </a:lvl3pPr>
            <a:lvl4pPr marL="1828800" lvl="3" indent="-292100" rtl="0">
              <a:spcBef>
                <a:spcPts val="800"/>
              </a:spcBef>
              <a:spcAft>
                <a:spcPts val="0"/>
              </a:spcAft>
              <a:buClr>
                <a:schemeClr val="lt1"/>
              </a:buClr>
              <a:buSzPts val="1000"/>
              <a:buChar char="●"/>
              <a:defRPr>
                <a:solidFill>
                  <a:schemeClr val="lt1"/>
                </a:solidFill>
              </a:defRPr>
            </a:lvl4pPr>
            <a:lvl5pPr marL="2286000" lvl="4" indent="-292100" rtl="0">
              <a:spcBef>
                <a:spcPts val="800"/>
              </a:spcBef>
              <a:spcAft>
                <a:spcPts val="0"/>
              </a:spcAft>
              <a:buClr>
                <a:schemeClr val="lt1"/>
              </a:buClr>
              <a:buSzPts val="1000"/>
              <a:buChar char="○"/>
              <a:defRPr>
                <a:solidFill>
                  <a:schemeClr val="lt1"/>
                </a:solidFill>
              </a:defRPr>
            </a:lvl5pPr>
            <a:lvl6pPr marL="2743200" lvl="5" indent="-292100" rtl="0">
              <a:spcBef>
                <a:spcPts val="800"/>
              </a:spcBef>
              <a:spcAft>
                <a:spcPts val="0"/>
              </a:spcAft>
              <a:buClr>
                <a:schemeClr val="lt1"/>
              </a:buClr>
              <a:buSzPts val="1000"/>
              <a:buChar char="■"/>
              <a:defRPr>
                <a:solidFill>
                  <a:schemeClr val="lt1"/>
                </a:solidFill>
              </a:defRPr>
            </a:lvl6pPr>
            <a:lvl7pPr marL="3200400" lvl="6" indent="-292100" rtl="0">
              <a:spcBef>
                <a:spcPts val="800"/>
              </a:spcBef>
              <a:spcAft>
                <a:spcPts val="0"/>
              </a:spcAft>
              <a:buClr>
                <a:schemeClr val="lt1"/>
              </a:buClr>
              <a:buSzPts val="1000"/>
              <a:buChar char="●"/>
              <a:defRPr>
                <a:solidFill>
                  <a:schemeClr val="lt1"/>
                </a:solidFill>
              </a:defRPr>
            </a:lvl7pPr>
            <a:lvl8pPr marL="3657600" lvl="7" indent="-292100" rtl="0">
              <a:spcBef>
                <a:spcPts val="800"/>
              </a:spcBef>
              <a:spcAft>
                <a:spcPts val="0"/>
              </a:spcAft>
              <a:buClr>
                <a:schemeClr val="lt1"/>
              </a:buClr>
              <a:buSzPts val="1000"/>
              <a:buChar char="○"/>
              <a:defRPr>
                <a:solidFill>
                  <a:schemeClr val="lt1"/>
                </a:solidFill>
              </a:defRPr>
            </a:lvl8pPr>
            <a:lvl9pPr marL="4114800" lvl="8" indent="-292100" rtl="0">
              <a:spcBef>
                <a:spcPts val="800"/>
              </a:spcBef>
              <a:spcAft>
                <a:spcPts val="800"/>
              </a:spcAft>
              <a:buClr>
                <a:schemeClr val="lt1"/>
              </a:buClr>
              <a:buSzPts val="1000"/>
              <a:buChar char="■"/>
              <a:defRPr>
                <a:solidFill>
                  <a:schemeClr val="lt1"/>
                </a:solidFill>
              </a:defRPr>
            </a:lvl9pPr>
          </a:lstStyle>
          <a:p>
            <a:endParaRPr/>
          </a:p>
        </p:txBody>
      </p:sp>
      <p:sp>
        <p:nvSpPr>
          <p:cNvPr id="88" name="Google Shape;88;p11"/>
          <p:cNvSpPr txBox="1">
            <a:spLocks noGrp="1"/>
          </p:cNvSpPr>
          <p:nvPr>
            <p:ph type="sldNum" idx="12"/>
          </p:nvPr>
        </p:nvSpPr>
        <p:spPr>
          <a:xfrm>
            <a:off x="90450" y="4873575"/>
            <a:ext cx="548700" cy="2697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eeks">
  <p:cSld name="Weeks">
    <p:spTree>
      <p:nvGrpSpPr>
        <p:cNvPr id="1" name="Shape 45"/>
        <p:cNvGrpSpPr/>
        <p:nvPr/>
      </p:nvGrpSpPr>
      <p:grpSpPr>
        <a:xfrm>
          <a:off x="0" y="0"/>
          <a:ext cx="0" cy="0"/>
          <a:chOff x="0" y="0"/>
          <a:chExt cx="0" cy="0"/>
        </a:xfrm>
      </p:grpSpPr>
      <p:sp>
        <p:nvSpPr>
          <p:cNvPr id="46" name="Google Shape;46;p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47" name="Google Shape;47;p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8" name="Google Shape;48;p7"/>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9" name="Google Shape;49;p7"/>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0" name="Google Shape;50;p7"/>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2" name="Google Shape;52;p7"/>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3" name="Google Shape;53;p7"/>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extLst>
      <p:ext uri="{BB962C8B-B14F-4D97-AF65-F5344CB8AC3E}">
        <p14:creationId xmlns:p14="http://schemas.microsoft.com/office/powerpoint/2010/main" val="181183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Feedback Slides">
  <p:cSld name="Feedback Slides">
    <p:bg>
      <p:bgPr>
        <a:solidFill>
          <a:srgbClr val="134F5C"/>
        </a:solidFill>
        <a:effectLst/>
      </p:bgPr>
    </p:bg>
    <p:spTree>
      <p:nvGrpSpPr>
        <p:cNvPr id="1" name="Shape 65"/>
        <p:cNvGrpSpPr/>
        <p:nvPr/>
      </p:nvGrpSpPr>
      <p:grpSpPr>
        <a:xfrm>
          <a:off x="0" y="0"/>
          <a:ext cx="0" cy="0"/>
          <a:chOff x="0" y="0"/>
          <a:chExt cx="0" cy="0"/>
        </a:xfrm>
      </p:grpSpPr>
      <p:sp>
        <p:nvSpPr>
          <p:cNvPr id="66" name="Google Shape;66;p9"/>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67" name="Google Shape;67;p9"/>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8" name="Google Shape;68;p9"/>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0" name="Google Shape;70;p9"/>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1" name="Google Shape;71;p9"/>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extLst>
      <p:ext uri="{BB962C8B-B14F-4D97-AF65-F5344CB8AC3E}">
        <p14:creationId xmlns:p14="http://schemas.microsoft.com/office/powerpoint/2010/main" val="2237386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eek 4 goals">
  <p:cSld name="Week 4 goals">
    <p:spTree>
      <p:nvGrpSpPr>
        <p:cNvPr id="1" name="Shape 54"/>
        <p:cNvGrpSpPr/>
        <p:nvPr/>
      </p:nvGrpSpPr>
      <p:grpSpPr>
        <a:xfrm>
          <a:off x="0" y="0"/>
          <a:ext cx="0" cy="0"/>
          <a:chOff x="0" y="0"/>
          <a:chExt cx="0" cy="0"/>
        </a:xfrm>
      </p:grpSpPr>
      <p:sp>
        <p:nvSpPr>
          <p:cNvPr id="55" name="Google Shape;55;p8"/>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6" name="Google Shape;56;p8"/>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7" name="Google Shape;57;p8"/>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8" name="Google Shape;58;p8"/>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9" name="Google Shape;59;p8"/>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1" name="Google Shape;61;p8"/>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2" name="Google Shape;62;p8"/>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3" name="Google Shape;63;p8"/>
          <p:cNvSpPr txBox="1">
            <a:spLocks noGrp="1"/>
          </p:cNvSpPr>
          <p:nvPr>
            <p:ph type="body" idx="7"/>
          </p:nvPr>
        </p:nvSpPr>
        <p:spPr>
          <a:xfrm>
            <a:off x="4663450" y="317214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4" name="Google Shape;64;p8"/>
          <p:cNvSpPr txBox="1">
            <a:spLocks noGrp="1"/>
          </p:cNvSpPr>
          <p:nvPr>
            <p:ph type="subTitle" idx="8"/>
          </p:nvPr>
        </p:nvSpPr>
        <p:spPr>
          <a:xfrm>
            <a:off x="4663440" y="277840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Tree>
    <p:extLst>
      <p:ext uri="{BB962C8B-B14F-4D97-AF65-F5344CB8AC3E}">
        <p14:creationId xmlns:p14="http://schemas.microsoft.com/office/powerpoint/2010/main" val="3212919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day">
    <p:bg>
      <p:bgPr>
        <a:solidFill>
          <a:srgbClr val="66666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64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rgbClr val="FFFFFF"/>
              </a:buClr>
              <a:buSzPts val="2000"/>
              <a:buFont typeface="Roboto Light"/>
              <a:buNone/>
              <a:defRPr sz="2000">
                <a:solidFill>
                  <a:srgbClr val="FFFFFF"/>
                </a:solidFill>
                <a:latin typeface="Roboto Light"/>
                <a:ea typeface="Roboto Light"/>
                <a:cs typeface="Roboto Light"/>
                <a:sym typeface="Roboto Light"/>
              </a:defRPr>
            </a:lvl1pPr>
            <a:lvl2pPr lvl="1">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2pPr>
            <a:lvl3pPr lvl="2">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3pPr>
            <a:lvl4pPr lvl="3">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4pPr>
            <a:lvl5pPr lvl="4">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5pPr>
            <a:lvl6pPr lvl="5">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6pPr>
            <a:lvl7pPr lvl="6">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7pPr>
            <a:lvl8pPr lvl="7">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8pPr>
            <a:lvl9pPr lvl="8">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9pPr>
          </a:lstStyle>
          <a:p>
            <a:endParaRPr/>
          </a:p>
        </p:txBody>
      </p:sp>
      <p:sp>
        <p:nvSpPr>
          <p:cNvPr id="7" name="Google Shape;7;p1"/>
          <p:cNvSpPr txBox="1">
            <a:spLocks noGrp="1"/>
          </p:cNvSpPr>
          <p:nvPr>
            <p:ph type="body" idx="1"/>
          </p:nvPr>
        </p:nvSpPr>
        <p:spPr>
          <a:xfrm>
            <a:off x="311700" y="636725"/>
            <a:ext cx="8520600" cy="3932100"/>
          </a:xfrm>
          <a:prstGeom prst="rect">
            <a:avLst/>
          </a:prstGeom>
          <a:noFill/>
          <a:ln>
            <a:noFill/>
          </a:ln>
        </p:spPr>
        <p:txBody>
          <a:bodyPr spcFirstLastPara="1" wrap="square" lIns="91425" tIns="91425" rIns="91425" bIns="91425" anchor="t" anchorCtr="0">
            <a:noAutofit/>
          </a:bodyPr>
          <a:lstStyle>
            <a:lvl1pPr marL="457200" lvl="0" indent="-292100">
              <a:lnSpc>
                <a:spcPct val="104000"/>
              </a:lnSpc>
              <a:spcBef>
                <a:spcPts val="0"/>
              </a:spcBef>
              <a:spcAft>
                <a:spcPts val="0"/>
              </a:spcAft>
              <a:buClr>
                <a:srgbClr val="FFFFFF"/>
              </a:buClr>
              <a:buSzPts val="1000"/>
              <a:buFont typeface="Roboto"/>
              <a:buChar char="●"/>
              <a:defRPr sz="1000">
                <a:solidFill>
                  <a:srgbClr val="FFFFFF"/>
                </a:solidFill>
                <a:latin typeface="Roboto"/>
                <a:ea typeface="Roboto"/>
                <a:cs typeface="Roboto"/>
                <a:sym typeface="Roboto"/>
              </a:defRPr>
            </a:lvl1pPr>
            <a:lvl2pPr marL="914400" lvl="1"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2pPr>
            <a:lvl3pPr marL="1371600" lvl="2"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3pPr>
            <a:lvl4pPr marL="1828800" lvl="3"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4pPr>
            <a:lvl5pPr marL="2286000" lvl="4"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5pPr>
            <a:lvl6pPr marL="2743200" lvl="5"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6pPr>
            <a:lvl7pPr marL="3200400" lvl="6"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7pPr>
            <a:lvl8pPr marL="3657600" lvl="7"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8pPr>
            <a:lvl9pPr marL="4114800" lvl="8" indent="-292100">
              <a:lnSpc>
                <a:spcPct val="104000"/>
              </a:lnSpc>
              <a:spcBef>
                <a:spcPts val="800"/>
              </a:spcBef>
              <a:spcAft>
                <a:spcPts val="800"/>
              </a:spcAft>
              <a:buClr>
                <a:srgbClr val="FFFFFF"/>
              </a:buClr>
              <a:buSzPts val="1000"/>
              <a:buFont typeface="Roboto"/>
              <a:buChar char="■"/>
              <a:defRPr sz="1000" u="sng">
                <a:solidFill>
                  <a:srgbClr val="FFFFFF"/>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90450" y="4873575"/>
            <a:ext cx="548700" cy="269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7" r:id="rId6"/>
    <p:sldLayoutId id="2147483659" r:id="rId7"/>
    <p:sldLayoutId id="2147483660" r:id="rId8"/>
    <p:sldLayoutId id="2147483661"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Graded%20Block%20A/244437_Mohammadali_Y1A_graded_rubrics_2024_2025.xlsx"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coursera/week%202%20coursera.png" TargetMode="External"/><Relationship Id="rId7" Type="http://schemas.openxmlformats.org/officeDocument/2006/relationships/hyperlink" Target="https://github.com/BredaUniversityADSAI/2024-25b-fai1-adsai-MohammadaliJaberi244437/blob/main/coursera/week%206%20coursera.png" TargetMode="External"/><Relationship Id="rId2" Type="http://schemas.openxmlformats.org/officeDocument/2006/relationships/hyperlink" Target="https://github.com/BredaUniversityADSAI/2024-25b-fai1-adsai-MohammadaliJaberi244437/blob/main/coursera/Week%201%20coursera%201.png" TargetMode="External"/><Relationship Id="rId1" Type="http://schemas.openxmlformats.org/officeDocument/2006/relationships/slideLayout" Target="../slideLayouts/slideLayout1.xml"/><Relationship Id="rId6" Type="http://schemas.openxmlformats.org/officeDocument/2006/relationships/hyperlink" Target="https://github.com/BredaUniversityADSAI/2024-25b-fai1-adsai-MohammadaliJaberi244437/blob/main/coursera/week%205%20coursera.png" TargetMode="External"/><Relationship Id="rId5" Type="http://schemas.openxmlformats.org/officeDocument/2006/relationships/hyperlink" Target="https://github.com/BredaUniversityADSAI/2024-25b-fai1-adsai-MohammadaliJaberi244437/blob/main/coursera/week%204%20coursera.png" TargetMode="External"/><Relationship Id="rId4" Type="http://schemas.openxmlformats.org/officeDocument/2006/relationships/hyperlink" Target="https://github.com/BredaUniversityADSAI/2024-25b-fai1-adsai-MohammadaliJaberi244437/blob/main/coursera/week%203%20coursera.png"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bcY2g2e4_6w&amp;t=4369s"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Evidence%20of%20coding%20bat/evidence%20of%20coding%20bat.png"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Week%203%20Saturday/Saturday%20evidencing%20coursera.png" TargetMode="External"/><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week%204/Week%204%20coursera.png" TargetMode="External"/><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hyperlink" Target="https://github.com/BredaUniversityADSAI/2024-25b-fai1-adsai-MohammadaliJaberi244437/blob/main/week%204/Math/Quizzes%20-%20Project%201B%202024-2025%20-%20Breda%20University%20of%20Applied%20Sciences(Math%20quiz%20week%204%20Wednesday).pdf"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Week%205/Math/Quizzes%20-%20Project%201B%202024-2025%20-%20Breda%20University%20of%20Applied%20Sciences(Math%20quiz%20week%205%20Wednesday).pdf" TargetMode="External"/><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hyperlink" Target="https://github.com/BredaUniversityADSAI/2024-25b-fai1-adsai-MohammadaliJaberi244437/blob/main/Week%205/BlockY1B_CreativeBrief%20(Mohammadali%20Jaberi%20244437%20final).ipynb"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Week%206/Math/LinearRegression_temp%20(Mohammadali%20)final.ipynb" TargetMode="External"/><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LogisticRegression_temp(%20MOHAMMADALI%20JABERI%20)final.ipynb" TargetMode="External"/><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hyperlink" Target="https://github.com/BredaUniversityADSAI/2024-25b-fai1-adsai-MohammadaliJaberi244437/blob/main/photo_2025-01-23_01-04-58.jpg"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FinalReport_Mohammadali%20Jaberi_244437.PDF%20.pdf" TargetMode="External"/><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Worklog%20-%20Y1B-2024-25_ADSAI%20jaberi(final).xlsx" TargetMode="External"/><Relationship Id="rId2" Type="http://schemas.openxmlformats.org/officeDocument/2006/relationships/notesSlide" Target="../notesSlides/notesSlide27.xml"/><Relationship Id="rId1" Type="http://schemas.openxmlformats.org/officeDocument/2006/relationships/slideLayout" Target="../slideLayouts/slideLayout5.xml"/><Relationship Id="rId5" Type="http://schemas.openxmlformats.org/officeDocument/2006/relationships/hyperlink" Target="https://github.com/BredaUniversityADSAI/2024-25b-fai1-adsai-MohammadaliJaberi244437/blob/main/Self%20Assessment%20Rubric%20-%20Y1B-%20Mohammadali%20Jaberi%20-244437-2024-25_ADSAI.xlsx" TargetMode="External"/><Relationship Id="rId4" Type="http://schemas.openxmlformats.org/officeDocument/2006/relationships/hyperlink" Target="https://github.com/BredaUniversityADSAI/2024-25b-fai1-adsai-MohammadaliJaberi244437/blob/main/BlockY1B_CreativeBrief%20(Mohammadali%20Jaberi%20244437%20final%2014).ipynb"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Worklog%20-%20Y1B-2024-25_ADSAI%20jaberi(final).xlsx" TargetMode="External"/><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hyperlink" Target="https://github.com/BredaUniversityADSAI/2024-25b-fai1-adsai-MohammadaliJaberi244437/blob/main/Self%20Assessment%20Rubric%20-%20Y1B-%20Mohammadali%20Jaberi%20-244437-2024-25_ADSAI.xlsx"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Self%20Assessment%20Rubric%20-%20Y1B-%20Mohammadali%20Jaberi%20-244437-2024-25_ADSAI.xlsx" TargetMode="External"/><Relationship Id="rId2" Type="http://schemas.openxmlformats.org/officeDocument/2006/relationships/notesSlide" Target="../notesSlides/notesSlide31.xml"/><Relationship Id="rId1" Type="http://schemas.openxmlformats.org/officeDocument/2006/relationships/slideLayout" Target="../slideLayouts/slideLayout5.xml"/><Relationship Id="rId5" Type="http://schemas.openxmlformats.org/officeDocument/2006/relationships/slide" Target="slide7.xml"/><Relationship Id="rId4" Type="http://schemas.openxmlformats.org/officeDocument/2006/relationships/hyperlink" Target="https://github.com/BredaUniversityADSAI/2024-25b-fai1-adsai-MohammadaliJaberi244437/blob/main/Worklog%20-%20Y1B-2024-25_ADSAI%20jaberi(final).xlsx"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Self%20Assessment%20Rubric%20-%20Y1B-%20Mohammadali%20Jaberi%20-244437-2024-25_ADSAI.xlsx" TargetMode="External"/><Relationship Id="rId2" Type="http://schemas.openxmlformats.org/officeDocument/2006/relationships/notesSlide" Target="../notesSlides/notesSlide33.xml"/><Relationship Id="rId1" Type="http://schemas.openxmlformats.org/officeDocument/2006/relationships/slideLayout" Target="../slideLayouts/slideLayout5.xml"/><Relationship Id="rId5" Type="http://schemas.openxmlformats.org/officeDocument/2006/relationships/hyperlink" Target="https://github.com/BredaUniversityADSAI/2024-25b-fai1-adsai-MohammadaliJaberi244437/blob/main/BlockY1B_CreativeBrief%20(Mohammadali%20Jaberi%20244437%20final%2014).ipynb" TargetMode="External"/><Relationship Id="rId4" Type="http://schemas.openxmlformats.org/officeDocument/2006/relationships/hyperlink" Target="https://github.com/BredaUniversityADSAI/2024-25b-fai1-adsai-MohammadaliJaberi244437/blob/main/Worklog%20-%20Y1B-2024-25_ADSAI%20jaberi(final).xlsx"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Self%20Assessment%20Rubric%20-%20Y1B-%20Mohammadali%20Jaberi%20-244437-2024-25_ADSAI.xlsx" TargetMode="External"/><Relationship Id="rId2" Type="http://schemas.openxmlformats.org/officeDocument/2006/relationships/notesSlide" Target="../notesSlides/notesSlide35.xml"/><Relationship Id="rId1" Type="http://schemas.openxmlformats.org/officeDocument/2006/relationships/slideLayout" Target="../slideLayouts/slideLayout5.xml"/><Relationship Id="rId6" Type="http://schemas.openxmlformats.org/officeDocument/2006/relationships/hyperlink" Target="https://github.com/BredaUniversityADSAI/2024-25b-fai1-adsai-MohammadaliJaberi244437/blob/main/BlockY1B_CreativeBrief%20(Mohammadali%20Jaberi%20244437%20final%2013%20).ipynb" TargetMode="External"/><Relationship Id="rId5" Type="http://schemas.openxmlformats.org/officeDocument/2006/relationships/hyperlink" Target="https://github.com/BredaUniversityADSAI/2024-25b-fai1-adsai-MohammadaliJaberi244437/blob/main/BlockY1B_CreativeBrief%20(Mohammadali%20Jaberi%20244437%20final%2014).ipynb" TargetMode="External"/><Relationship Id="rId4" Type="http://schemas.openxmlformats.org/officeDocument/2006/relationships/hyperlink" Target="https://github.com/BredaUniversityADSAI/2024-25b-fai1-adsai-MohammadaliJaberi244437/blob/main/Worklog%20-%20Y1B-2024-25_ADSAI%20jaberi(final).xlsx"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8" Type="http://schemas.openxmlformats.org/officeDocument/2006/relationships/hyperlink" Target="https://github.com/BredaUniversityADSAI/2024-25b-fai1-adsai-MohammadaliJaberi244437/blob/main/LogisticRegression_temp(%20MOHAMMADALI%20JABERI%20)final.ipynb" TargetMode="External"/><Relationship Id="rId3" Type="http://schemas.openxmlformats.org/officeDocument/2006/relationships/hyperlink" Target="https://github.com/BredaUniversityADSAI/2024-25b-fai1-adsai-MohammadaliJaberi244437/blob/main/Self%20Assessment%20Rubric%20-%20Y1B-%20Mohammadali%20Jaberi%20-244437-2024-25_ADSAI.xlsx" TargetMode="External"/><Relationship Id="rId7" Type="http://schemas.openxmlformats.org/officeDocument/2006/relationships/hyperlink" Target="https://github.com/BredaUniversityADSAI/2024-25b-fai1-adsai-MohammadaliJaberi244437/blob/main/Week%206/Math/LinearRegression_temp%20(Mohammadali%20)final.ipynb" TargetMode="External"/><Relationship Id="rId2" Type="http://schemas.openxmlformats.org/officeDocument/2006/relationships/notesSlide" Target="../notesSlides/notesSlide37.xml"/><Relationship Id="rId1" Type="http://schemas.openxmlformats.org/officeDocument/2006/relationships/slideLayout" Target="../slideLayouts/slideLayout5.xml"/><Relationship Id="rId6" Type="http://schemas.openxmlformats.org/officeDocument/2006/relationships/hyperlink" Target="https://github.com/BredaUniversityADSAI/2024-25b-fai1-adsai-MohammadaliJaberi244437/blob/main/Week%206/Math/AlgebraicExample_temp%20(MohammadAli%20Jaberi)%20Week%206%20Wednesday.ipynb" TargetMode="External"/><Relationship Id="rId5" Type="http://schemas.openxmlformats.org/officeDocument/2006/relationships/hyperlink" Target="https://github.com/BredaUniversityADSAI/2024-25b-fai1-adsai-MohammadaliJaberi244437/blob/main/Week%206/Math/PricePred_temp%20(Mohammadali%20Jaberi)%20Week%206%20Wednesday.ipynb" TargetMode="External"/><Relationship Id="rId4" Type="http://schemas.openxmlformats.org/officeDocument/2006/relationships/hyperlink" Target="https://github.com/BredaUniversityADSAI/2024-25b-fai1-adsai-MohammadaliJaberi244437/blob/main/Worklog%20-%20Y1B-2024-25_ADSAI%20jaberi(final).xlsx" TargetMode="Externa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Self%20Assessment%20Rubric%20-%20Y1B-%20Mohammadali%20Jaberi%20-244437-2024-25_ADSAI.xlsx" TargetMode="External"/><Relationship Id="rId7" Type="http://schemas.openxmlformats.org/officeDocument/2006/relationships/hyperlink" Target="https://github.com/BredaUniversityADSAI/2024-25b-fai1-adsai-MohammadaliJaberi244437/blob/main/BlockY1B_CreativeBrief%20(Mohammadali%20Jaberi%20244437%20final%2014).ipynb" TargetMode="External"/><Relationship Id="rId2" Type="http://schemas.openxmlformats.org/officeDocument/2006/relationships/notesSlide" Target="../notesSlides/notesSlide39.xml"/><Relationship Id="rId1" Type="http://schemas.openxmlformats.org/officeDocument/2006/relationships/slideLayout" Target="../slideLayouts/slideLayout5.xml"/><Relationship Id="rId6" Type="http://schemas.openxmlformats.org/officeDocument/2006/relationships/hyperlink" Target="https://github.com/BredaUniversityADSAI/2024-25b-fai1-adsai-MohammadaliJaberi244437/blob/main/(FinalReportTemp)_Y1B_%20Mohammadali%20Jaberi%20-%20244437-%2024-25_ADSAI1%3D%3Dfinal%20one.pdf" TargetMode="External"/><Relationship Id="rId5" Type="http://schemas.openxmlformats.org/officeDocument/2006/relationships/hyperlink" Target="https://github.com/BredaUniversityADSAI/2024-25b-fai1-adsai-MohammadaliJaberi244437/blob/main/24%20January.pdf" TargetMode="External"/><Relationship Id="rId4" Type="http://schemas.openxmlformats.org/officeDocument/2006/relationships/hyperlink" Target="https://github.com/BredaUniversityADSAI/2024-25b-fai1-adsai-MohammadaliJaberi244437/blob/main/Worklog%20-%20Y1B-2024-25_ADSAI%20jaberi(final).xlsx"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4.sv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4.sv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2"/>
          <p:cNvSpPr txBox="1">
            <a:spLocks noGrp="1"/>
          </p:cNvSpPr>
          <p:nvPr>
            <p:ph type="ctrTitle"/>
          </p:nvPr>
        </p:nvSpPr>
        <p:spPr>
          <a:xfrm>
            <a:off x="3657600" y="548650"/>
            <a:ext cx="4937700" cy="3264300"/>
          </a:xfrm>
          <a:prstGeom prst="rect">
            <a:avLst/>
          </a:prstGeom>
        </p:spPr>
        <p:txBody>
          <a:bodyPr spcFirstLastPara="1" wrap="square" lIns="91425" tIns="91425" rIns="91425" bIns="91425" anchor="b" anchorCtr="0">
            <a:noAutofit/>
          </a:bodyPr>
          <a:lstStyle/>
          <a:p>
            <a:r>
              <a:rPr lang="en" dirty="0">
                <a:latin typeface="Roboto"/>
                <a:ea typeface="Roboto"/>
                <a:cs typeface="Roboto"/>
                <a:sym typeface="Roboto"/>
              </a:rPr>
              <a:t>« Mohammadali Jaberi »</a:t>
            </a:r>
            <a:endParaRPr dirty="0">
              <a:solidFill>
                <a:srgbClr val="FFFFFF"/>
              </a:solidFill>
              <a:latin typeface="Roboto"/>
              <a:ea typeface="Roboto"/>
              <a:cs typeface="Roboto"/>
              <a:sym typeface="Roboto"/>
            </a:endParaRPr>
          </a:p>
          <a:p>
            <a:pPr marL="0" lvl="0" indent="0" algn="l" rtl="0">
              <a:spcBef>
                <a:spcPts val="0"/>
              </a:spcBef>
              <a:spcAft>
                <a:spcPts val="0"/>
              </a:spcAft>
              <a:buNone/>
            </a:pPr>
            <a:r>
              <a:rPr lang="en" dirty="0">
                <a:latin typeface="Roboto"/>
                <a:ea typeface="Roboto"/>
                <a:cs typeface="Roboto"/>
                <a:sym typeface="Roboto"/>
              </a:rPr>
              <a:t>« Jaberi »</a:t>
            </a:r>
            <a:endParaRPr dirty="0">
              <a:solidFill>
                <a:srgbClr val="FFFFFF"/>
              </a:solidFill>
              <a:latin typeface="Roboto"/>
              <a:ea typeface="Roboto"/>
              <a:cs typeface="Roboto"/>
              <a:sym typeface="Roboto"/>
            </a:endParaRPr>
          </a:p>
          <a:p>
            <a:pPr marL="0" lvl="0" indent="0" algn="l" rtl="0">
              <a:spcBef>
                <a:spcPts val="0"/>
              </a:spcBef>
              <a:spcAft>
                <a:spcPts val="0"/>
              </a:spcAft>
              <a:buNone/>
            </a:pPr>
            <a:r>
              <a:rPr lang="en" dirty="0">
                <a:solidFill>
                  <a:srgbClr val="FFFFFF"/>
                </a:solidFill>
                <a:latin typeface="Roboto"/>
                <a:ea typeface="Roboto"/>
                <a:cs typeface="Roboto"/>
                <a:sym typeface="Roboto"/>
              </a:rPr>
              <a:t>«</a:t>
            </a:r>
            <a:r>
              <a:rPr lang="en-NL" dirty="0" err="1">
                <a:latin typeface="Roboto"/>
                <a:ea typeface="Roboto"/>
                <a:cs typeface="Roboto"/>
                <a:sym typeface="Roboto"/>
              </a:rPr>
              <a:t>creativebrief</a:t>
            </a:r>
            <a:r>
              <a:rPr lang="en-NL" dirty="0">
                <a:latin typeface="Roboto"/>
                <a:ea typeface="Roboto"/>
                <a:cs typeface="Roboto"/>
                <a:sym typeface="Roboto"/>
              </a:rPr>
              <a:t>/</a:t>
            </a:r>
            <a:r>
              <a:rPr lang="en-NL" dirty="0" err="1">
                <a:latin typeface="Roboto"/>
                <a:ea typeface="Roboto"/>
                <a:cs typeface="Roboto"/>
                <a:sym typeface="Roboto"/>
              </a:rPr>
              <a:t>projectname</a:t>
            </a:r>
            <a:r>
              <a:rPr lang="en" dirty="0">
                <a:solidFill>
                  <a:srgbClr val="FFFFFF"/>
                </a:solidFill>
                <a:latin typeface="Roboto"/>
                <a:ea typeface="Roboto"/>
                <a:cs typeface="Roboto"/>
                <a:sym typeface="Roboto"/>
              </a:rPr>
              <a:t>»</a:t>
            </a:r>
            <a:endParaRPr dirty="0">
              <a:solidFill>
                <a:srgbClr val="FFFFFF"/>
              </a:solidFill>
              <a:latin typeface="Roboto"/>
              <a:ea typeface="Roboto"/>
              <a:cs typeface="Roboto"/>
              <a:sym typeface="Roboto"/>
            </a:endParaRPr>
          </a:p>
        </p:txBody>
      </p:sp>
      <p:sp>
        <p:nvSpPr>
          <p:cNvPr id="94" name="Google Shape;94;p12" descr="Face" title="Face"/>
          <p:cNvSpPr/>
          <p:nvPr/>
        </p:nvSpPr>
        <p:spPr>
          <a:xfrm>
            <a:off x="3749050" y="640075"/>
            <a:ext cx="1371600" cy="1371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[photo]</a:t>
            </a:r>
            <a:endParaRPr/>
          </a:p>
        </p:txBody>
      </p:sp>
      <p:sp>
        <p:nvSpPr>
          <p:cNvPr id="95" name="Google Shape;95;p12"/>
          <p:cNvSpPr txBox="1">
            <a:spLocks noGrp="1"/>
          </p:cNvSpPr>
          <p:nvPr>
            <p:ph type="subTitle" idx="1"/>
          </p:nvPr>
        </p:nvSpPr>
        <p:spPr>
          <a:xfrm>
            <a:off x="548650" y="2571750"/>
            <a:ext cx="2011800" cy="1406525"/>
          </a:xfrm>
          <a:prstGeom prst="rect">
            <a:avLst/>
          </a:prstGeom>
        </p:spPr>
        <p:txBody>
          <a:bodyPr spcFirstLastPara="1" wrap="square" lIns="91425" tIns="91425" rIns="91425" bIns="91425" anchor="b" anchorCtr="0">
            <a:noAutofit/>
          </a:bodyPr>
          <a:lstStyle/>
          <a:p>
            <a:pPr marL="0" indent="0">
              <a:lnSpc>
                <a:spcPct val="104000"/>
              </a:lnSpc>
            </a:pPr>
            <a:r>
              <a:rPr lang="en" sz="1800">
                <a:solidFill>
                  <a:srgbClr val="434343"/>
                </a:solidFill>
              </a:rPr>
              <a:t>Learning Log</a:t>
            </a:r>
            <a:r>
              <a:rPr lang="en">
                <a:solidFill>
                  <a:srgbClr val="434343"/>
                </a:solidFill>
              </a:rPr>
              <a:t> </a:t>
            </a:r>
            <a:endParaRPr sz="1800">
              <a:solidFill>
                <a:srgbClr val="434343"/>
              </a:solidFill>
            </a:endParaRPr>
          </a:p>
          <a:p>
            <a:pPr marL="0" indent="0">
              <a:lnSpc>
                <a:spcPct val="104000"/>
              </a:lnSpc>
              <a:spcBef>
                <a:spcPts val="800"/>
              </a:spcBef>
              <a:spcAft>
                <a:spcPts val="800"/>
              </a:spcAft>
            </a:pPr>
            <a:r>
              <a:rPr lang="en">
                <a:solidFill>
                  <a:srgbClr val="434343"/>
                </a:solidFill>
              </a:rPr>
              <a:t>Year  1</a:t>
            </a:r>
            <a:endParaRPr lang="en-US">
              <a:solidFill>
                <a:srgbClr val="434343"/>
              </a:solidFill>
            </a:endParaRPr>
          </a:p>
          <a:p>
            <a:pPr marL="0" indent="0">
              <a:lnSpc>
                <a:spcPct val="104000"/>
              </a:lnSpc>
              <a:spcBef>
                <a:spcPts val="800"/>
              </a:spcBef>
              <a:spcAft>
                <a:spcPts val="800"/>
              </a:spcAft>
            </a:pPr>
            <a:r>
              <a:rPr lang="en">
                <a:solidFill>
                  <a:srgbClr val="434343"/>
                </a:solidFill>
              </a:rPr>
              <a:t>Block  B</a:t>
            </a:r>
            <a:endParaRPr lang="en-US" sz="1800">
              <a:solidFill>
                <a:srgbClr val="434343"/>
              </a:solidFill>
            </a:endParaRPr>
          </a:p>
        </p:txBody>
      </p:sp>
      <p:sp>
        <p:nvSpPr>
          <p:cNvPr id="4" name="Google Shape;16;p2">
            <a:extLst>
              <a:ext uri="{FF2B5EF4-FFF2-40B4-BE49-F238E27FC236}">
                <a16:creationId xmlns:a16="http://schemas.microsoft.com/office/drawing/2014/main" id="{8758BBB5-F7B4-27C5-E103-E7FBDED4DBC2}"/>
              </a:ext>
            </a:extLst>
          </p:cNvPr>
          <p:cNvSpPr txBox="1"/>
          <p:nvPr/>
        </p:nvSpPr>
        <p:spPr>
          <a:xfrm>
            <a:off x="3036677" y="4408319"/>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a:latin typeface="Roboto"/>
              <a:ea typeface="Roboto"/>
              <a:cs typeface="Roboto"/>
              <a:sym typeface="Roboto"/>
            </a:endParaRPr>
          </a:p>
        </p:txBody>
      </p:sp>
      <p:sp>
        <p:nvSpPr>
          <p:cNvPr id="5" name="Google Shape;16;p2">
            <a:extLst>
              <a:ext uri="{FF2B5EF4-FFF2-40B4-BE49-F238E27FC236}">
                <a16:creationId xmlns:a16="http://schemas.microsoft.com/office/drawing/2014/main" id="{91019EC5-1870-195F-7F9F-5AA97F189468}"/>
              </a:ext>
            </a:extLst>
          </p:cNvPr>
          <p:cNvSpPr txBox="1"/>
          <p:nvPr/>
        </p:nvSpPr>
        <p:spPr>
          <a:xfrm>
            <a:off x="3036676" y="4625059"/>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a:latin typeface="Roboto"/>
              <a:ea typeface="Roboto"/>
              <a:cs typeface="Roboto"/>
              <a:sym typeface="Roboto"/>
            </a:endParaRPr>
          </a:p>
        </p:txBody>
      </p:sp>
      <p:sp>
        <p:nvSpPr>
          <p:cNvPr id="6" name="Google Shape;16;p2">
            <a:extLst>
              <a:ext uri="{FF2B5EF4-FFF2-40B4-BE49-F238E27FC236}">
                <a16:creationId xmlns:a16="http://schemas.microsoft.com/office/drawing/2014/main" id="{71C20FEA-7051-AFFA-02AF-093F08979088}"/>
              </a:ext>
            </a:extLst>
          </p:cNvPr>
          <p:cNvSpPr txBox="1"/>
          <p:nvPr/>
        </p:nvSpPr>
        <p:spPr>
          <a:xfrm>
            <a:off x="3036676" y="4798480"/>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3"/>
          <p:cNvSpPr txBox="1">
            <a:spLocks noGrp="1"/>
          </p:cNvSpPr>
          <p:nvPr>
            <p:ph type="title"/>
          </p:nvPr>
        </p:nvSpPr>
        <p:spPr>
          <a:xfrm>
            <a:off x="182880" y="2926080"/>
            <a:ext cx="2743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How To Use</a:t>
            </a:r>
            <a:endParaRPr/>
          </a:p>
          <a:p>
            <a:pPr marL="0" lvl="0" indent="0" algn="ctr" rtl="0">
              <a:spcBef>
                <a:spcPts val="0"/>
              </a:spcBef>
              <a:spcAft>
                <a:spcPts val="0"/>
              </a:spcAft>
              <a:buNone/>
            </a:pPr>
            <a:r>
              <a:rPr lang="en"/>
              <a:t>This Template</a:t>
            </a:r>
            <a:endParaRPr/>
          </a:p>
        </p:txBody>
      </p:sp>
      <p:sp>
        <p:nvSpPr>
          <p:cNvPr id="102" name="Google Shape;102;p13"/>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As a student at Breda University of Applied Sciences studying to become a professional, you are required to provide evidence that demonstrates your professional learning and growth during the block. This template is intended to provide you with a well-structured and </a:t>
            </a:r>
            <a:r>
              <a:rPr lang="en" err="1"/>
              <a:t>organised</a:t>
            </a:r>
            <a:r>
              <a:rPr lang="en"/>
              <a:t> format for doing this effectively. Keep in mind that certain competencies may require you to update your evidence every week, and others may have only be relevant during a particular week or two.</a:t>
            </a:r>
            <a:endParaRPr/>
          </a:p>
          <a:p>
            <a:pPr marL="0" lvl="0" indent="0" algn="l" rtl="0">
              <a:spcBef>
                <a:spcPts val="800"/>
              </a:spcBef>
              <a:spcAft>
                <a:spcPts val="0"/>
              </a:spcAft>
              <a:buNone/>
            </a:pPr>
            <a:endParaRPr/>
          </a:p>
          <a:p>
            <a:pPr marL="0" lvl="0" indent="0" algn="l" rtl="0">
              <a:spcBef>
                <a:spcPts val="800"/>
              </a:spcBef>
              <a:spcAft>
                <a:spcPts val="0"/>
              </a:spcAft>
              <a:buNone/>
            </a:pPr>
            <a:r>
              <a:rPr lang="en"/>
              <a:t>With the evidence you present here teachers should get a clear and comprehensive overview of your progress, how you’ve engaged with feedback, as well as your general attitude and performance as a student and as an aspiring professional developer.</a:t>
            </a:r>
            <a:endParaRPr/>
          </a:p>
          <a:p>
            <a:pPr marL="0" lvl="0" indent="0" algn="l" rtl="0">
              <a:spcBef>
                <a:spcPts val="800"/>
              </a:spcBef>
              <a:spcAft>
                <a:spcPts val="0"/>
              </a:spcAft>
              <a:buNone/>
            </a:pPr>
            <a:endParaRPr/>
          </a:p>
          <a:p>
            <a:pPr marL="0" lvl="0" indent="0" algn="l" rtl="0">
              <a:spcBef>
                <a:spcPts val="800"/>
              </a:spcBef>
              <a:spcAft>
                <a:spcPts val="0"/>
              </a:spcAft>
              <a:buNone/>
            </a:pPr>
            <a:r>
              <a:rPr lang="en"/>
              <a:t>Note that number and size of text boxes and how they are organized on each slide may be modified as needed. It is up to you to decide what layout is most effective for the content you are providing. You may also add slides if needed, but try to be as economical as possible, i.e. quality over quantity. Focus on the things that are the most significant and meaningful.</a:t>
            </a:r>
            <a:endParaRPr/>
          </a:p>
          <a:p>
            <a:pPr marL="0" lvl="0" indent="0" algn="l" rtl="0">
              <a:spcBef>
                <a:spcPts val="800"/>
              </a:spcBef>
              <a:spcAft>
                <a:spcPts val="0"/>
              </a:spcAft>
              <a:buNone/>
            </a:pPr>
            <a:endParaRPr/>
          </a:p>
          <a:p>
            <a:pPr marL="0" lvl="0" indent="0" algn="l" rtl="0">
              <a:spcBef>
                <a:spcPts val="800"/>
              </a:spcBef>
              <a:spcAft>
                <a:spcPts val="800"/>
              </a:spcAft>
              <a:buNone/>
            </a:pPr>
            <a:r>
              <a:rPr lang="en"/>
              <a:t>You are also free to stylise this template to improve the graphic design and visual appeal, but please remember its purpose: to provide evidence of your progress towards becoming a professional developer. Changes should only enhance and extend the information, and may never subtract. I.e. do not delete anything or change the order of things. If in doubt, seek approval from your teachers!</a:t>
            </a:r>
            <a:endParaRPr/>
          </a:p>
        </p:txBody>
      </p:sp>
      <p:pic>
        <p:nvPicPr>
          <p:cNvPr id="1026" name="Picture 2" descr="Artificial intelligence brain">
            <a:extLst>
              <a:ext uri="{FF2B5EF4-FFF2-40B4-BE49-F238E27FC236}">
                <a16:creationId xmlns:a16="http://schemas.microsoft.com/office/drawing/2014/main" id="{31E76062-B307-B28D-6D09-6AB7455F1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4" y="453863"/>
            <a:ext cx="3102126" cy="1615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274320" y="308799"/>
            <a:ext cx="2560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Learning Log</a:t>
            </a:r>
            <a:endParaRPr/>
          </a:p>
          <a:p>
            <a:pPr marL="0" lvl="0" indent="0" algn="ctr" rtl="0">
              <a:spcBef>
                <a:spcPts val="0"/>
              </a:spcBef>
              <a:spcAft>
                <a:spcPts val="0"/>
              </a:spcAft>
              <a:buNone/>
            </a:pPr>
            <a:r>
              <a:rPr lang="en"/>
              <a:t>Structure</a:t>
            </a:r>
            <a:endParaRPr/>
          </a:p>
        </p:txBody>
      </p:sp>
      <p:sp>
        <p:nvSpPr>
          <p:cNvPr id="109" name="Google Shape;109;p14"/>
          <p:cNvSpPr txBox="1">
            <a:spLocks noGrp="1"/>
          </p:cNvSpPr>
          <p:nvPr>
            <p:ph type="subTitle" idx="1"/>
          </p:nvPr>
        </p:nvSpPr>
        <p:spPr>
          <a:xfrm>
            <a:off x="274320" y="1860700"/>
            <a:ext cx="2560200" cy="301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t>Section A</a:t>
            </a:r>
            <a:endParaRPr sz="1400"/>
          </a:p>
          <a:p>
            <a:pPr marL="182880" lvl="0" indent="-180340" algn="l" rtl="0">
              <a:spcBef>
                <a:spcPts val="0"/>
              </a:spcBef>
              <a:spcAft>
                <a:spcPts val="0"/>
              </a:spcAft>
              <a:buSzPts val="1400"/>
              <a:buChar char="●"/>
            </a:pPr>
            <a:r>
              <a:rPr lang="en" sz="1400"/>
              <a:t>Starting this block</a:t>
            </a:r>
            <a:endParaRPr sz="1400"/>
          </a:p>
          <a:p>
            <a:pPr marL="182880" lvl="0" indent="-180340" algn="l" rtl="0">
              <a:spcBef>
                <a:spcPts val="0"/>
              </a:spcBef>
              <a:spcAft>
                <a:spcPts val="0"/>
              </a:spcAft>
              <a:buSzPts val="1400"/>
              <a:buChar char="●"/>
            </a:pPr>
            <a:r>
              <a:rPr lang="en" sz="1400"/>
              <a:t>Goals</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B </a:t>
            </a:r>
            <a:endParaRPr sz="1400"/>
          </a:p>
          <a:p>
            <a:pPr marL="182880" lvl="0" indent="-180340" algn="l" rtl="0">
              <a:spcBef>
                <a:spcPts val="0"/>
              </a:spcBef>
              <a:spcAft>
                <a:spcPts val="0"/>
              </a:spcAft>
              <a:buSzPts val="1400"/>
              <a:buChar char="●"/>
            </a:pPr>
            <a:r>
              <a:rPr lang="en" sz="1400"/>
              <a:t>ILO section</a:t>
            </a:r>
            <a:endParaRPr sz="1400"/>
          </a:p>
          <a:p>
            <a:pPr marL="182880" lvl="0" indent="-180340" algn="l" rtl="0">
              <a:spcBef>
                <a:spcPts val="0"/>
              </a:spcBef>
              <a:spcAft>
                <a:spcPts val="0"/>
              </a:spcAft>
              <a:buSzPts val="1400"/>
              <a:buChar char="●"/>
            </a:pPr>
            <a:r>
              <a:rPr lang="en" sz="1400"/>
              <a:t>Week log section</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C</a:t>
            </a:r>
            <a:endParaRPr sz="1400"/>
          </a:p>
          <a:p>
            <a:pPr marL="182880" lvl="0" indent="-180340" algn="l" rtl="0">
              <a:spcBef>
                <a:spcPts val="0"/>
              </a:spcBef>
              <a:spcAft>
                <a:spcPts val="0"/>
              </a:spcAft>
              <a:buSzPts val="1400"/>
              <a:buChar char="●"/>
            </a:pPr>
            <a:r>
              <a:rPr lang="en" sz="1400"/>
              <a:t>Block reflection</a:t>
            </a:r>
            <a:endParaRPr sz="1400"/>
          </a:p>
        </p:txBody>
      </p:sp>
      <p:sp>
        <p:nvSpPr>
          <p:cNvPr id="110" name="Google Shape;110;p14"/>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200" b="1" u="sng"/>
              <a:t>Section A - My Plan		</a:t>
            </a:r>
            <a:r>
              <a:rPr lang="en" i="1"/>
              <a:t>Must be completed in </a:t>
            </a:r>
            <a:r>
              <a:rPr lang="en" i="1" u="sng"/>
              <a:t>week 1</a:t>
            </a:r>
            <a:endParaRPr i="1" u="sng"/>
          </a:p>
          <a:p>
            <a:pPr marL="0" lvl="0" indent="0" algn="l" rtl="0">
              <a:spcBef>
                <a:spcPts val="800"/>
              </a:spcBef>
              <a:spcAft>
                <a:spcPts val="0"/>
              </a:spcAft>
              <a:buNone/>
            </a:pPr>
            <a:r>
              <a:rPr lang="en"/>
              <a:t>Your plan describes your goals for the block. Starting with where you are right now, where do you want to be at the end of the block? I.e. what role(s) will you take responsibility for, and how will you demonstrate progress relevant to the ILOs for this block? What tasks and deliverables are best aligned with your role and the project brief?</a:t>
            </a:r>
            <a:endParaRPr/>
          </a:p>
          <a:p>
            <a:pPr marL="0" lvl="0" indent="0" algn="l" rtl="0">
              <a:spcBef>
                <a:spcPts val="800"/>
              </a:spcBef>
              <a:spcAft>
                <a:spcPts val="0"/>
              </a:spcAft>
              <a:buNone/>
            </a:pPr>
            <a:r>
              <a:rPr lang="en" sz="1200" b="1" u="sng"/>
              <a:t>Section B - ILO’s		</a:t>
            </a:r>
            <a:r>
              <a:rPr lang="en" i="1"/>
              <a:t>Must be completed in </a:t>
            </a:r>
            <a:r>
              <a:rPr lang="en" i="1" u="sng"/>
              <a:t>week 8</a:t>
            </a:r>
            <a:r>
              <a:rPr lang="en" i="1"/>
              <a:t>, but should be updated </a:t>
            </a:r>
            <a:r>
              <a:rPr lang="en" i="1" u="sng"/>
              <a:t>regularly</a:t>
            </a:r>
            <a:endParaRPr i="1" u="sng"/>
          </a:p>
          <a:p>
            <a:pPr marL="0" lvl="0" indent="0" algn="l" rtl="0">
              <a:spcBef>
                <a:spcPts val="800"/>
              </a:spcBef>
              <a:spcAft>
                <a:spcPts val="0"/>
              </a:spcAft>
              <a:buNone/>
            </a:pPr>
            <a:r>
              <a:rPr lang="en"/>
              <a:t>This is where you link your evidence to each of the Intended Learning Outcomes of this block.</a:t>
            </a:r>
            <a:endParaRPr/>
          </a:p>
          <a:p>
            <a:pPr marL="0" lvl="0" indent="0" algn="l" rtl="0">
              <a:spcBef>
                <a:spcPts val="800"/>
              </a:spcBef>
              <a:spcAft>
                <a:spcPts val="0"/>
              </a:spcAft>
              <a:buNone/>
            </a:pPr>
            <a:r>
              <a:rPr lang="en" sz="1200" b="1" u="sng"/>
              <a:t>Section C - Weekly Log	</a:t>
            </a:r>
            <a:r>
              <a:rPr lang="en" i="1"/>
              <a:t>Must be updated </a:t>
            </a:r>
            <a:r>
              <a:rPr lang="en" i="1" u="sng"/>
              <a:t>every week</a:t>
            </a:r>
            <a:endParaRPr i="1" u="sng"/>
          </a:p>
          <a:p>
            <a:pPr marL="0" lvl="0" indent="0" algn="l" rtl="0">
              <a:spcBef>
                <a:spcPts val="80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80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800"/>
              </a:spcBef>
              <a:spcAft>
                <a:spcPts val="0"/>
              </a:spcAft>
              <a:buNone/>
            </a:pPr>
            <a:r>
              <a:rPr lang="en"/>
              <a:t>(Some reflection is almost always a good idea as it provides the foundation for Section C.)</a:t>
            </a:r>
            <a:endParaRPr/>
          </a:p>
          <a:p>
            <a:pPr marL="0" lvl="0" indent="0" algn="l" rtl="0">
              <a:spcBef>
                <a:spcPts val="800"/>
              </a:spcBef>
              <a:spcAft>
                <a:spcPts val="0"/>
              </a:spcAft>
              <a:buNone/>
            </a:pPr>
            <a:r>
              <a:rPr lang="en" sz="1200" b="1" u="sng"/>
              <a:t>Section D - Reflection	</a:t>
            </a:r>
            <a:r>
              <a:rPr lang="en" i="1"/>
              <a:t>Must be completed in </a:t>
            </a:r>
            <a:r>
              <a:rPr lang="en" i="1" u="sng"/>
              <a:t>week 8</a:t>
            </a:r>
            <a:endParaRPr i="1" u="sng"/>
          </a:p>
          <a:p>
            <a:pPr marL="0" lvl="0" indent="0" algn="l" rtl="0">
              <a:spcBef>
                <a:spcPts val="800"/>
              </a:spcBef>
              <a:spcAft>
                <a:spcPts val="800"/>
              </a:spcAft>
              <a:buNone/>
            </a:pPr>
            <a:r>
              <a:rPr lang="en"/>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t>Goal Setting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A</a:t>
            </a:r>
            <a:endParaRPr sz="40000">
              <a:solidFill>
                <a:srgbClr val="999999"/>
              </a:solidFill>
              <a:latin typeface="Roboto"/>
              <a:ea typeface="Roboto"/>
              <a:cs typeface="Roboto"/>
              <a:sym typeface="Roboto"/>
            </a:endParaRPr>
          </a:p>
        </p:txBody>
      </p:sp>
      <p:sp>
        <p:nvSpPr>
          <p:cNvPr id="2" name="Rectangle: Rounded Corners 1">
            <a:extLst>
              <a:ext uri="{FF2B5EF4-FFF2-40B4-BE49-F238E27FC236}">
                <a16:creationId xmlns:a16="http://schemas.microsoft.com/office/drawing/2014/main" id="{4E84F48E-9152-454D-9754-FA0D0AD81F68}"/>
              </a:ext>
            </a:extLst>
          </p:cNvPr>
          <p:cNvSpPr/>
          <p:nvPr/>
        </p:nvSpPr>
        <p:spPr>
          <a:xfrm>
            <a:off x="2033752" y="404648"/>
            <a:ext cx="6232634" cy="730469"/>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L" b="1">
                <a:latin typeface="Open Sans" panose="020B0606030504020204" pitchFamily="34" charset="0"/>
                <a:ea typeface="Open Sans" panose="020B0606030504020204" pitchFamily="34" charset="0"/>
                <a:cs typeface="Times New Roman" panose="02020603050405020304" pitchFamily="18" charset="0"/>
              </a:rPr>
              <a:t>In the first week</a:t>
            </a:r>
            <a:r>
              <a:rPr lang="en-NL">
                <a:latin typeface="Open Sans" panose="020B0606030504020204" pitchFamily="34" charset="0"/>
                <a:ea typeface="Open Sans" panose="020B0606030504020204" pitchFamily="34" charset="0"/>
                <a:cs typeface="Times New Roman" panose="02020603050405020304" pitchFamily="18" charset="0"/>
              </a:rPr>
              <a:t>, t</a:t>
            </a:r>
            <a:r>
              <a:rPr lang="en-GB">
                <a:effectLst/>
                <a:latin typeface="Open Sans" panose="020B0606030504020204" pitchFamily="34" charset="0"/>
                <a:ea typeface="Open Sans" panose="020B0606030504020204" pitchFamily="34" charset="0"/>
                <a:cs typeface="Times New Roman" panose="02020603050405020304" pitchFamily="18" charset="0"/>
              </a:rPr>
              <a:t>he student sets ambitious, S.M.A.R.T.</a:t>
            </a:r>
            <a:r>
              <a:rPr lang="en-NL">
                <a:effectLst/>
                <a:latin typeface="Open Sans" panose="020B0606030504020204" pitchFamily="34" charset="0"/>
                <a:ea typeface="Open Sans" panose="020B0606030504020204" pitchFamily="34" charset="0"/>
                <a:cs typeface="Times New Roman" panose="02020603050405020304" pitchFamily="18" charset="0"/>
              </a:rPr>
              <a:t> </a:t>
            </a:r>
            <a:r>
              <a:rPr lang="en-GB">
                <a:effectLst/>
                <a:latin typeface="Open Sans" panose="020B0606030504020204" pitchFamily="34" charset="0"/>
                <a:ea typeface="Open Sans" panose="020B0606030504020204" pitchFamily="34" charset="0"/>
                <a:cs typeface="Times New Roman" panose="02020603050405020304" pitchFamily="18" charset="0"/>
              </a:rPr>
              <a:t>goals in alignment with the project brief, their chosen role(s), content of the assessment rubric and their personal long-term goals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Where am I starting?</a:t>
            </a:r>
            <a:endParaRPr/>
          </a:p>
        </p:txBody>
      </p:sp>
      <p:sp>
        <p:nvSpPr>
          <p:cNvPr id="123" name="Google Shape;123;p16"/>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1400"/>
              <a:t>1/</a:t>
            </a:r>
            <a:r>
              <a:rPr lang="en"/>
              <a:t>2</a:t>
            </a:r>
            <a:endParaRPr sz="1400"/>
          </a:p>
        </p:txBody>
      </p:sp>
      <p:sp>
        <p:nvSpPr>
          <p:cNvPr id="124" name="Google Shape;124;p16"/>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sp>
        <p:nvSpPr>
          <p:cNvPr id="125" name="Google Shape;125;p16"/>
          <p:cNvSpPr txBox="1">
            <a:spLocks noGrp="1"/>
          </p:cNvSpPr>
          <p:nvPr>
            <p:ph type="subTitle" idx="1"/>
          </p:nvPr>
        </p:nvSpPr>
        <p:spPr>
          <a:xfrm>
            <a:off x="182880" y="682380"/>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Feedback from previous assessment -							</a:t>
            </a:r>
            <a:endParaRPr b="0" i="1"/>
          </a:p>
        </p:txBody>
      </p:sp>
      <p:sp>
        <p:nvSpPr>
          <p:cNvPr id="126" name="Google Shape;126;p16"/>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165100" indent="0">
              <a:buNone/>
            </a:pPr>
            <a:r>
              <a:rPr lang="en-US" dirty="0"/>
              <a:t>I will maintain a daily learning log and work log to track my progress and ensure consistency. I will avoid postponing tasks and assignments until the last week, ensuring timely completion.</a:t>
            </a:r>
          </a:p>
          <a:p>
            <a:pPr marL="165100" indent="0">
              <a:buNone/>
            </a:pPr>
            <a:r>
              <a:rPr lang="en-US" dirty="0"/>
              <a:t>Every day, I will update my knowledge by reviewing course materials and focusing on the Data Lab content. I will strive to understand the Data Lab topics more thoroughly and work on improving my comprehension through regular practice.</a:t>
            </a:r>
          </a:p>
          <a:p>
            <a:pPr marL="165100" indent="0">
              <a:buNone/>
            </a:pPr>
            <a:r>
              <a:rPr lang="en-US" dirty="0"/>
              <a:t>To prepare for my exams, I will dedicate time daily to practicing math and Python, rather than leaving everything to the last moment. Consistent effort will help me build confidence and perform better during exams.</a:t>
            </a:r>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My interpretation / key takeaways</a:t>
            </a:r>
          </a:p>
          <a:p>
            <a:pPr marL="0" lvl="0" indent="0" algn="just" rtl="0">
              <a:spcBef>
                <a:spcPts val="800"/>
              </a:spcBef>
              <a:spcAft>
                <a:spcPts val="0"/>
              </a:spcAft>
              <a:buNone/>
            </a:pPr>
            <a:endParaRPr lang="en" sz="1400" b="1" dirty="0"/>
          </a:p>
          <a:p>
            <a:pPr marL="165100" indent="0">
              <a:buNone/>
            </a:pPr>
            <a:r>
              <a:rPr lang="en-US" dirty="0"/>
              <a:t>I will manage my time effectively to make steady progress in my </a:t>
            </a:r>
            <a:r>
              <a:rPr lang="en-US" dirty="0" err="1"/>
              <a:t>DataCamp</a:t>
            </a:r>
            <a:r>
              <a:rPr lang="en-US" dirty="0"/>
              <a:t> course. It’s important to stay on track with the course content and avoid falling behind. To ensure accountability, I will fill out my work log and learning log daily, documenting my progress and areas of improvement.</a:t>
            </a:r>
          </a:p>
          <a:p>
            <a:pPr marL="165100" indent="0">
              <a:buNone/>
            </a:pPr>
            <a:r>
              <a:rPr lang="en-US" dirty="0"/>
              <a:t>During each Data Lab session, I will aim to seek feedback to better understand the material and improve my performance. Feedback will help me identify my strengths and areas where I need to improve.</a:t>
            </a:r>
          </a:p>
          <a:p>
            <a:pPr marL="165100" indent="0">
              <a:buNone/>
            </a:pPr>
            <a:r>
              <a:rPr lang="en-US" dirty="0"/>
              <a:t>I will minimize distractions, especially by reducing the time I spend on my phone, and focus more on my studies. Maintaining discipline and concentration will help me achieve my learning goals more efficiently.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is my plan?</a:t>
            </a:r>
            <a:endParaRPr/>
          </a:p>
        </p:txBody>
      </p:sp>
      <p:sp>
        <p:nvSpPr>
          <p:cNvPr id="133" name="Google Shape;133;p17"/>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34" name="Google Shape;134;p17"/>
          <p:cNvSpPr txBox="1">
            <a:spLocks noGrp="1"/>
          </p:cNvSpPr>
          <p:nvPr>
            <p:ph type="subTitle" idx="1"/>
          </p:nvPr>
        </p:nvSpPr>
        <p:spPr>
          <a:xfrm>
            <a:off x="182873" y="667500"/>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What I learned last block -													     Previous block’s grade</a:t>
            </a:r>
            <a:endParaRPr dirty="0"/>
          </a:p>
        </p:txBody>
      </p:sp>
      <p:sp>
        <p:nvSpPr>
          <p:cNvPr id="135" name="Google Shape;135;p17"/>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165100" indent="0">
              <a:buNone/>
            </a:pPr>
            <a:r>
              <a:rPr lang="en-US" dirty="0"/>
              <a:t>I learned how to work with Power BI and really enjoyed it. I know it will be very useful in the future as a data analyst. One of the most interesting features for me in Power BI is how much easier it is to clean data compared to Excel. Additionally, you can easily create bar charts and add new columns.</a:t>
            </a:r>
          </a:p>
          <a:p>
            <a:pPr marL="165100" indent="0">
              <a:buNone/>
            </a:pPr>
            <a:r>
              <a:rPr lang="en-US" dirty="0"/>
              <a:t>I’ve also been practicing math, reviewing Python, and working on improving my presentation skills. In Python, we’ve covered topics such as files, strings, dictionaries, and lists. I believe the skills from Block B will be extremely useful, especially since we will be learning how to import data into VS Code and replicate the tasks we did in Power BI, but with coding.</a:t>
            </a:r>
          </a:p>
          <a:p>
            <a:pPr marL="165100" indent="0">
              <a:buNone/>
            </a:pPr>
            <a:r>
              <a:rPr lang="en-US" dirty="0"/>
              <a:t>In math, we learned various topics to build a stronger foundation, which will help us better understand what we will cover in this block and the upcoming ones.</a:t>
            </a:r>
          </a:p>
          <a:p>
            <a:pPr marL="0" lvl="0" indent="0" algn="just" rtl="0">
              <a:spcBef>
                <a:spcPts val="0"/>
              </a:spcBef>
              <a:spcAft>
                <a:spcPts val="0"/>
              </a:spcAft>
              <a:buNone/>
            </a:pP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My current level of progress</a:t>
            </a:r>
            <a:endParaRPr sz="1400" b="1" dirty="0"/>
          </a:p>
          <a:p>
            <a:pPr marL="165100" indent="0">
              <a:buNone/>
            </a:pPr>
            <a:r>
              <a:rPr lang="en-US" dirty="0"/>
              <a:t>During these two weeks off, I also practiced Python, and now I feel ready to retake the Python exam. I’m more comfortable with the material and confident in my abilities. Additionally, I want to retake the Power BI exam because my mentor mentioned that I couldn’t clearly explain my work in my learning log.</a:t>
            </a:r>
          </a:p>
          <a:p>
            <a:pPr marL="165100" indent="0">
              <a:buNone/>
            </a:pPr>
            <a:r>
              <a:rPr lang="en-US" dirty="0"/>
              <a:t>Overall, I believe I did well in the previous block. Initially, I was quite confused about how to proceed, but as I progressed, things became much clearer.</a:t>
            </a:r>
          </a:p>
        </p:txBody>
      </p:sp>
      <p:sp>
        <p:nvSpPr>
          <p:cNvPr id="136" name="Google Shape;136;p17"/>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sp>
        <p:nvSpPr>
          <p:cNvPr id="137" name="Google Shape;137;p17"/>
          <p:cNvSpPr txBox="1"/>
          <p:nvPr/>
        </p:nvSpPr>
        <p:spPr>
          <a:xfrm>
            <a:off x="6217920" y="3593592"/>
            <a:ext cx="2743200" cy="13710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lnSpc>
                <a:spcPct val="104000"/>
              </a:lnSpc>
              <a:spcBef>
                <a:spcPts val="0"/>
              </a:spcBef>
              <a:spcAft>
                <a:spcPts val="0"/>
              </a:spcAft>
              <a:buNone/>
            </a:pPr>
            <a:r>
              <a:rPr lang="en" b="1" dirty="0">
                <a:solidFill>
                  <a:srgbClr val="434343"/>
                </a:solidFill>
                <a:latin typeface="Roboto"/>
                <a:ea typeface="Roboto"/>
                <a:cs typeface="Roboto"/>
                <a:sym typeface="Roboto"/>
              </a:rPr>
              <a:t>Links</a:t>
            </a:r>
            <a:endParaRPr dirty="0">
              <a:solidFill>
                <a:srgbClr val="434343"/>
              </a:solidFill>
              <a:latin typeface="Roboto"/>
              <a:ea typeface="Roboto"/>
              <a:cs typeface="Roboto"/>
              <a:sym typeface="Roboto"/>
            </a:endParaRPr>
          </a:p>
          <a:p>
            <a:pPr marL="0" lvl="0" indent="0" algn="l" rtl="0">
              <a:lnSpc>
                <a:spcPct val="104000"/>
              </a:lnSpc>
              <a:spcBef>
                <a:spcPts val="800"/>
              </a:spcBef>
              <a:spcAft>
                <a:spcPts val="800"/>
              </a:spcAft>
              <a:buNone/>
            </a:pPr>
            <a:r>
              <a:rPr lang="en-US" sz="1000" dirty="0">
                <a:solidFill>
                  <a:srgbClr val="434343"/>
                </a:solidFill>
                <a:latin typeface="Roboto"/>
                <a:ea typeface="Roboto"/>
                <a:cs typeface="Roboto"/>
                <a:sym typeface="Roboto"/>
                <a:hlinkClick r:id="rId3"/>
              </a:rPr>
              <a:t>First Block Grade</a:t>
            </a:r>
            <a:endParaRPr sz="1000" dirty="0">
              <a:solidFill>
                <a:srgbClr val="434343"/>
              </a:solidFill>
              <a:latin typeface="Roboto"/>
              <a:ea typeface="Roboto"/>
              <a:cs typeface="Roboto"/>
              <a:sym typeface="Roboto"/>
            </a:endParaRPr>
          </a:p>
        </p:txBody>
      </p:sp>
      <p:sp>
        <p:nvSpPr>
          <p:cNvPr id="138" name="Google Shape;138;p17"/>
          <p:cNvSpPr txBox="1"/>
          <p:nvPr/>
        </p:nvSpPr>
        <p:spPr>
          <a:xfrm>
            <a:off x="8046720" y="749724"/>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b="1" dirty="0">
                <a:solidFill>
                  <a:srgbClr val="434343"/>
                </a:solidFill>
                <a:latin typeface="Roboto"/>
                <a:ea typeface="Roboto"/>
                <a:cs typeface="Roboto"/>
                <a:sym typeface="Roboto"/>
              </a:rPr>
              <a:t>62,3</a:t>
            </a:r>
            <a:endParaRPr sz="2800" b="1" dirty="0">
              <a:solidFill>
                <a:srgbClr val="434343"/>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txBox="1">
            <a:spLocks noGrp="1"/>
          </p:cNvSpPr>
          <p:nvPr>
            <p:ph type="body" idx="3"/>
          </p:nvPr>
        </p:nvSpPr>
        <p:spPr>
          <a:xfrm>
            <a:off x="3108950" y="2646556"/>
            <a:ext cx="5852100" cy="230945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800"/>
              </a:spcBef>
              <a:spcAft>
                <a:spcPts val="0"/>
              </a:spcAft>
              <a:buNone/>
            </a:pPr>
            <a:endParaRPr sz="1400" b="1" dirty="0"/>
          </a:p>
        </p:txBody>
      </p:sp>
      <p:sp>
        <p:nvSpPr>
          <p:cNvPr id="144" name="Google Shape;144;p1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are my goals?</a:t>
            </a:r>
            <a:endParaRPr/>
          </a:p>
        </p:txBody>
      </p:sp>
      <p:sp>
        <p:nvSpPr>
          <p:cNvPr id="145" name="Google Shape;145;p18"/>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146" name="Google Shape;146;p18"/>
          <p:cNvSpPr txBox="1">
            <a:spLocks noGrp="1"/>
          </p:cNvSpPr>
          <p:nvPr>
            <p:ph type="subTitle" idx="1"/>
          </p:nvPr>
        </p:nvSpPr>
        <p:spPr>
          <a:xfrm>
            <a:off x="3108960" y="667512"/>
            <a:ext cx="5852100" cy="447598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 am taking responsibility for</a:t>
            </a:r>
            <a:r>
              <a:rPr lang="en" b="0" i="1" dirty="0"/>
              <a:t> (if multiple add in percentages)</a:t>
            </a:r>
          </a:p>
          <a:p>
            <a:pPr marL="0" lvl="0" indent="0" algn="l" rtl="0">
              <a:spcBef>
                <a:spcPts val="0"/>
              </a:spcBef>
              <a:spcAft>
                <a:spcPts val="0"/>
              </a:spcAft>
              <a:buNone/>
            </a:pPr>
            <a:r>
              <a:rPr lang="en-US" sz="1400" b="1" dirty="0"/>
              <a:t>Personal and professional development goals</a:t>
            </a:r>
            <a:br>
              <a:rPr lang="en-US" sz="1400" b="1" dirty="0"/>
            </a:br>
            <a:r>
              <a:rPr lang="en-US" sz="900" dirty="0"/>
              <a:t>For Machine Learning, I plan to review individual Persian resources before the </a:t>
            </a:r>
            <a:r>
              <a:rPr lang="en-US" sz="900" dirty="0" err="1"/>
              <a:t>DataCamp</a:t>
            </a:r>
            <a:r>
              <a:rPr lang="en-US" sz="900" dirty="0"/>
              <a:t> course begins, which will help me feel more confident during Data Lab sessions and give me extra time for practice. My goal is to complete at least one general Machine Learning course by the end of the first week. Additionally, I plan to complete a Coursera course on Machine Learning to gain a deeper understanding, enhance my resume, and earn a separate certification in this field outside of university. I will dedicate at least one hour daily to studying Machine Learning, aiming to become more comfortable and proficient with the subject while balancing practical application and theoretical learning.</a:t>
            </a:r>
          </a:p>
          <a:p>
            <a:pPr marL="0" lvl="0" indent="0" algn="l" rtl="0">
              <a:spcBef>
                <a:spcPts val="0"/>
              </a:spcBef>
              <a:spcAft>
                <a:spcPts val="0"/>
              </a:spcAft>
              <a:buNone/>
            </a:pPr>
            <a:endParaRPr lang="en-US" sz="900" dirty="0"/>
          </a:p>
          <a:p>
            <a:pPr marL="0" lvl="0" indent="0" algn="l" rtl="0">
              <a:spcBef>
                <a:spcPts val="0"/>
              </a:spcBef>
              <a:spcAft>
                <a:spcPts val="0"/>
              </a:spcAft>
              <a:buNone/>
            </a:pPr>
            <a:endParaRPr lang="en-US" sz="900" dirty="0"/>
          </a:p>
          <a:p>
            <a:r>
              <a:rPr lang="en-US" sz="900" dirty="0"/>
              <a:t>S = </a:t>
            </a:r>
            <a:r>
              <a:rPr lang="en-US" sz="800" dirty="0"/>
              <a:t>to improve my ability to code independently and to prepare my data for machine learning. I want to fully understand the process without relying on ChatGPT or any external tools.</a:t>
            </a:r>
          </a:p>
          <a:p>
            <a:r>
              <a:rPr lang="en-US" sz="900" dirty="0"/>
              <a:t>M = </a:t>
            </a:r>
            <a:r>
              <a:rPr lang="en-US" sz="800" dirty="0"/>
              <a:t>I’ve started a course on Coursera to deepen my understanding and to push myself to code and study consistently every week. It’s a measurable goal since the course spans five weeks, and I can track and showcase my progress each week.</a:t>
            </a:r>
          </a:p>
          <a:p>
            <a:r>
              <a:rPr lang="en-US" sz="900" dirty="0"/>
              <a:t>A = </a:t>
            </a:r>
            <a:r>
              <a:rPr lang="en-US" sz="800" dirty="0"/>
              <a:t>As I mentioned, this goal is achievable because it’s a course that many others have successfully completed. I believe I’m capable of finishing it by the end of the block and earning an additional certification alongside my university studies.</a:t>
            </a:r>
          </a:p>
          <a:p>
            <a:r>
              <a:rPr lang="en-US" sz="900" dirty="0"/>
              <a:t>R = </a:t>
            </a:r>
            <a:r>
              <a:rPr lang="en-US" sz="800" dirty="0"/>
              <a:t>This course is completely relevant to our current block. The main task for this block is learning how to prepare data for machine learning and train a model, which aligns perfectly with what the course teaches.</a:t>
            </a:r>
          </a:p>
          <a:p>
            <a:r>
              <a:rPr lang="en-US" sz="900" dirty="0"/>
              <a:t>T = </a:t>
            </a:r>
            <a:r>
              <a:rPr lang="en-US" sz="800" dirty="0"/>
              <a:t>The course has a well-defined time frame, as it includes weekly activities that I need to complete in sequence to stay on track.</a:t>
            </a:r>
          </a:p>
        </p:txBody>
      </p:sp>
      <p:sp>
        <p:nvSpPr>
          <p:cNvPr id="147" name="Google Shape;147;p18"/>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graphicFrame>
        <p:nvGraphicFramePr>
          <p:cNvPr id="148" name="Google Shape;148;p18"/>
          <p:cNvGraphicFramePr/>
          <p:nvPr>
            <p:extLst>
              <p:ext uri="{D42A27DB-BD31-4B8C-83A1-F6EECF244321}">
                <p14:modId xmlns:p14="http://schemas.microsoft.com/office/powerpoint/2010/main" val="2727034024"/>
              </p:ext>
            </p:extLst>
          </p:nvPr>
        </p:nvGraphicFramePr>
        <p:xfrm>
          <a:off x="182880" y="658368"/>
          <a:ext cx="2740000" cy="4297700"/>
        </p:xfrm>
        <a:graphic>
          <a:graphicData uri="http://schemas.openxmlformats.org/drawingml/2006/table">
            <a:tbl>
              <a:tblPr>
                <a:noFill/>
                <a:tableStyleId>{764D4AE7-FFBC-431D-9275-528F30A785D3}</a:tableStyleId>
              </a:tblPr>
              <a:tblGrid>
                <a:gridCol w="587150">
                  <a:extLst>
                    <a:ext uri="{9D8B030D-6E8A-4147-A177-3AD203B41FA5}">
                      <a16:colId xmlns:a16="http://schemas.microsoft.com/office/drawing/2014/main" val="20000"/>
                    </a:ext>
                  </a:extLst>
                </a:gridCol>
                <a:gridCol w="2152850">
                  <a:extLst>
                    <a:ext uri="{9D8B030D-6E8A-4147-A177-3AD203B41FA5}">
                      <a16:colId xmlns:a16="http://schemas.microsoft.com/office/drawing/2014/main" val="20001"/>
                    </a:ext>
                  </a:extLst>
                </a:gridCol>
              </a:tblGrid>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S</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4125"/>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Specific:</a:t>
                      </a:r>
                      <a:r>
                        <a:rPr lang="en" sz="600" dirty="0">
                          <a:latin typeface="Roboto"/>
                          <a:ea typeface="Roboto"/>
                          <a:cs typeface="Roboto"/>
                          <a:sym typeface="Roboto"/>
                        </a:rPr>
                        <a:t> Be specific when determining your goal. The more specific the better. Putting a real figure to your goal helps make it measurable. When specific and measurable your subconscious mind cannot override your goals, they become achievable.</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M</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06666"/>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Measurable:</a:t>
                      </a:r>
                      <a:r>
                        <a:rPr lang="en" sz="600" dirty="0">
                          <a:latin typeface="Roboto"/>
                          <a:ea typeface="Roboto"/>
                          <a:cs typeface="Roboto"/>
                          <a:sym typeface="Roboto"/>
                        </a:rPr>
                        <a:t> This where you define a measurable and meaningful goal. It’s important to be able to track your progress. Without meaningful and measurable goals which you can track it’s easy to lose heart and focus.</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1"/>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A</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Achievable:</a:t>
                      </a:r>
                      <a:r>
                        <a:rPr lang="en" sz="600" dirty="0">
                          <a:latin typeface="Roboto"/>
                          <a:ea typeface="Roboto"/>
                          <a:cs typeface="Roboto"/>
                          <a:sym typeface="Roboto"/>
                        </a:rPr>
                        <a:t> Choosing realistic and short-term goals helps them be more achievable. Long-term goals can be larger and take more time to achieve. Planning smaller short-term goals as steps to larger long-term goals assists in achieving them.</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2"/>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D966"/>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Relevant:</a:t>
                      </a:r>
                      <a:r>
                        <a:rPr lang="en" sz="600" dirty="0">
                          <a:latin typeface="Roboto"/>
                          <a:ea typeface="Roboto"/>
                          <a:cs typeface="Roboto"/>
                          <a:sym typeface="Roboto"/>
                        </a:rPr>
                        <a:t> Each goal you set must be in line with your core values and in harmony with what YOU want out of life. Contradictions in values and goals leads to frustration and loss of motivation. Designing your goals with the expectation of your personal success.</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3"/>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T</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93C47D"/>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Time-Bound:</a:t>
                      </a:r>
                      <a:r>
                        <a:rPr lang="en" sz="600" dirty="0">
                          <a:latin typeface="Roboto"/>
                          <a:ea typeface="Roboto"/>
                          <a:cs typeface="Roboto"/>
                          <a:sym typeface="Roboto"/>
                        </a:rPr>
                        <a:t> Setting a time limit on achieving a goal makes it measurable. When a goal is measurable you can SEE your progress and support your motivation and commitment. Giving your goal a time limit assists you in holding yourself accountable to its completion.</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E</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76A5AF"/>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Evaluate:</a:t>
                      </a:r>
                      <a:r>
                        <a:rPr lang="en" sz="600" dirty="0">
                          <a:latin typeface="Roboto"/>
                          <a:ea typeface="Roboto"/>
                          <a:cs typeface="Roboto"/>
                          <a:sym typeface="Roboto"/>
                        </a:rPr>
                        <a:t> By evaluating your goals on a regular basis you will be much more likely to achieve them. It is easy to forget about long-term goals if they are not revisited from time to time. This also helps you assess if the goal you are working on remains in line with your core values and helps you measure your progress.</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5"/>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6D9EEB"/>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Readjust:</a:t>
                      </a:r>
                      <a:r>
                        <a:rPr lang="en" sz="600" dirty="0">
                          <a:latin typeface="Roboto"/>
                          <a:ea typeface="Roboto"/>
                          <a:cs typeface="Roboto"/>
                          <a:sym typeface="Roboto"/>
                        </a:rPr>
                        <a:t> Readjustments occur when goals are determined, through re-evaluation, to be misaligned with your values or long-term goals. This is especially helpful when you have been unable to achieve a goal in the time limits you set. This gives you the opportunity to modify your approach and increase your chances of success.</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67DB9DEB-AE43-B21F-7163-690B88441A76}"/>
              </a:ext>
            </a:extLst>
          </p:cNvPr>
          <p:cNvSpPr>
            <a:spLocks noChangeArrowheads="1"/>
          </p:cNvSpPr>
          <p:nvPr/>
        </p:nvSpPr>
        <p:spPr bwMode="auto">
          <a:xfrm>
            <a:off x="0" y="503"/>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804CAAD-3264-2991-300D-0A2A5D52A814}"/>
              </a:ext>
            </a:extLst>
          </p:cNvPr>
          <p:cNvSpPr>
            <a:spLocks noGrp="1"/>
          </p:cNvSpPr>
          <p:nvPr>
            <p:ph type="body" idx="3"/>
          </p:nvPr>
        </p:nvSpPr>
        <p:spPr>
          <a:xfrm>
            <a:off x="182879" y="1069848"/>
            <a:ext cx="8284613" cy="3895200"/>
          </a:xfrm>
        </p:spPr>
        <p:txBody>
          <a:bodyPr/>
          <a:lstStyle/>
          <a:p>
            <a:pPr marL="165100" indent="0">
              <a:buNone/>
            </a:pPr>
            <a:endParaRPr lang="en-US" sz="1000" dirty="0"/>
          </a:p>
          <a:p>
            <a:r>
              <a:rPr lang="en-US" dirty="0"/>
              <a:t>S = My personal and professional development goals include improving my physical and mental well-being while maintaining focus on my studies. I want to create a balanced routine that enhances both my fitness and my academic performance.</a:t>
            </a:r>
          </a:p>
          <a:p>
            <a:r>
              <a:rPr lang="en-US" dirty="0"/>
              <a:t>M = I plan to take going to the gym more seriously and make it a regular part of my weekly routine. Alongside this, I will stick to a healthy diet that supports my physical and mental performance. </a:t>
            </a:r>
          </a:p>
          <a:p>
            <a:r>
              <a:rPr lang="en-US" dirty="0"/>
              <a:t>A = This goal is achievable because they rely on habits and actions I can control, like scheduling gym sessions, preparing healthy meals, and creating a disciplined study environment. I am confident I can implement these changes and see noticeable improvements in my physical and mental well-being.</a:t>
            </a:r>
          </a:p>
          <a:p>
            <a:r>
              <a:rPr lang="en-US" dirty="0"/>
              <a:t>R = This goal is highly relevant to my overall success because balancing fitness, nutrition, and focus will help me maintain a healthier, more productive lifestyle. Staying physically active and mentally sharp is essential to achieving my academic goals.</a:t>
            </a:r>
          </a:p>
          <a:p>
            <a:r>
              <a:rPr lang="en-US" dirty="0"/>
              <a:t>T = My approach has a clear and well-defined time frame. I will incorporate these habits into my daily routine, track my gym attendance, monitor my diet, and ensure I spend my study sessions without distractions. By consistently following this plan, I will stay on track to achieve my goals.</a:t>
            </a:r>
          </a:p>
          <a:p>
            <a:pPr marL="165100" indent="0">
              <a:buNone/>
            </a:pPr>
            <a:endParaRPr lang="en-US" dirty="0"/>
          </a:p>
        </p:txBody>
      </p:sp>
    </p:spTree>
    <p:extLst>
      <p:ext uri="{BB962C8B-B14F-4D97-AF65-F5344CB8AC3E}">
        <p14:creationId xmlns:p14="http://schemas.microsoft.com/office/powerpoint/2010/main" val="998577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9A7E7-576D-AA6B-0B82-D6E2CFA5BDA7}"/>
              </a:ext>
            </a:extLst>
          </p:cNvPr>
          <p:cNvSpPr>
            <a:spLocks noGrp="1"/>
          </p:cNvSpPr>
          <p:nvPr>
            <p:ph type="ctrTitle"/>
          </p:nvPr>
        </p:nvSpPr>
        <p:spPr>
          <a:xfrm>
            <a:off x="3657650" y="377664"/>
            <a:ext cx="4937700" cy="3264300"/>
          </a:xfrm>
        </p:spPr>
        <p:txBody>
          <a:bodyPr/>
          <a:lstStyle/>
          <a:p>
            <a:r>
              <a:rPr lang="en-US" sz="1400" dirty="0">
                <a:highlight>
                  <a:srgbClr val="C0C0C0"/>
                </a:highlight>
                <a:hlinkClick r:id="rId2"/>
              </a:rPr>
              <a:t>Week 2</a:t>
            </a:r>
            <a:br>
              <a:rPr lang="en-US" sz="1400" dirty="0">
                <a:highlight>
                  <a:srgbClr val="C0C0C0"/>
                </a:highlight>
              </a:rPr>
            </a:br>
            <a:r>
              <a:rPr lang="en-US" sz="1000" dirty="0"/>
              <a:t>This session It was about the overview of machine learning </a:t>
            </a:r>
            <a:br>
              <a:rPr lang="en-US" sz="1000" dirty="0"/>
            </a:br>
            <a:r>
              <a:rPr lang="en-US" sz="1000" dirty="0"/>
              <a:t>supervised and unsupervised </a:t>
            </a:r>
            <a:br>
              <a:rPr lang="en-US" sz="1000" dirty="0"/>
            </a:br>
            <a:br>
              <a:rPr lang="en-US" sz="1000" dirty="0"/>
            </a:br>
            <a:r>
              <a:rPr lang="en-US" sz="1400" dirty="0">
                <a:highlight>
                  <a:srgbClr val="C0C0C0"/>
                </a:highlight>
                <a:hlinkClick r:id="rId3"/>
              </a:rPr>
              <a:t>Week 3</a:t>
            </a:r>
            <a:br>
              <a:rPr lang="en-US" sz="1400" dirty="0">
                <a:highlight>
                  <a:srgbClr val="C0C0C0"/>
                </a:highlight>
              </a:rPr>
            </a:br>
            <a:r>
              <a:rPr lang="en-US" sz="1000" dirty="0"/>
              <a:t>Gradian descent for linear regression</a:t>
            </a:r>
            <a:br>
              <a:rPr lang="en-US" sz="1000" dirty="0"/>
            </a:br>
            <a:br>
              <a:rPr lang="en-US" sz="1000" dirty="0"/>
            </a:br>
            <a:r>
              <a:rPr lang="en-US" sz="1400" dirty="0">
                <a:solidFill>
                  <a:schemeClr val="bg1"/>
                </a:solidFill>
                <a:highlight>
                  <a:srgbClr val="C0C0C0"/>
                </a:highlight>
                <a:hlinkClick r:id="rId4"/>
              </a:rPr>
              <a:t>Week</a:t>
            </a:r>
            <a:r>
              <a:rPr lang="en-US" sz="1400" dirty="0">
                <a:highlight>
                  <a:srgbClr val="C0C0C0"/>
                </a:highlight>
                <a:hlinkClick r:id="rId4"/>
              </a:rPr>
              <a:t> 4 </a:t>
            </a:r>
            <a:br>
              <a:rPr lang="en-US" sz="1400" dirty="0">
                <a:highlight>
                  <a:srgbClr val="C0C0C0"/>
                </a:highlight>
              </a:rPr>
            </a:br>
            <a:r>
              <a:rPr lang="en-US" sz="1000" dirty="0"/>
              <a:t>Gradian descent for multiple linear regression  and Vectorization</a:t>
            </a:r>
            <a:br>
              <a:rPr lang="en-US" sz="1000" dirty="0"/>
            </a:br>
            <a:br>
              <a:rPr lang="en-US" sz="1000" dirty="0"/>
            </a:br>
            <a:r>
              <a:rPr lang="en-US" sz="1400" dirty="0">
                <a:highlight>
                  <a:srgbClr val="C0C0C0"/>
                </a:highlight>
                <a:hlinkClick r:id="rId5"/>
              </a:rPr>
              <a:t>week 5  </a:t>
            </a:r>
            <a:br>
              <a:rPr lang="en-US" sz="1400" dirty="0">
                <a:highlight>
                  <a:srgbClr val="C0C0C0"/>
                </a:highlight>
              </a:rPr>
            </a:br>
            <a:r>
              <a:rPr lang="en-US" sz="1000" dirty="0"/>
              <a:t>Feature scaling  </a:t>
            </a:r>
            <a:br>
              <a:rPr lang="en-US" sz="1000" dirty="0"/>
            </a:br>
            <a:br>
              <a:rPr lang="en-US" sz="1000" dirty="0"/>
            </a:br>
            <a:r>
              <a:rPr lang="en-US" sz="1400" dirty="0">
                <a:highlight>
                  <a:srgbClr val="C0C0C0"/>
                </a:highlight>
                <a:hlinkClick r:id="rId6"/>
              </a:rPr>
              <a:t>Week 6</a:t>
            </a:r>
            <a:br>
              <a:rPr lang="en-US" sz="1400" dirty="0">
                <a:highlight>
                  <a:srgbClr val="C0C0C0"/>
                </a:highlight>
              </a:rPr>
            </a:br>
            <a:r>
              <a:rPr lang="en-US" sz="1000" dirty="0"/>
              <a:t>Cost function for logistic regression </a:t>
            </a:r>
            <a:br>
              <a:rPr lang="en-US" dirty="0"/>
            </a:br>
            <a:br>
              <a:rPr lang="en-US" dirty="0"/>
            </a:br>
            <a:r>
              <a:rPr lang="en-US" sz="1400" dirty="0">
                <a:highlight>
                  <a:srgbClr val="C0C0C0"/>
                </a:highlight>
                <a:hlinkClick r:id="rId7"/>
              </a:rPr>
              <a:t>Week 7</a:t>
            </a:r>
            <a:br>
              <a:rPr lang="en-US" sz="1400" dirty="0">
                <a:highlight>
                  <a:srgbClr val="C0C0C0"/>
                </a:highlight>
              </a:rPr>
            </a:br>
            <a:r>
              <a:rPr lang="en-US" sz="1200" dirty="0"/>
              <a:t>Gradian descent for logistic regression </a:t>
            </a:r>
            <a:br>
              <a:rPr lang="en-US" sz="1200" dirty="0"/>
            </a:br>
            <a:r>
              <a:rPr lang="en-US" sz="1200" dirty="0"/>
              <a:t>Problem overfitting </a:t>
            </a:r>
            <a:endParaRPr lang="en-US" dirty="0"/>
          </a:p>
        </p:txBody>
      </p:sp>
      <p:sp>
        <p:nvSpPr>
          <p:cNvPr id="3" name="Subtitle 2">
            <a:extLst>
              <a:ext uri="{FF2B5EF4-FFF2-40B4-BE49-F238E27FC236}">
                <a16:creationId xmlns:a16="http://schemas.microsoft.com/office/drawing/2014/main" id="{68970EFA-6DC9-101C-F8BE-2FBA4314557C}"/>
              </a:ext>
            </a:extLst>
          </p:cNvPr>
          <p:cNvSpPr>
            <a:spLocks noGrp="1"/>
          </p:cNvSpPr>
          <p:nvPr>
            <p:ph type="subTitle" idx="1"/>
          </p:nvPr>
        </p:nvSpPr>
        <p:spPr/>
        <p:txBody>
          <a:bodyPr/>
          <a:lstStyle/>
          <a:p>
            <a:r>
              <a:rPr lang="en-US" dirty="0"/>
              <a:t>SMART </a:t>
            </a:r>
          </a:p>
          <a:p>
            <a:r>
              <a:rPr lang="en-US" dirty="0"/>
              <a:t>GOALS</a:t>
            </a:r>
          </a:p>
          <a:p>
            <a:r>
              <a:rPr lang="en-US" dirty="0"/>
              <a:t>PROCCESS</a:t>
            </a:r>
          </a:p>
        </p:txBody>
      </p:sp>
    </p:spTree>
    <p:extLst>
      <p:ext uri="{BB962C8B-B14F-4D97-AF65-F5344CB8AC3E}">
        <p14:creationId xmlns:p14="http://schemas.microsoft.com/office/powerpoint/2010/main" val="3427345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
              <a:t>B</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 Log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B</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53072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a:t>Week 1 - Log</a:t>
            </a:r>
            <a:endParaRPr lang="en-US"/>
          </a:p>
        </p:txBody>
      </p:sp>
      <p:sp>
        <p:nvSpPr>
          <p:cNvPr id="161" name="Google Shape;161;p20"/>
          <p:cNvSpPr txBox="1">
            <a:spLocks noGrp="1"/>
          </p:cNvSpPr>
          <p:nvPr>
            <p:ph type="subTitle" idx="4"/>
          </p:nvPr>
        </p:nvSpPr>
        <p:spPr>
          <a:xfrm>
            <a:off x="4660033" y="620296"/>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US" dirty="0"/>
              <a:t> </a:t>
            </a:r>
            <a:endParaRPr dirty="0"/>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What did you do?</a:t>
            </a:r>
            <a:endParaRPr dirty="0"/>
          </a:p>
        </p:txBody>
      </p:sp>
      <p:sp>
        <p:nvSpPr>
          <p:cNvPr id="163" name="Google Shape;163;p20"/>
          <p:cNvSpPr txBox="1">
            <a:spLocks noGrp="1"/>
          </p:cNvSpPr>
          <p:nvPr>
            <p:ph type="body" idx="2"/>
          </p:nvPr>
        </p:nvSpPr>
        <p:spPr>
          <a:xfrm>
            <a:off x="186166" y="1152852"/>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182880" lvl="0" indent="-154940" algn="l" rtl="0">
              <a:spcBef>
                <a:spcPts val="0"/>
              </a:spcBef>
              <a:spcAft>
                <a:spcPts val="0"/>
              </a:spcAft>
              <a:buSzPts val="1000"/>
              <a:buChar char="●"/>
            </a:pPr>
            <a:endParaRPr lang="en" dirty="0"/>
          </a:p>
          <a:p>
            <a:pPr marL="165100" indent="0">
              <a:buNone/>
            </a:pPr>
            <a:r>
              <a:rPr lang="en-US" dirty="0"/>
              <a:t>This week, I aim to focus on consistent progress in my studies and preparation. My plan includes watching courses on Machine Learning to deepen my understanding and practicing Python daily to prepare for my retake exam. Additionally, I will dedicate time to working on SQL to improve my skills and feel more confident in the subject.</a:t>
            </a:r>
          </a:p>
          <a:p>
            <a:pPr marL="165100" indent="0">
              <a:buNone/>
            </a:pPr>
            <a:r>
              <a:rPr lang="en-US" dirty="0"/>
              <a:t>By maintaining a disciplined schedule and balancing these tasks, I hope to make significant progress in all areas and move closer to achieving my academic and professional goals.</a:t>
            </a:r>
          </a:p>
          <a:p>
            <a:pPr marL="165100" indent="0">
              <a:buNone/>
            </a:pPr>
            <a:endParaRPr lang="en-US" dirty="0"/>
          </a:p>
          <a:p>
            <a:pPr marL="165100" indent="0">
              <a:buNone/>
            </a:pPr>
            <a:endParaRPr lang="en-US" dirty="0"/>
          </a:p>
        </p:txBody>
      </p:sp>
      <p:sp>
        <p:nvSpPr>
          <p:cNvPr id="164" name="Google Shape;164;p20"/>
          <p:cNvSpPr txBox="1">
            <a:spLocks noGrp="1"/>
          </p:cNvSpPr>
          <p:nvPr>
            <p:ph type="body" idx="3"/>
          </p:nvPr>
        </p:nvSpPr>
        <p:spPr>
          <a:xfrm>
            <a:off x="4660033" y="667572"/>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  </a:t>
            </a:r>
            <a:r>
              <a:rPr lang="en-US" dirty="0"/>
              <a:t>What have you actually been able to do? </a:t>
            </a:r>
          </a:p>
          <a:p>
            <a:pPr marL="182880" lvl="0" indent="-154940" algn="l" rtl="0">
              <a:spcBef>
                <a:spcPts val="0"/>
              </a:spcBef>
              <a:spcAft>
                <a:spcPts val="0"/>
              </a:spcAft>
              <a:buSzPts val="1000"/>
              <a:buChar char="●"/>
            </a:pPr>
            <a:endParaRPr lang="en-US" dirty="0"/>
          </a:p>
          <a:p>
            <a:pPr marL="165100" indent="0">
              <a:buNone/>
            </a:pPr>
            <a:r>
              <a:rPr lang="en-US" sz="800" dirty="0"/>
              <a:t>This week, I made progress in working with Python, but I recognize the need for more practice to build greater confidence, especially in key areas like importing data into SQL and working efficiently with VS Code. These are essential skills I need to master for my coursework and future applications. To further support my learning, I dedicated time to watching YouTube videos on Machine Learning, which helped me gain a clearer understanding of the concepts and their practical applications.</a:t>
            </a:r>
          </a:p>
          <a:p>
            <a:pPr marL="165100" indent="0">
              <a:buNone/>
            </a:pPr>
            <a:r>
              <a:rPr lang="en-US" sz="800" dirty="0"/>
              <a:t>Additionally, I focused on improving my knowledge of PostgreSQL by watching videos and exploring resources that explained its functions and usage in more detail. This has started to improve my comfort level with SQL databases and how they integrate with Python, which is crucial for data science and development projects.</a:t>
            </a:r>
          </a:p>
          <a:p>
            <a:pPr marL="165100" indent="0">
              <a:buNone/>
            </a:pPr>
            <a:r>
              <a:rPr lang="en-US" sz="800" dirty="0"/>
              <a:t>Moving forward, I plan to continue regular Python practice, focusing specifically on bridging these tools and concepts together. I will also allocate time to study Machine Learning and SQL more deeply, using both hands-on practice and structured courses to ensure I can confidently apply my skills in real-world scenarios. This combination of consistent effort and diverse learning methods will help me achieve my goals.</a:t>
            </a:r>
          </a:p>
          <a:p>
            <a:pPr marL="165100" indent="0">
              <a:buNone/>
            </a:pPr>
            <a:endParaRPr lang="en-US" sz="800" dirty="0"/>
          </a:p>
          <a:p>
            <a:pPr marL="165100" indent="0">
              <a:buNone/>
            </a:pPr>
            <a:endParaRPr lang="en-US" sz="800" dirty="0"/>
          </a:p>
          <a:p>
            <a:pPr marL="182880" lvl="0" indent="-154940" algn="l" rtl="0">
              <a:spcBef>
                <a:spcPts val="0"/>
              </a:spcBef>
              <a:spcAft>
                <a:spcPts val="0"/>
              </a:spcAft>
              <a:buSzPts val="1000"/>
              <a:buChar char="●"/>
            </a:pPr>
            <a:r>
              <a:rPr lang="en-US" sz="800" dirty="0"/>
              <a:t>Showcase the evidence of your progress (production artifacts, short descriptions-links-pictures animated gifs, etc.)</a:t>
            </a:r>
          </a:p>
          <a:p>
            <a:pPr marL="182880" lvl="0" indent="-154940" algn="l" rtl="0">
              <a:spcBef>
                <a:spcPts val="0"/>
              </a:spcBef>
              <a:spcAft>
                <a:spcPts val="0"/>
              </a:spcAft>
              <a:buSzPts val="1000"/>
              <a:buChar char="●"/>
            </a:pPr>
            <a:endParaRPr lang="en-US" sz="800" dirty="0"/>
          </a:p>
          <a:p>
            <a:pPr marL="27940" lvl="0" indent="0" algn="l" rtl="0">
              <a:spcBef>
                <a:spcPts val="0"/>
              </a:spcBef>
              <a:spcAft>
                <a:spcPts val="0"/>
              </a:spcAft>
              <a:buSzPts val="1000"/>
              <a:buNone/>
            </a:pPr>
            <a:r>
              <a:rPr lang="en-US" sz="800" dirty="0">
                <a:highlight>
                  <a:srgbClr val="FFFF00"/>
                </a:highlight>
                <a:hlinkClick r:id="rId3"/>
              </a:rPr>
              <a:t>Machine Learning course in Persian</a:t>
            </a:r>
            <a:endParaRPr lang="en-US" sz="800" dirty="0"/>
          </a:p>
          <a:p>
            <a:pPr marL="27940" lvl="0" indent="0" algn="l" rtl="0">
              <a:spcBef>
                <a:spcPts val="0"/>
              </a:spcBef>
              <a:spcAft>
                <a:spcPts val="0"/>
              </a:spcAft>
              <a:buSzPts val="1000"/>
              <a:buNone/>
            </a:pPr>
            <a:r>
              <a:rPr lang="en-US" sz="800" dirty="0"/>
              <a:t>I created evidence of this link because Machine Learning is a key topic that I need to feel more confident about. By highlighting this evidence, I aim to demonstrate that I am actively working on improving my knowledge and skills in this area. It reflects my commitment to consistently learning and taking steps to build a stronger foundation in Machine Learning, which is critical for my academic and professional goals.  </a:t>
            </a:r>
          </a:p>
          <a:p>
            <a:pPr marL="27940" lvl="0" indent="0" algn="l" rtl="0">
              <a:spcBef>
                <a:spcPts val="0"/>
              </a:spcBef>
              <a:spcAft>
                <a:spcPts val="0"/>
              </a:spcAft>
              <a:buSzPts val="1000"/>
              <a:buNone/>
            </a:pPr>
            <a:endParaRPr lang="en-US" sz="800" dirty="0"/>
          </a:p>
          <a:p>
            <a:pPr marL="27940" lvl="0" indent="0" algn="l" rtl="0">
              <a:spcBef>
                <a:spcPts val="0"/>
              </a:spcBef>
              <a:spcAft>
                <a:spcPts val="0"/>
              </a:spcAft>
              <a:buSzPts val="1000"/>
              <a:buNone/>
            </a:pPr>
            <a:r>
              <a:rPr lang="en-US" sz="800" dirty="0"/>
              <a:t>Moving forward, I will continue to document my progress and efforts, ensuring I stay accountable and focused on mastering this essential subject. </a:t>
            </a:r>
            <a:endParaRPr lang="en" sz="800" dirty="0"/>
          </a:p>
          <a:p>
            <a:pPr marL="165100" indent="0">
              <a:buNone/>
            </a:pPr>
            <a:endParaRPr lang="en-US" sz="800" dirty="0"/>
          </a:p>
          <a:p>
            <a:pPr marL="27940" lvl="0" indent="0" algn="l" rtl="0">
              <a:spcBef>
                <a:spcPts val="0"/>
              </a:spcBef>
              <a:spcAft>
                <a:spcPts val="0"/>
              </a:spcAft>
              <a:buSzPts val="1000"/>
              <a:buNone/>
            </a:pPr>
            <a:endParaRPr lang="en-US"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6D7938A-97FF-904D-FD58-5FDC3CD773CA}"/>
              </a:ext>
            </a:extLst>
          </p:cNvPr>
          <p:cNvSpPr>
            <a:spLocks noGrp="1"/>
          </p:cNvSpPr>
          <p:nvPr>
            <p:ph type="subTitle" idx="1"/>
          </p:nvPr>
        </p:nvSpPr>
        <p:spPr>
          <a:xfrm flipV="1">
            <a:off x="4402232" y="1628077"/>
            <a:ext cx="4294500" cy="2965363"/>
          </a:xfrm>
        </p:spPr>
        <p:txBody>
          <a:bodyPr/>
          <a:lstStyle/>
          <a:p>
            <a:r>
              <a:rPr lang="en-US" dirty="0"/>
              <a:t> </a:t>
            </a:r>
          </a:p>
        </p:txBody>
      </p:sp>
      <p:sp>
        <p:nvSpPr>
          <p:cNvPr id="3" name="Text Placeholder 2">
            <a:extLst>
              <a:ext uri="{FF2B5EF4-FFF2-40B4-BE49-F238E27FC236}">
                <a16:creationId xmlns:a16="http://schemas.microsoft.com/office/drawing/2014/main" id="{56B17FD8-D76F-A092-07EA-B5EEDAEF8165}"/>
              </a:ext>
            </a:extLst>
          </p:cNvPr>
          <p:cNvSpPr>
            <a:spLocks noGrp="1"/>
          </p:cNvSpPr>
          <p:nvPr>
            <p:ph type="body" idx="2"/>
          </p:nvPr>
        </p:nvSpPr>
        <p:spPr>
          <a:xfrm>
            <a:off x="182874" y="631902"/>
            <a:ext cx="8961125" cy="4333195"/>
          </a:xfrm>
        </p:spPr>
        <p:txBody>
          <a:bodyPr/>
          <a:lstStyle/>
          <a:p>
            <a:r>
              <a:rPr lang="en-US" dirty="0"/>
              <a:t>Reflections</a:t>
            </a:r>
          </a:p>
          <a:p>
            <a:pPr marL="182880" lvl="0" indent="-154940" algn="l" rtl="0">
              <a:spcBef>
                <a:spcPts val="0"/>
              </a:spcBef>
              <a:spcAft>
                <a:spcPts val="0"/>
              </a:spcAft>
              <a:buSzPts val="1000"/>
              <a:buChar char="●"/>
            </a:pPr>
            <a:r>
              <a:rPr lang="en" sz="800" dirty="0"/>
              <a:t>How did the week go? </a:t>
            </a:r>
          </a:p>
          <a:p>
            <a:pPr marL="165100" indent="0">
              <a:buNone/>
            </a:pPr>
            <a:r>
              <a:rPr lang="en-US" sz="800" dirty="0"/>
              <a:t>I recognize that there is still a lot of work to be done in SQL, Python, and Machine Learning to reach the level of proficiency I aim for. However, I believe I made solid progress during the first week and laid a strong foundation for further learning. I am satisfied with the effort I put in so far and feel motivated to continue on this path, staying consistent and focused on my goals.</a:t>
            </a:r>
          </a:p>
          <a:p>
            <a:pPr marL="165100" indent="0">
              <a:buNone/>
            </a:pPr>
            <a:r>
              <a:rPr lang="en-US" sz="800" dirty="0"/>
              <a:t>By maintaining this momentum and improving my practice, I am confident that I can achieve significant progress in these areas over time.</a:t>
            </a:r>
          </a:p>
          <a:p>
            <a:pPr marL="27940" lvl="0" indent="0" algn="l" rtl="0">
              <a:spcBef>
                <a:spcPts val="0"/>
              </a:spcBef>
              <a:spcAft>
                <a:spcPts val="0"/>
              </a:spcAft>
              <a:buSzPts val="1000"/>
              <a:buNone/>
            </a:pPr>
            <a:endParaRPr lang="en" sz="800" dirty="0"/>
          </a:p>
          <a:p>
            <a:pPr marL="27940" lvl="0" indent="0" algn="l" rtl="0">
              <a:spcBef>
                <a:spcPts val="0"/>
              </a:spcBef>
              <a:spcAft>
                <a:spcPts val="0"/>
              </a:spcAft>
              <a:buSzPts val="1000"/>
              <a:buNone/>
            </a:pPr>
            <a:r>
              <a:rPr lang="en" sz="800" dirty="0"/>
              <a:t>What went well? </a:t>
            </a:r>
          </a:p>
          <a:p>
            <a:pPr marL="27940" lvl="0" indent="0" algn="l" rtl="0">
              <a:spcBef>
                <a:spcPts val="0"/>
              </a:spcBef>
              <a:spcAft>
                <a:spcPts val="0"/>
              </a:spcAft>
              <a:buSzPts val="1000"/>
              <a:buNone/>
            </a:pPr>
            <a:endParaRPr lang="en" sz="800" dirty="0"/>
          </a:p>
          <a:p>
            <a:pPr marL="27940" lvl="0" indent="0" algn="l" rtl="0">
              <a:spcBef>
                <a:spcPts val="0"/>
              </a:spcBef>
              <a:spcAft>
                <a:spcPts val="0"/>
              </a:spcAft>
              <a:buSzPts val="1000"/>
              <a:buNone/>
            </a:pPr>
            <a:r>
              <a:rPr lang="en-US" sz="800" dirty="0"/>
              <a:t>I found several Persian resources on Machine Learning and PostgreSQL, and after studying them, I felt more confident about these two important topics. These resources provided valuable insights and helped me better understand the concepts, which boosted my confidence in both areas.</a:t>
            </a:r>
          </a:p>
          <a:p>
            <a:pPr marL="27940" lvl="0" indent="0" algn="l" rtl="0">
              <a:spcBef>
                <a:spcPts val="0"/>
              </a:spcBef>
              <a:spcAft>
                <a:spcPts val="0"/>
              </a:spcAft>
              <a:buSzPts val="1000"/>
              <a:buNone/>
            </a:pPr>
            <a:endParaRPr lang="en-US" sz="800" dirty="0"/>
          </a:p>
          <a:p>
            <a:pPr marL="27940" lvl="0" indent="0" algn="l" rtl="0">
              <a:spcBef>
                <a:spcPts val="0"/>
              </a:spcBef>
              <a:spcAft>
                <a:spcPts val="0"/>
              </a:spcAft>
              <a:buSzPts val="1000"/>
              <a:buNone/>
            </a:pPr>
            <a:r>
              <a:rPr lang="en-US" sz="800" dirty="0"/>
              <a:t>What didn’t go so well?</a:t>
            </a:r>
          </a:p>
          <a:p>
            <a:pPr marL="27940" lvl="0" indent="0" algn="l" rtl="0">
              <a:spcBef>
                <a:spcPts val="0"/>
              </a:spcBef>
              <a:spcAft>
                <a:spcPts val="0"/>
              </a:spcAft>
              <a:buSzPts val="1000"/>
              <a:buNone/>
            </a:pPr>
            <a:br>
              <a:rPr lang="en-US" sz="800" dirty="0"/>
            </a:br>
            <a:r>
              <a:rPr lang="en-US" sz="800" dirty="0"/>
              <a:t>During the first week, I had planned to dedicate more time to practicing PostgreSQL, but unfortunately, I couldn’t allocate enough time to it due to other priorities. I realize this is an area I need to focus on more in the coming weeks to achieve my goals. Moving forward, I’ll work on better time management to ensure consistent practice in PostgreSQL alongside my other studies.</a:t>
            </a:r>
          </a:p>
          <a:p>
            <a:pPr marL="27940" lvl="0" indent="0" algn="l" rtl="0">
              <a:spcBef>
                <a:spcPts val="0"/>
              </a:spcBef>
              <a:spcAft>
                <a:spcPts val="0"/>
              </a:spcAft>
              <a:buSzPts val="1000"/>
              <a:buNone/>
            </a:pPr>
            <a:endParaRPr lang="en" sz="800" dirty="0"/>
          </a:p>
          <a:p>
            <a:pPr marL="27940" lvl="0" indent="0" algn="l" rtl="0">
              <a:spcBef>
                <a:spcPts val="0"/>
              </a:spcBef>
              <a:spcAft>
                <a:spcPts val="0"/>
              </a:spcAft>
              <a:buSzPts val="1000"/>
              <a:buNone/>
            </a:pPr>
            <a:r>
              <a:rPr lang="en" sz="800" dirty="0"/>
              <a:t>What did you learn? </a:t>
            </a:r>
          </a:p>
          <a:p>
            <a:pPr marL="165100" indent="0">
              <a:buNone/>
            </a:pPr>
            <a:endParaRPr lang="en" sz="800" dirty="0"/>
          </a:p>
          <a:p>
            <a:pPr marL="165100" indent="0">
              <a:buNone/>
            </a:pPr>
            <a:r>
              <a:rPr lang="en-US" sz="800" dirty="0"/>
              <a:t>This week, I learned how to import data into </a:t>
            </a:r>
            <a:r>
              <a:rPr lang="en-US" sz="800" dirty="0" err="1"/>
              <a:t>DBeaver</a:t>
            </a:r>
            <a:r>
              <a:rPr lang="en-US" sz="800" dirty="0"/>
              <a:t>, a powerful tool for database management, which significantly improved my understanding of handling databases. I also explored how to read a CSV file in Python using libraries like </a:t>
            </a:r>
            <a:r>
              <a:rPr lang="en-US" sz="800" b="1" dirty="0"/>
              <a:t>pandas</a:t>
            </a:r>
            <a:r>
              <a:rPr lang="en-US" sz="800" dirty="0"/>
              <a:t>, an essential tool for efficient data handling and analysis. Additionally, I familiarized myself with key Python libraries commonly used for data reading and processing, such as </a:t>
            </a:r>
            <a:r>
              <a:rPr lang="en-US" sz="800" b="1" dirty="0" err="1"/>
              <a:t>numpy</a:t>
            </a:r>
            <a:r>
              <a:rPr lang="en-US" sz="800" dirty="0"/>
              <a:t> and </a:t>
            </a:r>
            <a:r>
              <a:rPr lang="en-US" sz="800" b="1" dirty="0"/>
              <a:t>csv</a:t>
            </a:r>
            <a:r>
              <a:rPr lang="en-US" sz="800" dirty="0"/>
              <a:t>, which are invaluable for working with structured data.</a:t>
            </a:r>
          </a:p>
          <a:p>
            <a:pPr marL="165100" indent="0">
              <a:buNone/>
            </a:pPr>
            <a:r>
              <a:rPr lang="en-US" sz="800" dirty="0"/>
              <a:t>Furthermore, I was introduced to the fundamentals of Machine Learning, gaining insights into its basic concepts, types, and real-world applications. These initial steps have helped me build a foundation in data management and Machine Learning, both of which are critical for my academic and professional development. Moving forward, I aim to deepen my understanding and practice these skills further to confidently apply them in practical scenarios.</a:t>
            </a:r>
          </a:p>
          <a:p>
            <a:pPr marL="165100" indent="0">
              <a:buNone/>
            </a:pPr>
            <a:endParaRPr lang="en-US" sz="800" dirty="0"/>
          </a:p>
          <a:p>
            <a:pPr marL="27940" lvl="0" indent="0" algn="l" rtl="0">
              <a:spcBef>
                <a:spcPts val="0"/>
              </a:spcBef>
              <a:spcAft>
                <a:spcPts val="0"/>
              </a:spcAft>
              <a:buSzPts val="1000"/>
              <a:buNone/>
            </a:pPr>
            <a:r>
              <a:rPr lang="en" sz="800" dirty="0"/>
              <a:t>What could be added as an Action point looking forward to next week?</a:t>
            </a:r>
          </a:p>
          <a:p>
            <a:pPr marL="27940" lvl="0" indent="0" algn="l" rtl="0">
              <a:spcBef>
                <a:spcPts val="0"/>
              </a:spcBef>
              <a:spcAft>
                <a:spcPts val="0"/>
              </a:spcAft>
              <a:buSzPts val="1000"/>
              <a:buNone/>
            </a:pPr>
            <a:endParaRPr lang="en" sz="800" dirty="0"/>
          </a:p>
          <a:p>
            <a:pPr marL="165100" indent="0">
              <a:buNone/>
            </a:pPr>
            <a:r>
              <a:rPr lang="en-US" sz="800" dirty="0"/>
              <a:t>I plan to spend more time on Python by practicing consistently and working on small projects to reinforce my skills. To prepare for the retake exams, I will also focus on solving coding challenges on platforms like </a:t>
            </a:r>
            <a:r>
              <a:rPr lang="en-US" sz="800" dirty="0" err="1"/>
              <a:t>CodingBat</a:t>
            </a:r>
            <a:r>
              <a:rPr lang="en-US" sz="800" dirty="0"/>
              <a:t> or </a:t>
            </a:r>
            <a:r>
              <a:rPr lang="en-US" sz="800" dirty="0" err="1"/>
              <a:t>HackerRank</a:t>
            </a:r>
            <a:r>
              <a:rPr lang="en-US" sz="800" dirty="0"/>
              <a:t>, which will help me improve problem-solving and coding efficiency.</a:t>
            </a:r>
          </a:p>
          <a:p>
            <a:pPr marL="165100" indent="0">
              <a:buNone/>
            </a:pPr>
            <a:r>
              <a:rPr lang="en-US" sz="800" dirty="0"/>
              <a:t>In addition, I will dedicate time each week to practicing math to ensure I retain my skills and stay sharp in this area. By balancing Python practice, coding challenges, and regular math revision, I aim to be well-prepared for my exams and build a strong foundation for future learning.</a:t>
            </a:r>
          </a:p>
          <a:p>
            <a:pPr marL="165100" indent="0">
              <a:buNone/>
            </a:pPr>
            <a:endParaRPr lang="en-US" dirty="0"/>
          </a:p>
        </p:txBody>
      </p:sp>
      <p:sp>
        <p:nvSpPr>
          <p:cNvPr id="4" name="Text Placeholder 3">
            <a:extLst>
              <a:ext uri="{FF2B5EF4-FFF2-40B4-BE49-F238E27FC236}">
                <a16:creationId xmlns:a16="http://schemas.microsoft.com/office/drawing/2014/main" id="{40EB937A-38C0-F116-9514-158B1738A3D9}"/>
              </a:ext>
            </a:extLst>
          </p:cNvPr>
          <p:cNvSpPr>
            <a:spLocks noGrp="1"/>
          </p:cNvSpPr>
          <p:nvPr>
            <p:ph type="body" idx="3"/>
          </p:nvPr>
        </p:nvSpPr>
        <p:spPr>
          <a:xfrm>
            <a:off x="6549482" y="2037514"/>
            <a:ext cx="2411768" cy="740883"/>
          </a:xfrm>
        </p:spPr>
        <p:txBody>
          <a:bodyPr/>
          <a:lstStyle/>
          <a:p>
            <a:pPr marL="165100" indent="0">
              <a:buNone/>
            </a:pPr>
            <a:r>
              <a:rPr lang="en-US" dirty="0"/>
              <a:t> </a:t>
            </a:r>
          </a:p>
        </p:txBody>
      </p:sp>
      <p:sp>
        <p:nvSpPr>
          <p:cNvPr id="5" name="Subtitle 4">
            <a:extLst>
              <a:ext uri="{FF2B5EF4-FFF2-40B4-BE49-F238E27FC236}">
                <a16:creationId xmlns:a16="http://schemas.microsoft.com/office/drawing/2014/main" id="{C19D62D9-2C32-F3A8-D53E-AB40F7858074}"/>
              </a:ext>
            </a:extLst>
          </p:cNvPr>
          <p:cNvSpPr>
            <a:spLocks noGrp="1"/>
          </p:cNvSpPr>
          <p:nvPr>
            <p:ph type="subTitle" idx="4"/>
          </p:nvPr>
        </p:nvSpPr>
        <p:spPr/>
        <p:txBody>
          <a:bodyPr/>
          <a:lstStyle/>
          <a:p>
            <a:r>
              <a:rPr lang="en-US" dirty="0"/>
              <a:t>  </a:t>
            </a:r>
          </a:p>
        </p:txBody>
      </p:sp>
      <p:sp>
        <p:nvSpPr>
          <p:cNvPr id="8" name="Title 7">
            <a:extLst>
              <a:ext uri="{FF2B5EF4-FFF2-40B4-BE49-F238E27FC236}">
                <a16:creationId xmlns:a16="http://schemas.microsoft.com/office/drawing/2014/main" id="{2B230CE0-D057-7C96-BE9F-B5E55154C990}"/>
              </a:ext>
            </a:extLst>
          </p:cNvPr>
          <p:cNvSpPr>
            <a:spLocks noGrp="1"/>
          </p:cNvSpPr>
          <p:nvPr>
            <p:ph type="title" idx="6"/>
          </p:nvPr>
        </p:nvSpPr>
        <p:spPr/>
        <p:txBody>
          <a:bodyPr/>
          <a:lstStyle/>
          <a:p>
            <a:r>
              <a:rPr lang="en-US" dirty="0"/>
              <a:t>  </a:t>
            </a:r>
          </a:p>
        </p:txBody>
      </p:sp>
      <p:sp>
        <p:nvSpPr>
          <p:cNvPr id="10" name="Title 9">
            <a:extLst>
              <a:ext uri="{FF2B5EF4-FFF2-40B4-BE49-F238E27FC236}">
                <a16:creationId xmlns:a16="http://schemas.microsoft.com/office/drawing/2014/main" id="{7C09CF4A-4A59-088D-D950-952E54745E78}"/>
              </a:ext>
            </a:extLst>
          </p:cNvPr>
          <p:cNvSpPr>
            <a:spLocks noGrp="1"/>
          </p:cNvSpPr>
          <p:nvPr>
            <p:ph type="title" idx="5"/>
          </p:nvPr>
        </p:nvSpPr>
        <p:spPr>
          <a:xfrm>
            <a:off x="-1" y="0"/>
            <a:ext cx="6549483" cy="572700"/>
          </a:xfrm>
        </p:spPr>
        <p:txBody>
          <a:bodyPr/>
          <a:lstStyle/>
          <a:p>
            <a:r>
              <a:rPr lang="en-US" dirty="0"/>
              <a:t> </a:t>
            </a:r>
          </a:p>
        </p:txBody>
      </p:sp>
    </p:spTree>
    <p:extLst>
      <p:ext uri="{BB962C8B-B14F-4D97-AF65-F5344CB8AC3E}">
        <p14:creationId xmlns:p14="http://schemas.microsoft.com/office/powerpoint/2010/main" val="437338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1 - Feedback</a:t>
            </a:r>
            <a:endParaRPr/>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t>I am Asma </a:t>
            </a:r>
            <a:r>
              <a:rPr lang="en-US" dirty="0" err="1"/>
              <a:t>Moghimi</a:t>
            </a:r>
            <a:r>
              <a:rPr lang="en-US" dirty="0"/>
              <a:t>, from Group 3, student ID: 240791.</a:t>
            </a:r>
          </a:p>
          <a:p>
            <a:pPr marL="27940" lvl="0" indent="0" algn="l" rtl="0">
              <a:spcBef>
                <a:spcPts val="0"/>
              </a:spcBef>
              <a:spcAft>
                <a:spcPts val="0"/>
              </a:spcAft>
              <a:buSzPts val="1000"/>
              <a:buNone/>
            </a:pPr>
            <a:r>
              <a:rPr lang="en-US" dirty="0"/>
              <a:t>Ali demonstrated a solid start in Week 1 by setting clear and ambitious goals, including improving Python skills, exploring Machine Learning, and understanding PostgreSQL. His proactive approach to learning through Persian resources and YouTube tutorials shows his commitment and resourcefulness. Ali effectively explored essential Python libraries like pandas and </a:t>
            </a:r>
            <a:r>
              <a:rPr lang="en-US" dirty="0" err="1"/>
              <a:t>numpy</a:t>
            </a:r>
            <a:r>
              <a:rPr lang="en-US" dirty="0"/>
              <a:t>, gaining a good understanding of data processing, and learned to import data into </a:t>
            </a:r>
            <a:r>
              <a:rPr lang="en-US" dirty="0" err="1"/>
              <a:t>DBeaver</a:t>
            </a:r>
            <a:r>
              <a:rPr lang="en-US" dirty="0"/>
              <a:t>, demonstrating practical application of his </a:t>
            </a:r>
            <a:r>
              <a:rPr lang="en-US" dirty="0" err="1"/>
              <a:t>skills.However</a:t>
            </a:r>
            <a:r>
              <a:rPr lang="en-US" dirty="0"/>
              <a:t>, time constraints limited his progress with PostgreSQL. To improve, Ali could allocate specific time blocks for focused practice and start small, manageable projects, such as building a basic database or experimenting with simple Machine Learning models, to apply his learning. His thoughtful reflection highlights a good awareness of his strengths and areas for improvement, providing a strong foundation for continued growth. By balancing theory with hands-on practice, Ali is well-positioned to make significant progress in the coming weeks.</a:t>
            </a:r>
            <a:endParaRPr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2" name="TextBox 1">
            <a:extLst>
              <a:ext uri="{FF2B5EF4-FFF2-40B4-BE49-F238E27FC236}">
                <a16:creationId xmlns:a16="http://schemas.microsoft.com/office/drawing/2014/main" id="{7D431F1F-F634-7FA5-06F3-E9A2BA1F45DE}"/>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
        <p:nvSpPr>
          <p:cNvPr id="4" name="TextBox 3">
            <a:extLst>
              <a:ext uri="{FF2B5EF4-FFF2-40B4-BE49-F238E27FC236}">
                <a16:creationId xmlns:a16="http://schemas.microsoft.com/office/drawing/2014/main" id="{66924F8A-3758-620C-3EFC-71579CF1B85E}"/>
              </a:ext>
            </a:extLst>
          </p:cNvPr>
          <p:cNvSpPr txBox="1"/>
          <p:nvPr/>
        </p:nvSpPr>
        <p:spPr>
          <a:xfrm>
            <a:off x="5367453" y="1481770"/>
            <a:ext cx="3608539" cy="2031325"/>
          </a:xfrm>
          <a:prstGeom prst="rect">
            <a:avLst/>
          </a:prstGeom>
          <a:noFill/>
        </p:spPr>
        <p:txBody>
          <a:bodyPr wrap="square">
            <a:spAutoFit/>
          </a:bodyPr>
          <a:lstStyle/>
          <a:p>
            <a:r>
              <a:rPr lang="en-US" dirty="0"/>
              <a:t>Thank you for the feedback! I’m glad my efforts and goals were recognized. I agree that better time management will help me focus more on PostgreSQL. I’ll take your advice to work on smaller projects, like building a database and experimenting with ML models, to apply my knowledge. Your feedback motivates me to keep improving—thank you!</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Log</a:t>
            </a:r>
            <a:endParaRPr/>
          </a:p>
        </p:txBody>
      </p:sp>
      <p:sp>
        <p:nvSpPr>
          <p:cNvPr id="204" name="Google Shape;204;p24"/>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05" name="Google Shape;205;p24"/>
          <p:cNvSpPr txBox="1">
            <a:spLocks noGrp="1"/>
          </p:cNvSpPr>
          <p:nvPr>
            <p:ph type="body" idx="2"/>
          </p:nvPr>
        </p:nvSpPr>
        <p:spPr>
          <a:xfrm>
            <a:off x="182875" y="1152697"/>
            <a:ext cx="8774958"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165100" indent="0">
              <a:buNone/>
            </a:pPr>
            <a:r>
              <a:rPr lang="en-US" sz="900" dirty="0"/>
              <a:t>This week, I initially planned to finish a Persian course on Machine Learning, but after discussing with Arash during our appointment, he suggested focusing on English courses instead. Following his advice, I decided to stop watching the Persian course and plan to start an English course on Machine Learning on Coursera as soon as possible. This shift will help me improve both my technical understanding and English skills, making the learning experience more effective.</a:t>
            </a:r>
          </a:p>
          <a:p>
            <a:pPr marL="165100" indent="0">
              <a:buNone/>
            </a:pPr>
            <a:r>
              <a:rPr lang="en-US" sz="900" dirty="0"/>
              <a:t>Another goal for the week was to practice math, specifically focusing on vectors and matrices. However, due to a busy weekday schedule, I couldn’t find time to work on it. I plan to dedicate time over the weekend to catch up and ensure I stay on track with my to-do list for the second week.</a:t>
            </a:r>
          </a:p>
          <a:p>
            <a:pPr marL="165100" indent="0">
              <a:buNone/>
            </a:pPr>
            <a:r>
              <a:rPr lang="en-US" sz="900" dirty="0"/>
              <a:t>I also set a goal to practice programming daily, focusing on coding challenges on </a:t>
            </a:r>
            <a:r>
              <a:rPr lang="en-US" sz="900" dirty="0" err="1"/>
              <a:t>CodingBat</a:t>
            </a:r>
            <a:r>
              <a:rPr lang="en-US" sz="900" dirty="0"/>
              <a:t>. I am happy to say that I was successful in consistently practicing and improving my coding skills this week. Moving forward, I aim to maintain this momentum while also addressing the areas where I fell short.</a:t>
            </a:r>
          </a:p>
          <a:p>
            <a:pPr marL="165100" indent="0">
              <a:buNone/>
            </a:pPr>
            <a:endParaRPr lang="en-US" sz="800" dirty="0"/>
          </a:p>
          <a:p>
            <a:pPr marL="182880" lvl="0" indent="-154940" algn="l" rtl="0">
              <a:spcBef>
                <a:spcPts val="0"/>
              </a:spcBef>
              <a:spcAft>
                <a:spcPts val="0"/>
              </a:spcAft>
              <a:buSzPts val="1000"/>
              <a:buChar char="●"/>
            </a:pPr>
            <a:r>
              <a:rPr lang="en" dirty="0"/>
              <a:t>What have you actually been able to do? </a:t>
            </a:r>
          </a:p>
          <a:p>
            <a:pPr marL="182880" lvl="0" indent="-154940" algn="l" rtl="0">
              <a:spcBef>
                <a:spcPts val="0"/>
              </a:spcBef>
              <a:spcAft>
                <a:spcPts val="0"/>
              </a:spcAft>
              <a:buSzPts val="1000"/>
              <a:buChar char="●"/>
            </a:pPr>
            <a:endParaRPr lang="en" dirty="0"/>
          </a:p>
          <a:p>
            <a:pPr marL="165100" indent="0">
              <a:buNone/>
            </a:pPr>
            <a:r>
              <a:rPr lang="en-US" sz="900" dirty="0"/>
              <a:t>This week, I successfully completed the math quiz on vectors and, fortunately, achieved a 100% score, which boosted my confidence in this area. For Machine Learning, I also managed to complete the quiz for Chapter 2. However, to be honest, I initially struggled to fully understand the content of Chapter 2.</a:t>
            </a:r>
          </a:p>
          <a:p>
            <a:pPr marL="165100" indent="0">
              <a:buNone/>
            </a:pPr>
            <a:r>
              <a:rPr lang="en-US" sz="900" dirty="0"/>
              <a:t>To address this, I have planned to revisit and review the material over the weekend to ensure I gain a clearer understanding. This will help me feel more confident moving forward and strengthen my foundation in Machine Learning.</a:t>
            </a:r>
          </a:p>
          <a:p>
            <a:pPr marL="165100" indent="0">
              <a:buNone/>
            </a:pPr>
            <a:endParaRPr lang="en-US" sz="900"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err="1">
                <a:highlight>
                  <a:srgbClr val="FFFF00"/>
                </a:highlight>
                <a:hlinkClick r:id="rId3"/>
              </a:rPr>
              <a:t>Codingbat</a:t>
            </a:r>
            <a:endParaRPr lang="en-US" dirty="0">
              <a:highlight>
                <a:srgbClr val="FFFF00"/>
              </a:highlight>
            </a:endParaRPr>
          </a:p>
          <a:p>
            <a:pPr marL="27940" lvl="0" indent="0" algn="l" rtl="0">
              <a:spcBef>
                <a:spcPts val="0"/>
              </a:spcBef>
              <a:spcAft>
                <a:spcPts val="0"/>
              </a:spcAft>
              <a:buSzPts val="1000"/>
              <a:buNone/>
            </a:pPr>
            <a:endParaRPr lang="en-US" dirty="0">
              <a:highlight>
                <a:srgbClr val="FFFF00"/>
              </a:highlight>
            </a:endParaRPr>
          </a:p>
          <a:p>
            <a:pPr marL="165100" indent="0">
              <a:buNone/>
            </a:pPr>
            <a:r>
              <a:rPr lang="en-US" dirty="0"/>
              <a:t>I created evidence of my progress on </a:t>
            </a:r>
            <a:r>
              <a:rPr lang="en-US" dirty="0" err="1"/>
              <a:t>CodingBat</a:t>
            </a:r>
            <a:r>
              <a:rPr lang="en-US" dirty="0"/>
              <a:t> to demonstrate that I am following the SMART goals I set on the first day. Last week, my focus was on Machine Learning, and now it has shifted to Python coding practice. By consistently working on coding challenges and improving my skills, I am staying aligned with the goals I outlined in the first slide.</a:t>
            </a:r>
          </a:p>
          <a:p>
            <a:pPr marL="165100" indent="0">
              <a:buNone/>
            </a:pPr>
            <a:r>
              <a:rPr lang="en-US" dirty="0"/>
              <a:t>I will continue practicing diligently to achieve these SMART goals, ensuring steady progress and building a solid foundation in Python and other key areas.</a:t>
            </a:r>
          </a:p>
        </p:txBody>
      </p:sp>
      <p:sp>
        <p:nvSpPr>
          <p:cNvPr id="207" name="Google Shape;207;p24"/>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08" name="Google Shape;208;p24"/>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2</a:t>
            </a:r>
            <a:endParaRPr/>
          </a:p>
        </p:txBody>
      </p:sp>
      <p:sp>
        <p:nvSpPr>
          <p:cNvPr id="209" name="Google Shape;209;p24"/>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4A5BBF98-0E75-D06B-5166-AE56E19732C3}"/>
              </a:ext>
            </a:extLst>
          </p:cNvPr>
          <p:cNvSpPr>
            <a:spLocks noGrp="1"/>
          </p:cNvSpPr>
          <p:nvPr>
            <p:ph type="subTitle" idx="1"/>
          </p:nvPr>
        </p:nvSpPr>
        <p:spPr/>
        <p:txBody>
          <a:bodyPr/>
          <a:lstStyle/>
          <a:p>
            <a:r>
              <a:rPr lang="en-US" dirty="0"/>
              <a:t> </a:t>
            </a:r>
          </a:p>
        </p:txBody>
      </p:sp>
      <p:sp>
        <p:nvSpPr>
          <p:cNvPr id="3" name="Text Placeholder 2">
            <a:extLst>
              <a:ext uri="{FF2B5EF4-FFF2-40B4-BE49-F238E27FC236}">
                <a16:creationId xmlns:a16="http://schemas.microsoft.com/office/drawing/2014/main" id="{85CF28C5-4BE6-0247-AF2A-78268652207E}"/>
              </a:ext>
            </a:extLst>
          </p:cNvPr>
          <p:cNvSpPr>
            <a:spLocks noGrp="1"/>
          </p:cNvSpPr>
          <p:nvPr>
            <p:ph type="body" idx="2"/>
          </p:nvPr>
        </p:nvSpPr>
        <p:spPr>
          <a:xfrm>
            <a:off x="118946" y="683941"/>
            <a:ext cx="8933553" cy="4281311"/>
          </a:xfrm>
        </p:spPr>
        <p:txBody>
          <a:bodyPr/>
          <a:lstStyle/>
          <a:p>
            <a:r>
              <a:rPr lang="en-US" dirty="0"/>
              <a:t>Reflection</a:t>
            </a:r>
          </a:p>
          <a:p>
            <a:pPr marL="165100" indent="0">
              <a:buNone/>
            </a:pPr>
            <a:endParaRPr lang="en-US" dirty="0"/>
          </a:p>
          <a:p>
            <a:pPr marL="182880" lvl="0" indent="-154940" algn="l" rtl="0">
              <a:spcBef>
                <a:spcPts val="0"/>
              </a:spcBef>
              <a:spcAft>
                <a:spcPts val="0"/>
              </a:spcAft>
              <a:buSzPts val="1000"/>
              <a:buChar char="●"/>
            </a:pPr>
            <a:r>
              <a:rPr lang="en-US" dirty="0"/>
              <a:t>How did the week go? </a:t>
            </a:r>
          </a:p>
          <a:p>
            <a:pPr marL="165100" indent="0">
              <a:buNone/>
            </a:pPr>
            <a:r>
              <a:rPr lang="en-US" sz="900" dirty="0"/>
              <a:t>The second week was a challenging one for me. It felt confusing because we had to work on two projects involving concepts we hadn’t yet fully learned. On Thursday, in the </a:t>
            </a:r>
            <a:r>
              <a:rPr lang="en-US" sz="900" dirty="0" err="1"/>
              <a:t>DataCamp</a:t>
            </a:r>
            <a:r>
              <a:rPr lang="en-US" sz="900" dirty="0"/>
              <a:t> course, we were introduced to using VS Code and Python for importing and cleaning data, which was helpful but still left me feeling like there’s so much more to grasp.</a:t>
            </a:r>
          </a:p>
          <a:p>
            <a:pPr marL="165100" indent="0">
              <a:buNone/>
            </a:pPr>
            <a:r>
              <a:rPr lang="en-US" sz="900" dirty="0"/>
              <a:t>Regarding the book </a:t>
            </a:r>
            <a:r>
              <a:rPr lang="en-US" sz="900" i="1" dirty="0"/>
              <a:t>Hands-On Machine Learning</a:t>
            </a:r>
            <a:r>
              <a:rPr lang="en-US" sz="900" dirty="0"/>
              <a:t>, Chapter 2 was particularly difficult for me. It contained a lot of content, and I struggled to understand it fully, which made it more time-consuming to go through. I plan to revisit it to gain a better understanding.</a:t>
            </a:r>
          </a:p>
          <a:p>
            <a:pPr marL="165100" indent="0">
              <a:buNone/>
            </a:pPr>
            <a:r>
              <a:rPr lang="en-US" sz="900" dirty="0"/>
              <a:t>Adding to the difficulty of the week, I received devastating news about one of my friends who tragically took his own life. It has been incredibly hard for me to process and accept this loss, and it has deeply affected me. Despite the challenges, I am trying to stay focused and continue moving forward, but it hasn’t been easy.</a:t>
            </a:r>
          </a:p>
          <a:p>
            <a:pPr marL="182880" lvl="0" indent="-154940" algn="l" rtl="0">
              <a:spcBef>
                <a:spcPts val="0"/>
              </a:spcBef>
              <a:spcAft>
                <a:spcPts val="0"/>
              </a:spcAft>
              <a:buSzPts val="1000"/>
              <a:buChar char="●"/>
            </a:pPr>
            <a:r>
              <a:rPr lang="en-US" dirty="0"/>
              <a:t>What went well? </a:t>
            </a:r>
          </a:p>
          <a:p>
            <a:pPr marL="27940" lvl="0" indent="0" algn="l" rtl="0">
              <a:spcBef>
                <a:spcPts val="0"/>
              </a:spcBef>
              <a:spcAft>
                <a:spcPts val="0"/>
              </a:spcAft>
              <a:buSzPts val="1000"/>
              <a:buNone/>
            </a:pPr>
            <a:r>
              <a:rPr lang="en-US" sz="900" dirty="0"/>
              <a:t>Fortunately, I have been working on my Python skills daily, and I am feeling more confident about my progress. I hope to achieve a good grade in the retake exams, but I know I still need to dedicate more time to practice and deepen my understanding. In addition to improving my general Python skills, I plan to focus more on the content covered in the </a:t>
            </a:r>
            <a:r>
              <a:rPr lang="en-US" sz="900" dirty="0" err="1"/>
              <a:t>DataCamp</a:t>
            </a:r>
            <a:r>
              <a:rPr lang="en-US" sz="900" dirty="0"/>
              <a:t> course. Practicing these concepts regularly will help solidify my knowledge and prepare me for both the exams and real-world applications. With consistent effort, I am determined to meet my goals.</a:t>
            </a:r>
          </a:p>
          <a:p>
            <a:pPr marL="27940" lvl="0" indent="0" algn="l" rtl="0">
              <a:spcBef>
                <a:spcPts val="0"/>
              </a:spcBef>
              <a:spcAft>
                <a:spcPts val="0"/>
              </a:spcAft>
              <a:buSzPts val="1000"/>
              <a:buNone/>
            </a:pPr>
            <a:r>
              <a:rPr lang="en-US" dirty="0"/>
              <a:t>What didn’t go so well? </a:t>
            </a:r>
          </a:p>
          <a:p>
            <a:pPr marL="27940" lvl="0" indent="0" algn="l" rtl="0">
              <a:spcBef>
                <a:spcPts val="0"/>
              </a:spcBef>
              <a:spcAft>
                <a:spcPts val="0"/>
              </a:spcAft>
              <a:buSzPts val="1000"/>
              <a:buNone/>
            </a:pPr>
            <a:r>
              <a:rPr lang="en-US" sz="900" dirty="0"/>
              <a:t>As I mentioned earlier, the second chapter of Hands-On Machine Learning wasn’t easy for me. It had a lot of complex content that I struggled to fully grasp. To improve my understanding, I plan to dedicate time over the weekend to thoroughly review and work through </a:t>
            </a:r>
            <a:r>
              <a:rPr lang="en-US" sz="900" dirty="0" err="1"/>
              <a:t>it.By</a:t>
            </a:r>
            <a:r>
              <a:rPr lang="en-US" sz="900" dirty="0"/>
              <a:t> focusing on Chapter 2 this weekend, I aim to build a stronger foundation so that I feel more prepared and confident to tackle Chapter 3 in the coming week. This approach will help me stay on track and continue progressing in my learning journey.</a:t>
            </a:r>
          </a:p>
          <a:p>
            <a:pPr marL="27940" lvl="0" indent="0" algn="l" rtl="0">
              <a:spcBef>
                <a:spcPts val="0"/>
              </a:spcBef>
              <a:spcAft>
                <a:spcPts val="0"/>
              </a:spcAft>
              <a:buSzPts val="1000"/>
              <a:buNone/>
            </a:pPr>
            <a:r>
              <a:rPr lang="en-US" dirty="0"/>
              <a:t>What did you learn? </a:t>
            </a:r>
          </a:p>
          <a:p>
            <a:pPr marL="27940" lvl="0" indent="0" algn="l" rtl="0">
              <a:spcBef>
                <a:spcPts val="0"/>
              </a:spcBef>
              <a:spcAft>
                <a:spcPts val="0"/>
              </a:spcAft>
              <a:buSzPts val="1000"/>
              <a:buNone/>
            </a:pPr>
            <a:r>
              <a:rPr lang="en-US" sz="900" dirty="0"/>
              <a:t>Fortunately, after completing the two projects and attending the </a:t>
            </a:r>
            <a:r>
              <a:rPr lang="en-US" sz="900" dirty="0" err="1"/>
              <a:t>DataCamp</a:t>
            </a:r>
            <a:r>
              <a:rPr lang="en-US" sz="900" dirty="0"/>
              <a:t> course, I have learned how to use Python and VS Code effectively to clean data. This has been a valuable skill to acquire, and it has boosted my confidence in handling data more </a:t>
            </a:r>
            <a:r>
              <a:rPr lang="en-US" sz="900" dirty="0" err="1"/>
              <a:t>efficiently.With</a:t>
            </a:r>
            <a:r>
              <a:rPr lang="en-US" sz="900" dirty="0"/>
              <a:t> these new skills, I feel more equipped to apply them in future projects and continue improving my understanding of data cleaning and preprocessing.</a:t>
            </a:r>
          </a:p>
          <a:p>
            <a:pPr marL="27940" lvl="0" indent="0" algn="l" rtl="0">
              <a:spcBef>
                <a:spcPts val="0"/>
              </a:spcBef>
              <a:spcAft>
                <a:spcPts val="0"/>
              </a:spcAft>
              <a:buSzPts val="1000"/>
              <a:buNone/>
            </a:pPr>
            <a:r>
              <a:rPr lang="en-US" dirty="0"/>
              <a:t>What could be added as an Action point looking forward to next week?</a:t>
            </a:r>
          </a:p>
          <a:p>
            <a:pPr marL="27940" lvl="0" indent="0" algn="l" rtl="0">
              <a:spcBef>
                <a:spcPts val="0"/>
              </a:spcBef>
              <a:spcAft>
                <a:spcPts val="0"/>
              </a:spcAft>
              <a:buSzPts val="1000"/>
              <a:buNone/>
            </a:pPr>
            <a:r>
              <a:rPr lang="en-US" sz="900" dirty="0"/>
              <a:t>For the next week, I hope to improve my focus during study sessions by minimizing distractions, especially avoiding using my phone. By staying more disciplined, I aim to manage my time better and dedicate more of it to practicing math </a:t>
            </a:r>
            <a:r>
              <a:rPr lang="en-US" sz="900" dirty="0" err="1"/>
              <a:t>regularly.I</a:t>
            </a:r>
            <a:r>
              <a:rPr lang="en-US" sz="900" dirty="0"/>
              <a:t> also plan to read the Hands-On Machine Learning book daily, splitting each chapter into manageable sections to complete over two to three weeks. This approach will help me stay consistent and ensure I thoroughly understand the material. With better focus and a structured plan, I hope to make steady progress toward my goals.</a:t>
            </a:r>
          </a:p>
          <a:p>
            <a:pPr marL="165100" indent="0">
              <a:buNone/>
            </a:pPr>
            <a:endParaRPr lang="en-US" dirty="0"/>
          </a:p>
        </p:txBody>
      </p:sp>
      <p:sp>
        <p:nvSpPr>
          <p:cNvPr id="7" name="Title 6">
            <a:extLst>
              <a:ext uri="{FF2B5EF4-FFF2-40B4-BE49-F238E27FC236}">
                <a16:creationId xmlns:a16="http://schemas.microsoft.com/office/drawing/2014/main" id="{D4FD671F-8A82-3CA4-83B0-EAA6605446B3}"/>
              </a:ext>
            </a:extLst>
          </p:cNvPr>
          <p:cNvSpPr>
            <a:spLocks noGrp="1"/>
          </p:cNvSpPr>
          <p:nvPr>
            <p:ph type="title" idx="5"/>
          </p:nvPr>
        </p:nvSpPr>
        <p:spPr>
          <a:xfrm>
            <a:off x="1754125" y="1457092"/>
            <a:ext cx="2446168" cy="572700"/>
          </a:xfrm>
        </p:spPr>
        <p:txBody>
          <a:bodyPr/>
          <a:lstStyle/>
          <a:p>
            <a:r>
              <a:rPr lang="en-US" dirty="0"/>
              <a:t> </a:t>
            </a:r>
          </a:p>
        </p:txBody>
      </p:sp>
      <p:sp>
        <p:nvSpPr>
          <p:cNvPr id="8" name="Title 7">
            <a:extLst>
              <a:ext uri="{FF2B5EF4-FFF2-40B4-BE49-F238E27FC236}">
                <a16:creationId xmlns:a16="http://schemas.microsoft.com/office/drawing/2014/main" id="{678A4FCE-C117-CFF2-37A3-294D1D07F434}"/>
              </a:ext>
            </a:extLst>
          </p:cNvPr>
          <p:cNvSpPr>
            <a:spLocks noGrp="1"/>
          </p:cNvSpPr>
          <p:nvPr>
            <p:ph type="title" idx="6"/>
          </p:nvPr>
        </p:nvSpPr>
        <p:spPr/>
        <p:txBody>
          <a:bodyPr/>
          <a:lstStyle/>
          <a:p>
            <a:r>
              <a:rPr lang="en-US" dirty="0"/>
              <a:t> </a:t>
            </a:r>
          </a:p>
        </p:txBody>
      </p:sp>
    </p:spTree>
    <p:extLst>
      <p:ext uri="{BB962C8B-B14F-4D97-AF65-F5344CB8AC3E}">
        <p14:creationId xmlns:p14="http://schemas.microsoft.com/office/powerpoint/2010/main" val="4147779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Feedback</a:t>
            </a:r>
            <a:endParaRPr/>
          </a:p>
        </p:txBody>
      </p:sp>
      <p:sp>
        <p:nvSpPr>
          <p:cNvPr id="215" name="Google Shape;215;p25"/>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16" name="Google Shape;216;p25"/>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p>
          <a:p>
            <a:pPr marL="165100" indent="0">
              <a:buNone/>
            </a:pPr>
            <a:r>
              <a:rPr lang="en-US" dirty="0"/>
              <a:t>In week two, I received feedback from my mentor, which provided valuable insights for improvement:</a:t>
            </a:r>
          </a:p>
          <a:p>
            <a:pPr>
              <a:buFont typeface="Arial" panose="020B0604020202020204" pitchFamily="34" charset="0"/>
              <a:buChar char="•"/>
            </a:pPr>
            <a:r>
              <a:rPr lang="en-US" b="1" dirty="0"/>
              <a:t>Work Log</a:t>
            </a:r>
            <a:r>
              <a:rPr lang="en-US" dirty="0"/>
              <a:t>: She mentioned that I should write more detailed descriptions of my tasks. Additionally, if there is a difference between the estimated hours and the actual hours spent on a task, I need to explain why this happened in the reflection section.</a:t>
            </a:r>
          </a:p>
          <a:p>
            <a:pPr>
              <a:buFont typeface="Arial" panose="020B0604020202020204" pitchFamily="34" charset="0"/>
              <a:buChar char="•"/>
            </a:pPr>
            <a:r>
              <a:rPr lang="en-US" b="1" dirty="0"/>
              <a:t>Learning Log</a:t>
            </a:r>
            <a:r>
              <a:rPr lang="en-US" dirty="0"/>
              <a:t>: Regarding the SMART goals, she suggested that I be more specific about the content I need to focus on. For example, if I am working on Python, I should clearly identify which areas or topics I need to improve on and estimate how long it will take.</a:t>
            </a:r>
          </a:p>
          <a:p>
            <a:pPr>
              <a:buFont typeface="Arial" panose="020B0604020202020204" pitchFamily="34" charset="0"/>
              <a:buChar char="•"/>
            </a:pPr>
            <a:r>
              <a:rPr lang="en-US" b="1" dirty="0"/>
              <a:t>Reflection and Process</a:t>
            </a:r>
            <a:r>
              <a:rPr lang="en-US" dirty="0"/>
              <a:t>: She pointed out that I need to write more in-depth reflections, explaining what I have done in detail and how I progressed during the week.</a:t>
            </a:r>
          </a:p>
          <a:p>
            <a:pPr>
              <a:buFont typeface="Arial" panose="020B0604020202020204" pitchFamily="34" charset="0"/>
              <a:buChar char="•"/>
            </a:pPr>
            <a:r>
              <a:rPr lang="en-US" b="1" dirty="0"/>
              <a:t>Evidencing</a:t>
            </a:r>
            <a:r>
              <a:rPr lang="en-US" dirty="0"/>
              <a:t>: She emphasized that the evidence I provide should be directly related to the SMART goals I set at the beginning of Block B to demonstrate alignment with my objectives.</a:t>
            </a:r>
          </a:p>
        </p:txBody>
      </p:sp>
      <p:sp>
        <p:nvSpPr>
          <p:cNvPr id="217" name="Google Shape;217;p25"/>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218" name="Google Shape;218;p25"/>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
        <p:nvSpPr>
          <p:cNvPr id="3" name="TextBox 2">
            <a:extLst>
              <a:ext uri="{FF2B5EF4-FFF2-40B4-BE49-F238E27FC236}">
                <a16:creationId xmlns:a16="http://schemas.microsoft.com/office/drawing/2014/main" id="{7D5AE459-3211-19C1-863E-F7D4FCF34B40}"/>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
        <p:nvSpPr>
          <p:cNvPr id="4" name="TextBox 3">
            <a:extLst>
              <a:ext uri="{FF2B5EF4-FFF2-40B4-BE49-F238E27FC236}">
                <a16:creationId xmlns:a16="http://schemas.microsoft.com/office/drawing/2014/main" id="{E01BC073-D974-E981-5500-136B3DB8B883}"/>
              </a:ext>
            </a:extLst>
          </p:cNvPr>
          <p:cNvSpPr txBox="1"/>
          <p:nvPr/>
        </p:nvSpPr>
        <p:spPr>
          <a:xfrm>
            <a:off x="5122128" y="1152697"/>
            <a:ext cx="3709638" cy="2031325"/>
          </a:xfrm>
          <a:prstGeom prst="rect">
            <a:avLst/>
          </a:prstGeom>
          <a:noFill/>
        </p:spPr>
        <p:txBody>
          <a:bodyPr wrap="square" rtlCol="0">
            <a:spAutoFit/>
          </a:bodyPr>
          <a:lstStyle/>
          <a:p>
            <a:r>
              <a:rPr lang="en-US" dirty="0">
                <a:solidFill>
                  <a:schemeClr val="bg1"/>
                </a:solidFill>
              </a:rPr>
              <a:t>Response:</a:t>
            </a:r>
            <a:br>
              <a:rPr lang="en-US" dirty="0">
                <a:solidFill>
                  <a:schemeClr val="bg1"/>
                </a:solidFill>
              </a:rPr>
            </a:br>
            <a:r>
              <a:rPr lang="en-US" dirty="0">
                <a:solidFill>
                  <a:schemeClr val="bg1"/>
                </a:solidFill>
              </a:rPr>
              <a:t>This feedback has helped me better understand how to improve my logs and reflections, ensuring they are more meaningful and aligned with my goals. Moving forward, I will focus on implementing these suggestions to enhance my documentation and progress tracking.</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endParaRPr lang="en" dirty="0"/>
          </a:p>
          <a:p>
            <a:pPr marL="27940" indent="0">
              <a:buNone/>
            </a:pPr>
            <a:r>
              <a:rPr lang="en-US" dirty="0"/>
              <a:t>This week, in line with the SMART goals I set for myself, my focus is on practicing coding exercises on </a:t>
            </a:r>
            <a:r>
              <a:rPr lang="en-US" dirty="0" err="1"/>
              <a:t>CodingBat</a:t>
            </a:r>
            <a:r>
              <a:rPr lang="en-US" dirty="0"/>
              <a:t> to prepare for the upcoming quiz retake. Additionally, I aim to delve deeper into machine learning by watching more courses on the subject and applying the concepts through hands-on coding practice. My goal is to enhance my ability to work with data, improve data preparation techniques, and develop better models effectively.</a:t>
            </a:r>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What have you actually been able to do?</a:t>
            </a:r>
            <a:br>
              <a:rPr lang="en" dirty="0"/>
            </a:br>
            <a:r>
              <a:rPr lang="en-US" dirty="0"/>
              <a:t>This week, I felt that I wasn’t in the right mindset to study. I’m not sure if it was due to being tired or something else, but overall, I wasn’t satisfied with my progress. However, I did manage to do some coding practice and watched a Coursera course to deepen my understanding of the material.</a:t>
            </a:r>
            <a:endParaRPr lang="en" dirty="0"/>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r>
              <a:rPr lang="en-US" dirty="0"/>
              <a:t>This is the link to the Coursera course I’ve been working on, which demonstrates my progress in this area. The course also includes numerous quizzes to help me improve my coding skills and prepare for in this field</a:t>
            </a:r>
            <a:r>
              <a:rPr lang="en-US" dirty="0">
                <a:highlight>
                  <a:srgbClr val="FFFF00"/>
                </a:highlight>
              </a:rPr>
              <a:t>.  </a:t>
            </a:r>
            <a:r>
              <a:rPr lang="en-US" dirty="0">
                <a:highlight>
                  <a:srgbClr val="FFFF00"/>
                </a:highlight>
                <a:hlinkClick r:id="rId3"/>
              </a:rPr>
              <a:t>Smart Goals on Machine learning</a:t>
            </a:r>
            <a:r>
              <a:rPr lang="en-US" dirty="0">
                <a:highlight>
                  <a:srgbClr val="FFFF00"/>
                </a:highlight>
              </a:rPr>
              <a:t>.</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As I mentioned, this week didn’t go as well as I had hoped. I wasn’t in the right mindset to study, and I struggled to focus on my tasks. As a result, I couldn’t prepare myself as much as I had expected or set out to achieve.</a:t>
            </a:r>
            <a:endParaRPr dirty="0"/>
          </a:p>
          <a:p>
            <a:pPr marL="182880" lvl="0" indent="-154940" algn="l" rtl="0">
              <a:spcBef>
                <a:spcPts val="0"/>
              </a:spcBef>
              <a:spcAft>
                <a:spcPts val="0"/>
              </a:spcAft>
              <a:buSzPts val="1000"/>
              <a:buChar char="●"/>
            </a:pPr>
            <a:r>
              <a:rPr lang="en" dirty="0"/>
              <a:t>What went well? </a:t>
            </a:r>
          </a:p>
          <a:p>
            <a:pPr marL="27940" lvl="0" indent="0" algn="l" rtl="0">
              <a:spcBef>
                <a:spcPts val="0"/>
              </a:spcBef>
              <a:spcAft>
                <a:spcPts val="0"/>
              </a:spcAft>
              <a:buSzPts val="1000"/>
              <a:buNone/>
            </a:pPr>
            <a:r>
              <a:rPr lang="en-US" sz="900" dirty="0"/>
              <a:t>I think the machine learning part went well this week, and I was able to continue studying in a productive way. However, the coding aspect didn’t go as smoothly. Working with </a:t>
            </a:r>
            <a:r>
              <a:rPr lang="en-US" sz="900" dirty="0" err="1"/>
              <a:t>Jupyter</a:t>
            </a:r>
            <a:r>
              <a:rPr lang="en-US" sz="900" dirty="0"/>
              <a:t> Notebook has been quite challenging for me, and I want to focus on coding everything completely on my own, without relying on any AI assistance.</a:t>
            </a:r>
          </a:p>
          <a:p>
            <a:pPr marL="27940" lvl="0" indent="0" algn="l" rtl="0">
              <a:spcBef>
                <a:spcPts val="0"/>
              </a:spcBef>
              <a:spcAft>
                <a:spcPts val="0"/>
              </a:spcAft>
              <a:buSzPts val="1000"/>
              <a:buNone/>
            </a:pPr>
            <a:r>
              <a:rPr lang="en-US" sz="900" dirty="0"/>
              <a:t>After three weeks, I was finally able to start going to the gym, taking a significant step forward toward achieving my personal goal. It felt incredibly good, and I noticed how refreshing it is to hit the gym, especially after a tiring data lab session. The workout not only reenergized me but also helped me feel more focused and motivated for the rest of the day.</a:t>
            </a:r>
            <a:r>
              <a:rPr lang="en" sz="900" dirty="0"/>
              <a:t>What didn’t go so well? </a:t>
            </a:r>
          </a:p>
          <a:p>
            <a:pPr marL="27940" lvl="0" indent="0" algn="l" rtl="0">
              <a:spcBef>
                <a:spcPts val="0"/>
              </a:spcBef>
              <a:spcAft>
                <a:spcPts val="0"/>
              </a:spcAft>
              <a:buSzPts val="1000"/>
              <a:buNone/>
            </a:pPr>
            <a:r>
              <a:rPr lang="en-US" sz="900" dirty="0"/>
              <a:t>The coding aspect of machine learning, along with the math matrices part, didn’t go well for me this week. I struggled to understand these concepts fully. I hope to address my difficulties with math matrices and improve my coding skills in Week 4.</a:t>
            </a:r>
            <a:endParaRPr sz="900" dirty="0"/>
          </a:p>
          <a:p>
            <a:pPr marL="182880" lvl="0" indent="-154940" algn="l" rtl="0">
              <a:spcBef>
                <a:spcPts val="0"/>
              </a:spcBef>
              <a:spcAft>
                <a:spcPts val="0"/>
              </a:spcAft>
              <a:buSzPts val="1000"/>
              <a:buChar char="●"/>
            </a:pPr>
            <a:r>
              <a:rPr lang="en" sz="900" dirty="0"/>
              <a:t>What did you learn? </a:t>
            </a:r>
          </a:p>
          <a:p>
            <a:pPr marL="27940" indent="0">
              <a:buNone/>
            </a:pPr>
            <a:r>
              <a:rPr lang="en-US" sz="900" dirty="0"/>
              <a:t>To be honest, the lecture we had at the end of the week on Friday was incredibly helpful for me. I realized that I already knew the concepts, but I was struggling to apply them to solve problems or work independently on </a:t>
            </a:r>
            <a:r>
              <a:rPr lang="en-US" sz="900" dirty="0" err="1"/>
              <a:t>Jupyter</a:t>
            </a:r>
            <a:r>
              <a:rPr lang="en-US" sz="900" dirty="0"/>
              <a:t> Notebook.</a:t>
            </a:r>
          </a:p>
          <a:p>
            <a:pPr marL="27940" lvl="0" indent="0" algn="l" rtl="0">
              <a:spcBef>
                <a:spcPts val="0"/>
              </a:spcBef>
              <a:spcAft>
                <a:spcPts val="0"/>
              </a:spcAft>
              <a:buSzPts val="1000"/>
              <a:buNone/>
            </a:pP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4BC00F0-EA8F-9CEB-FF88-973D60743AB6}"/>
              </a:ext>
            </a:extLst>
          </p:cNvPr>
          <p:cNvSpPr>
            <a:spLocks noGrp="1"/>
          </p:cNvSpPr>
          <p:nvPr>
            <p:ph type="subTitle" idx="1"/>
          </p:nvPr>
        </p:nvSpPr>
        <p:spPr/>
        <p:txBody>
          <a:bodyPr/>
          <a:lstStyle/>
          <a:p>
            <a:r>
              <a:rPr lang="en-US" dirty="0"/>
              <a:t>What could be added as an Action point looking forward to next week?</a:t>
            </a:r>
          </a:p>
          <a:p>
            <a:endParaRPr lang="en-US" dirty="0"/>
          </a:p>
        </p:txBody>
      </p:sp>
      <p:sp>
        <p:nvSpPr>
          <p:cNvPr id="3" name="Text Placeholder 2">
            <a:extLst>
              <a:ext uri="{FF2B5EF4-FFF2-40B4-BE49-F238E27FC236}">
                <a16:creationId xmlns:a16="http://schemas.microsoft.com/office/drawing/2014/main" id="{B5FFAC60-804D-8045-2732-F45A67FFD0D2}"/>
              </a:ext>
            </a:extLst>
          </p:cNvPr>
          <p:cNvSpPr>
            <a:spLocks noGrp="1"/>
          </p:cNvSpPr>
          <p:nvPr>
            <p:ph type="body" idx="2"/>
          </p:nvPr>
        </p:nvSpPr>
        <p:spPr>
          <a:xfrm>
            <a:off x="182875" y="1529255"/>
            <a:ext cx="4294500" cy="3435842"/>
          </a:xfrm>
        </p:spPr>
        <p:txBody>
          <a:bodyPr/>
          <a:lstStyle/>
          <a:p>
            <a:pPr marL="165100" indent="0">
              <a:buNone/>
            </a:pPr>
            <a:r>
              <a:rPr lang="en-US" dirty="0"/>
              <a:t>For the next week, I hope to be in a better mindset to study more effectively and stay focused on both my studies and my ideas. I have a solid plan in place, and I’m confident that I can execute it successfully.</a:t>
            </a:r>
          </a:p>
          <a:p>
            <a:pPr marL="165100" indent="0">
              <a:buNone/>
            </a:pPr>
            <a:endParaRPr lang="en-US" dirty="0"/>
          </a:p>
          <a:p>
            <a:pPr marL="165100" indent="0">
              <a:buNone/>
            </a:pPr>
            <a:endParaRPr lang="en-US" dirty="0"/>
          </a:p>
          <a:p>
            <a:pPr marL="165100" indent="0">
              <a:buNone/>
            </a:pPr>
            <a:r>
              <a:rPr lang="en-US" dirty="0"/>
              <a:t>Personal Goal:</a:t>
            </a:r>
          </a:p>
          <a:p>
            <a:pPr marL="165100" indent="0">
              <a:buNone/>
            </a:pPr>
            <a:r>
              <a:rPr lang="en-US" dirty="0"/>
              <a:t>I also want to start preparing my meals on weekends for the weekdays to ensure I have proper nutrition, especially now that I’ve started going to the gym. This will help me stay consistent with a healthy diet and make my workouts more effective, allowing me to maintain my energy and focus throughout the week.</a:t>
            </a:r>
          </a:p>
        </p:txBody>
      </p:sp>
    </p:spTree>
    <p:extLst>
      <p:ext uri="{BB962C8B-B14F-4D97-AF65-F5344CB8AC3E}">
        <p14:creationId xmlns:p14="http://schemas.microsoft.com/office/powerpoint/2010/main" val="863386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p>
          <a:p>
            <a:pPr marL="182880" lvl="0" indent="-154940" algn="l" rtl="0">
              <a:spcBef>
                <a:spcPts val="0"/>
              </a:spcBef>
              <a:spcAft>
                <a:spcPts val="0"/>
              </a:spcAft>
              <a:buSzPts val="1000"/>
              <a:buChar char="●"/>
            </a:pPr>
            <a:endParaRPr lang="en" dirty="0"/>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t>This week, I received feedback from my mentor to write a detailed description of my goals and provide evidence of my SMART goals on a separate slide. I plan to create this as part of my updates. So far, both my mentor and I are satisfied with the progress I’ve made, and I intend to continue working in the same direction. Additionally, I aim to consistently update my work log and learning log on a weekly basis to ensure everything is well-documented and aligned with my goals.</a:t>
            </a:r>
          </a:p>
          <a:p>
            <a:pPr marL="27940" lvl="0" indent="0" algn="l" rtl="0">
              <a:spcBef>
                <a:spcPts val="0"/>
              </a:spcBef>
              <a:spcAft>
                <a:spcPts val="0"/>
              </a:spcAft>
              <a:buSzPts val="1000"/>
              <a:buNone/>
            </a:pPr>
            <a:endParaRPr lang="en-US"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4" name="TextBox 3">
            <a:extLst>
              <a:ext uri="{FF2B5EF4-FFF2-40B4-BE49-F238E27FC236}">
                <a16:creationId xmlns:a16="http://schemas.microsoft.com/office/drawing/2014/main" id="{B57E298E-ACB0-12CF-E259-08EB25F8A491}"/>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
        <p:nvSpPr>
          <p:cNvPr id="3" name="TextBox 2">
            <a:extLst>
              <a:ext uri="{FF2B5EF4-FFF2-40B4-BE49-F238E27FC236}">
                <a16:creationId xmlns:a16="http://schemas.microsoft.com/office/drawing/2014/main" id="{E8BCF5F9-5FB2-09C0-C380-E63510663B36}"/>
              </a:ext>
            </a:extLst>
          </p:cNvPr>
          <p:cNvSpPr txBox="1"/>
          <p:nvPr/>
        </p:nvSpPr>
        <p:spPr>
          <a:xfrm>
            <a:off x="5464097" y="1243092"/>
            <a:ext cx="3572923" cy="2677656"/>
          </a:xfrm>
          <a:prstGeom prst="rect">
            <a:avLst/>
          </a:prstGeom>
          <a:noFill/>
        </p:spPr>
        <p:txBody>
          <a:bodyPr wrap="square">
            <a:spAutoFit/>
          </a:bodyPr>
          <a:lstStyle/>
          <a:p>
            <a:endParaRPr lang="en-US" dirty="0"/>
          </a:p>
          <a:p>
            <a:r>
              <a:rPr lang="en-US" dirty="0"/>
              <a:t>This week, my mentor advised me to write a detailed description of my goals and include evidence of my SMART goals on a separate slide, which I plan to add to my updates. Both my mentor and I are pleased with the progress I’ve made so far, and I intend to stay on this path. Additionally, I’ll maintain regular updates to my work log and learning log to ensure everything is well-documented and aligned with my objectives.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t>For Week 4 of Block B, I set some goals for myself: first, to better understand Chapters 6 and 7 of machine learning, and second, to work more on my </a:t>
            </a:r>
            <a:r>
              <a:rPr lang="en-US" dirty="0" err="1"/>
              <a:t>Jupyter</a:t>
            </a:r>
            <a:r>
              <a:rPr lang="en-US" dirty="0"/>
              <a:t> Notebook to achieve more accurate scores for each task. Additionally, I want to continue progressing in my Coursera course to gain a clearer understanding of the math behind machine learning.</a:t>
            </a:r>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What have you actually been able to do? </a:t>
            </a:r>
          </a:p>
          <a:p>
            <a:pPr marL="27940" lvl="0" indent="0" algn="l" rtl="0">
              <a:spcBef>
                <a:spcPts val="0"/>
              </a:spcBef>
              <a:spcAft>
                <a:spcPts val="0"/>
              </a:spcAft>
              <a:buSzPts val="1000"/>
              <a:buNone/>
            </a:pPr>
            <a:r>
              <a:rPr lang="en-US" dirty="0"/>
              <a:t>As I mentioned, I worked diligently on my creative brief and, fortunately, achieved good scores in each machine learning task. I am also continuing with the Coursera course.</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 dirty="0"/>
              <a:t>Showcase the evidence of your progress (production artifacts, short descriptions-links-pictures animated gifs, etc.)</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highlight>
                  <a:srgbClr val="FFFF00"/>
                </a:highlight>
                <a:hlinkClick r:id="rId3"/>
              </a:rPr>
              <a:t>Coursera course machine learning</a:t>
            </a:r>
            <a:endParaRPr lang="en-US" dirty="0">
              <a:highlight>
                <a:srgbClr val="FFFF00"/>
              </a:highlight>
            </a:endParaRPr>
          </a:p>
          <a:p>
            <a:pPr marL="27940" lvl="0" indent="0" algn="l" rtl="0">
              <a:spcBef>
                <a:spcPts val="0"/>
              </a:spcBef>
              <a:spcAft>
                <a:spcPts val="0"/>
              </a:spcAft>
              <a:buSzPts val="1000"/>
              <a:buNone/>
            </a:pPr>
            <a:r>
              <a:rPr lang="en-US" dirty="0">
                <a:highlight>
                  <a:srgbClr val="FFFF00"/>
                </a:highlight>
                <a:hlinkClick r:id="rId4"/>
              </a:rPr>
              <a:t>Math quiz</a:t>
            </a:r>
            <a:endParaRPr lang="en-US" dirty="0">
              <a:highlight>
                <a:srgbClr val="FFFF00"/>
              </a:highlight>
            </a:endParaRPr>
          </a:p>
          <a:p>
            <a:pPr marL="27940" lvl="0" indent="0" algn="l" rtl="0">
              <a:spcBef>
                <a:spcPts val="0"/>
              </a:spcBef>
              <a:spcAft>
                <a:spcPts val="0"/>
              </a:spcAft>
              <a:buSzPts val="1000"/>
              <a:buNone/>
            </a:pPr>
            <a:r>
              <a:rPr lang="en-US" dirty="0"/>
              <a:t>I was able to complete the math quiz and also make progress in the Coursera course, which felt quite connected since the Coursera course also focuses on the mathematical concepts behind machine learning. Working on both helped reinforce my understanding of the math, making it easier to see how these concepts are applied in real-world scenarios.</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This week went well, at least better than last week. I was able to focus more, study effectively, and practice better.</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 dirty="0"/>
              <a:t>What went well? </a:t>
            </a:r>
          </a:p>
          <a:p>
            <a:pPr marL="27940" lvl="0" indent="0" algn="l" rtl="0">
              <a:spcBef>
                <a:spcPts val="0"/>
              </a:spcBef>
              <a:spcAft>
                <a:spcPts val="0"/>
              </a:spcAft>
              <a:buSzPts val="1000"/>
              <a:buNone/>
            </a:pPr>
            <a:r>
              <a:rPr lang="en-US" dirty="0"/>
              <a:t>I am very happy and satisfied with my creative brief, and I believe I am making good progress on it.</a:t>
            </a:r>
          </a:p>
          <a:p>
            <a:pPr marL="27940" lvl="0" indent="0" algn="l" rtl="0">
              <a:spcBef>
                <a:spcPts val="0"/>
              </a:spcBef>
              <a:spcAft>
                <a:spcPts val="0"/>
              </a:spcAft>
              <a:buSzPts val="1000"/>
              <a:buNone/>
            </a:pPr>
            <a:r>
              <a:rPr lang="en" dirty="0"/>
              <a:t>What didn’t go so well? </a:t>
            </a:r>
          </a:p>
          <a:p>
            <a:pPr marL="27940" lvl="0" indent="0" algn="l" rtl="0">
              <a:spcBef>
                <a:spcPts val="0"/>
              </a:spcBef>
              <a:spcAft>
                <a:spcPts val="0"/>
              </a:spcAft>
              <a:buSzPts val="1000"/>
              <a:buNone/>
            </a:pPr>
            <a:r>
              <a:rPr lang="en-US" dirty="0"/>
              <a:t>Math is becoming more challenging for me each week, but I’m not worried because I’m confident I can tackle it during my Week 9 and 10 challenge.</a:t>
            </a:r>
          </a:p>
          <a:p>
            <a:pPr marL="27940" lvl="0" indent="0" algn="l" rtl="0">
              <a:spcBef>
                <a:spcPts val="0"/>
              </a:spcBef>
              <a:spcAft>
                <a:spcPts val="0"/>
              </a:spcAft>
              <a:buSzPts val="1000"/>
              <a:buNone/>
            </a:pPr>
            <a:r>
              <a:rPr lang="en" dirty="0"/>
              <a:t>What did you learn? </a:t>
            </a:r>
          </a:p>
          <a:p>
            <a:pPr marL="27940" lvl="0" indent="0" algn="l" rtl="0">
              <a:spcBef>
                <a:spcPts val="0"/>
              </a:spcBef>
              <a:spcAft>
                <a:spcPts val="0"/>
              </a:spcAft>
              <a:buSzPts val="1000"/>
              <a:buNone/>
            </a:pPr>
            <a:r>
              <a:rPr lang="en-US" dirty="0"/>
              <a:t>This week, with the help of the *Hands-On Machine Learning* book and ChatGPT, I learned more about the decision tree in machine learning and understood that it can be used for both supervised and unsupervised data.</a:t>
            </a:r>
          </a:p>
          <a:p>
            <a:pPr marL="27940" lvl="0" indent="0" algn="l" rtl="0">
              <a:spcBef>
                <a:spcPts val="0"/>
              </a:spcBef>
              <a:spcAft>
                <a:spcPts val="0"/>
              </a:spcAft>
              <a:buSzPts val="1000"/>
              <a:buNone/>
            </a:pPr>
            <a:r>
              <a:rPr lang="en" dirty="0"/>
              <a:t>What could be added as an Action point looking forward to next week?</a:t>
            </a:r>
          </a:p>
          <a:p>
            <a:pPr marL="27940" lvl="0" indent="0" algn="l" rtl="0">
              <a:spcBef>
                <a:spcPts val="0"/>
              </a:spcBef>
              <a:spcAft>
                <a:spcPts val="0"/>
              </a:spcAft>
              <a:buSzPts val="1000"/>
              <a:buNone/>
            </a:pPr>
            <a:r>
              <a:rPr lang="en-US" dirty="0"/>
              <a:t>I would like to focus more on math next week, but honestly, since the creative brief is so engaging and enjoyable for me, I find myself preferring to work on it. Even if I have some free time, I’d rather dive back into machine learning tasks related to the creative brief</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9973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EB00B00-B5A9-882B-6268-41628B6975A0}"/>
              </a:ext>
            </a:extLst>
          </p:cNvPr>
          <p:cNvSpPr>
            <a:spLocks noGrp="1"/>
          </p:cNvSpPr>
          <p:nvPr>
            <p:ph type="body" idx="2"/>
          </p:nvPr>
        </p:nvSpPr>
        <p:spPr/>
        <p:txBody>
          <a:bodyPr/>
          <a:lstStyle/>
          <a:p>
            <a:r>
              <a:rPr lang="en-US" dirty="0"/>
              <a:t>Personal Goal:</a:t>
            </a:r>
          </a:p>
          <a:p>
            <a:pPr marL="165100" indent="0">
              <a:buNone/>
            </a:pPr>
            <a:endParaRPr lang="en-US" dirty="0"/>
          </a:p>
          <a:p>
            <a:pPr marL="165100" indent="0">
              <a:buNone/>
            </a:pPr>
            <a:r>
              <a:rPr lang="en-US" dirty="0"/>
              <a:t>This week, I was able to go to the gym, but since it was my first week back after a three-month break, I experienced quite a bit of body pain. While it felt good to start again and take a step toward my fitness goals, it was also a bit disheartening to realize that I don’t have the same strength I used to. However, I’m optimistic that with consistency, I’ll regain my previous fitness level.</a:t>
            </a:r>
          </a:p>
        </p:txBody>
      </p:sp>
    </p:spTree>
    <p:extLst>
      <p:ext uri="{BB962C8B-B14F-4D97-AF65-F5344CB8AC3E}">
        <p14:creationId xmlns:p14="http://schemas.microsoft.com/office/powerpoint/2010/main" val="2175452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endParaRPr dirty="0"/>
          </a:p>
          <a:p>
            <a:pPr marL="0" lvl="0" indent="0" algn="l" rtl="0">
              <a:spcBef>
                <a:spcPts val="800"/>
              </a:spcBef>
              <a:spcAft>
                <a:spcPts val="800"/>
              </a:spcAft>
              <a:buNone/>
            </a:pPr>
            <a:r>
              <a:rPr lang="en-US" dirty="0"/>
              <a:t>This week, I received feedback from </a:t>
            </a:r>
            <a:r>
              <a:rPr lang="en-US" dirty="0" err="1"/>
              <a:t>Erfan</a:t>
            </a:r>
            <a:r>
              <a:rPr lang="en-US" dirty="0"/>
              <a:t>, who is in his second year. He took a look at my Coursera course and mentioned that it’s great that I chose a goal closely related to this block. However, he suggested that instead of just watching the course, I should start coding more because, according to him, nothing will help me learn machine learning and Python better than hands-on practice. Since he has more experience, I’ve decided to follow his advice and focus more on coding to improve my understanding and skills.</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4" name="TextBox 3">
            <a:extLst>
              <a:ext uri="{FF2B5EF4-FFF2-40B4-BE49-F238E27FC236}">
                <a16:creationId xmlns:a16="http://schemas.microsoft.com/office/drawing/2014/main" id="{341C5D24-F975-BDE2-7D7B-0ECA5573EF8A}"/>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
        <p:nvSpPr>
          <p:cNvPr id="3" name="TextBox 2">
            <a:extLst>
              <a:ext uri="{FF2B5EF4-FFF2-40B4-BE49-F238E27FC236}">
                <a16:creationId xmlns:a16="http://schemas.microsoft.com/office/drawing/2014/main" id="{58240CD4-201B-21C5-A60E-90BBE84F8C9B}"/>
              </a:ext>
            </a:extLst>
          </p:cNvPr>
          <p:cNvSpPr txBox="1"/>
          <p:nvPr/>
        </p:nvSpPr>
        <p:spPr>
          <a:xfrm>
            <a:off x="5331243" y="1710546"/>
            <a:ext cx="3629882" cy="1600438"/>
          </a:xfrm>
          <a:prstGeom prst="rect">
            <a:avLst/>
          </a:prstGeom>
          <a:noFill/>
        </p:spPr>
        <p:txBody>
          <a:bodyPr wrap="square">
            <a:spAutoFit/>
          </a:bodyPr>
          <a:lstStyle/>
          <a:p>
            <a:r>
              <a:rPr lang="en-US" dirty="0"/>
              <a:t>This week, </a:t>
            </a:r>
            <a:r>
              <a:rPr lang="en-US" dirty="0" err="1"/>
              <a:t>Erfan</a:t>
            </a:r>
            <a:r>
              <a:rPr lang="en-US" dirty="0"/>
              <a:t>, a second-year student, reviewed my Coursera course and suggested focusing more on coding instead of just watching the course, as hands-on practice is key. I’ve decided to follow his advice to improve my skills and understanding.</a:t>
            </a:r>
          </a:p>
        </p:txBody>
      </p:sp>
    </p:spTree>
    <p:extLst>
      <p:ext uri="{BB962C8B-B14F-4D97-AF65-F5344CB8AC3E}">
        <p14:creationId xmlns:p14="http://schemas.microsoft.com/office/powerpoint/2010/main" val="3366952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182880" lvl="0" indent="-154940" algn="l" rtl="0">
              <a:spcBef>
                <a:spcPts val="0"/>
              </a:spcBef>
              <a:spcAft>
                <a:spcPts val="0"/>
              </a:spcAft>
              <a:buSzPts val="1000"/>
              <a:buChar char="●"/>
            </a:pPr>
            <a:endParaRPr lang="en" dirty="0"/>
          </a:p>
          <a:p>
            <a:pPr marL="27940" lvl="0" indent="0" algn="l" rtl="0">
              <a:spcBef>
                <a:spcPts val="0"/>
              </a:spcBef>
              <a:spcAft>
                <a:spcPts val="0"/>
              </a:spcAft>
              <a:buSzPts val="1000"/>
              <a:buNone/>
            </a:pPr>
            <a:r>
              <a:rPr lang="en-US" dirty="0"/>
              <a:t>This week, I set a goal for myself to focus more on math because we have a math assignment due next week, so I need to dedicate time to it. Additionally, I plan to work on answering tasks 3.3 of the creative brief, as it is this week’s assignment.</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 dirty="0"/>
              <a:t>What have you actually been able to do? </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t>This past week, I was able to finish Chapters 8 and 9 of machine learning. However, since I went through them quickly, I might revisit these chapters after this block to gain a clearer understanding of PCA and dimensionality reduction.</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 dirty="0"/>
              <a:t>Showcase the evidence of your progress (production artifacts, short </a:t>
            </a:r>
          </a:p>
          <a:p>
            <a:pPr marL="27940" lvl="0" indent="0" algn="l" rtl="0">
              <a:spcBef>
                <a:spcPts val="0"/>
              </a:spcBef>
              <a:spcAft>
                <a:spcPts val="0"/>
              </a:spcAft>
              <a:buSzPts val="1000"/>
              <a:buNone/>
            </a:pPr>
            <a:r>
              <a:rPr lang="en" dirty="0"/>
              <a:t>animated gifs, etc.)</a:t>
            </a:r>
            <a:endParaRPr lang="en" dirty="0">
              <a:hlinkClick r:id="rId3"/>
            </a:endParaRPr>
          </a:p>
          <a:p>
            <a:pPr marL="27940" lvl="0" indent="0" algn="l" rtl="0">
              <a:spcBef>
                <a:spcPts val="0"/>
              </a:spcBef>
              <a:spcAft>
                <a:spcPts val="0"/>
              </a:spcAft>
              <a:buSzPts val="1000"/>
              <a:buNone/>
            </a:pPr>
            <a:endParaRPr lang="en" dirty="0">
              <a:hlinkClick r:id="rId3"/>
            </a:endParaRPr>
          </a:p>
          <a:p>
            <a:pPr marL="27940" lvl="0" indent="0" algn="l" rtl="0">
              <a:spcBef>
                <a:spcPts val="0"/>
              </a:spcBef>
              <a:spcAft>
                <a:spcPts val="0"/>
              </a:spcAft>
              <a:buSzPts val="1000"/>
              <a:buNone/>
            </a:pPr>
            <a:r>
              <a:rPr lang="en-US" dirty="0">
                <a:highlight>
                  <a:srgbClr val="FFFF00"/>
                </a:highlight>
                <a:hlinkClick r:id="rId3"/>
              </a:rPr>
              <a:t>Math quiz</a:t>
            </a:r>
            <a:endParaRPr lang="en-US" dirty="0">
              <a:highlight>
                <a:srgbClr val="FFFF00"/>
              </a:highlight>
            </a:endParaRPr>
          </a:p>
          <a:p>
            <a:pPr marL="27940" lvl="0" indent="0" algn="l" rtl="0">
              <a:spcBef>
                <a:spcPts val="0"/>
              </a:spcBef>
              <a:spcAft>
                <a:spcPts val="0"/>
              </a:spcAft>
              <a:buSzPts val="1000"/>
              <a:buNone/>
            </a:pPr>
            <a:r>
              <a:rPr lang="en-US" dirty="0">
                <a:highlight>
                  <a:srgbClr val="FFFF00"/>
                </a:highlight>
                <a:hlinkClick r:id="rId4"/>
              </a:rPr>
              <a:t>Creative brief</a:t>
            </a:r>
            <a:endParaRPr lang="en-US" dirty="0">
              <a:highlight>
                <a:srgbClr val="FFFF00"/>
              </a:highlight>
            </a:endParaRPr>
          </a:p>
          <a:p>
            <a:pPr marL="27940" lvl="0" indent="0" algn="l" rtl="0">
              <a:spcBef>
                <a:spcPts val="0"/>
              </a:spcBef>
              <a:spcAft>
                <a:spcPts val="0"/>
              </a:spcAft>
              <a:buSzPts val="1000"/>
              <a:buNone/>
            </a:pPr>
            <a:endParaRPr lang="en-US" dirty="0">
              <a:highlight>
                <a:srgbClr val="FFFF00"/>
              </a:highlight>
            </a:endParaRPr>
          </a:p>
          <a:p>
            <a:pPr marL="27940" lvl="0" indent="0" algn="l" rtl="0">
              <a:spcBef>
                <a:spcPts val="0"/>
              </a:spcBef>
              <a:spcAft>
                <a:spcPts val="0"/>
              </a:spcAft>
              <a:buSzPts val="1000"/>
              <a:buNone/>
            </a:pPr>
            <a:r>
              <a:rPr lang="en-US" dirty="0"/>
              <a:t>This week, I successfully completed the math quizzes and finished the creative brief tasks assigned for this week.</a:t>
            </a:r>
            <a:endParaRPr dirty="0">
              <a:highlight>
                <a:srgbClr val="FFFF00"/>
              </a:highlight>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This week went well, but to be honest, Chapters 8 and 9 were a bit challenging for me, especially in terms of understanding the concepts and the math involved. However, with the help of books and ChatGPT, I believe I achieved a good score in my machine learning </a:t>
            </a:r>
            <a:r>
              <a:rPr lang="en-US" dirty="0" err="1"/>
              <a:t>Jupyter</a:t>
            </a:r>
            <a:r>
              <a:rPr lang="en-US" dirty="0"/>
              <a:t> Notebook.</a:t>
            </a:r>
          </a:p>
          <a:p>
            <a:pPr marL="27940" lvl="0" indent="0" algn="l" rtl="0">
              <a:spcBef>
                <a:spcPts val="0"/>
              </a:spcBef>
              <a:spcAft>
                <a:spcPts val="0"/>
              </a:spcAft>
              <a:buSzPts val="1000"/>
              <a:buNone/>
            </a:pPr>
            <a:r>
              <a:rPr lang="en" dirty="0"/>
              <a:t>What went well? </a:t>
            </a:r>
          </a:p>
          <a:p>
            <a:pPr marL="27940" lvl="0" indent="0" algn="l" rtl="0">
              <a:spcBef>
                <a:spcPts val="0"/>
              </a:spcBef>
              <a:spcAft>
                <a:spcPts val="0"/>
              </a:spcAft>
              <a:buSzPts val="1000"/>
              <a:buNone/>
            </a:pPr>
            <a:r>
              <a:rPr lang="en-US" dirty="0"/>
              <a:t>As I mentioned earlier, the creative brief went well this week. Additionally, as I had set a goal to focus on math, I dedicated more time to it this week to make next week easier.</a:t>
            </a:r>
          </a:p>
          <a:p>
            <a:pPr marL="27940" lvl="0" indent="0" algn="l" rtl="0">
              <a:spcBef>
                <a:spcPts val="0"/>
              </a:spcBef>
              <a:spcAft>
                <a:spcPts val="0"/>
              </a:spcAft>
              <a:buSzPts val="1000"/>
              <a:buNone/>
            </a:pPr>
            <a:r>
              <a:rPr lang="en" dirty="0"/>
              <a:t>What didn’t go so well?</a:t>
            </a:r>
          </a:p>
          <a:p>
            <a:pPr marL="27940" lvl="0" indent="0" algn="l" rtl="0">
              <a:spcBef>
                <a:spcPts val="0"/>
              </a:spcBef>
              <a:spcAft>
                <a:spcPts val="0"/>
              </a:spcAft>
              <a:buSzPts val="1000"/>
              <a:buNone/>
            </a:pPr>
            <a:r>
              <a:rPr lang="en-US" dirty="0"/>
              <a:t>Chapters 8 and 9 of *Hands-On Machine Learning* didn’t go as well as I had hoped; they were a bit challenging. However, I believe I can handle them and plan to revisit these two chapters after Block B for a better understanding.</a:t>
            </a:r>
          </a:p>
          <a:p>
            <a:pPr marL="27940" lvl="0" indent="0" algn="l" rtl="0">
              <a:spcBef>
                <a:spcPts val="0"/>
              </a:spcBef>
              <a:spcAft>
                <a:spcPts val="0"/>
              </a:spcAft>
              <a:buSzPts val="1000"/>
              <a:buNone/>
            </a:pPr>
            <a:r>
              <a:rPr lang="en" dirty="0"/>
              <a:t>What did you learn? ‘</a:t>
            </a:r>
          </a:p>
          <a:p>
            <a:pPr marL="27940" lvl="0" indent="0" algn="l" rtl="0">
              <a:spcBef>
                <a:spcPts val="0"/>
              </a:spcBef>
              <a:spcAft>
                <a:spcPts val="0"/>
              </a:spcAft>
              <a:buSzPts val="1000"/>
              <a:buNone/>
            </a:pPr>
            <a:r>
              <a:rPr lang="en-US" dirty="0"/>
              <a:t>My creative brief went well, and I am very happy with the progress I made.</a:t>
            </a:r>
          </a:p>
          <a:p>
            <a:pPr marL="27940" lvl="0" indent="0" algn="l" rtl="0">
              <a:spcBef>
                <a:spcPts val="0"/>
              </a:spcBef>
              <a:spcAft>
                <a:spcPts val="0"/>
              </a:spcAft>
              <a:buSzPts val="1000"/>
              <a:buNone/>
            </a:pPr>
            <a:r>
              <a:rPr lang="en" dirty="0"/>
              <a:t>What could be added as an Action point looking forward to next week?</a:t>
            </a:r>
          </a:p>
          <a:p>
            <a:pPr marL="27940" lvl="0" indent="0" algn="l" rtl="0">
              <a:spcBef>
                <a:spcPts val="0"/>
              </a:spcBef>
              <a:spcAft>
                <a:spcPts val="0"/>
              </a:spcAft>
              <a:buSzPts val="1000"/>
              <a:buNone/>
            </a:pPr>
            <a:r>
              <a:rPr lang="en-US" dirty="0"/>
              <a:t>For next week, if I have time, I would like to review Chapters 8 and 9 to gain a better understanding and be more prepared for the presentation at the end of Block B.</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31408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C17BA-94F7-F675-794E-EF9DC8CA4B6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97722DE-B3F2-A91A-1997-1B143F225AA1}"/>
              </a:ext>
            </a:extLst>
          </p:cNvPr>
          <p:cNvSpPr>
            <a:spLocks noGrp="1"/>
          </p:cNvSpPr>
          <p:nvPr>
            <p:ph type="body" idx="2"/>
          </p:nvPr>
        </p:nvSpPr>
        <p:spPr/>
        <p:txBody>
          <a:bodyPr/>
          <a:lstStyle/>
          <a:p>
            <a:r>
              <a:rPr lang="en-US" dirty="0"/>
              <a:t>Personal Goal:</a:t>
            </a:r>
          </a:p>
          <a:p>
            <a:pPr marL="165100" indent="0">
              <a:buNone/>
            </a:pPr>
            <a:endParaRPr lang="en-US" dirty="0"/>
          </a:p>
          <a:p>
            <a:pPr marL="165100" indent="0">
              <a:buNone/>
            </a:pPr>
            <a:r>
              <a:rPr lang="en-US" dirty="0"/>
              <a:t>This week, I wasn’t able to go to the gym like I did last week because it’s close to the holidays, and I felt like taking a break. I wasn’t really in the mood to study or work out, but I’m focusing on maintaining good nutrition to avoid gaining weight or losing muscle. While I took some time to rest, I’m determined to get back on track with both my fitness and studies soon.</a:t>
            </a:r>
          </a:p>
        </p:txBody>
      </p:sp>
    </p:spTree>
    <p:extLst>
      <p:ext uri="{BB962C8B-B14F-4D97-AF65-F5344CB8AC3E}">
        <p14:creationId xmlns:p14="http://schemas.microsoft.com/office/powerpoint/2010/main" val="1300069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endParaRPr dirty="0"/>
          </a:p>
          <a:p>
            <a:pPr marL="0" lvl="0" indent="0" algn="l" rtl="0">
              <a:spcBef>
                <a:spcPts val="800"/>
              </a:spcBef>
              <a:spcAft>
                <a:spcPts val="800"/>
              </a:spcAft>
              <a:buNone/>
            </a:pPr>
            <a:r>
              <a:rPr lang="en-US" dirty="0"/>
              <a:t>This week, I had a feedback session with my mentor, and she mentioned that I am doing well with my learning log and work log. However, I still have some challenges with math, so with her guidance, I decided to dedicate more time to studying math during weeks 9 and 10 of the challenge. </a:t>
            </a:r>
          </a:p>
          <a:p>
            <a:pPr marL="0" lvl="0" indent="0" algn="l" rtl="0">
              <a:spcBef>
                <a:spcPts val="800"/>
              </a:spcBef>
              <a:spcAft>
                <a:spcPts val="800"/>
              </a:spcAft>
              <a:buNone/>
            </a:pPr>
            <a:endParaRPr lang="en-US" dirty="0"/>
          </a:p>
          <a:p>
            <a:pPr marL="0" lvl="0" indent="0" algn="l" rtl="0">
              <a:spcBef>
                <a:spcPts val="800"/>
              </a:spcBef>
              <a:spcAft>
                <a:spcPts val="800"/>
              </a:spcAft>
              <a:buNone/>
            </a:pPr>
            <a:r>
              <a:rPr lang="en-US" dirty="0"/>
              <a:t>Additionally, I shared my creative brief with her, and she said my progress is good. She suggested that I include detailed explanations about what I have done to make it more comprehensive.</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4" name="TextBox 3">
            <a:extLst>
              <a:ext uri="{FF2B5EF4-FFF2-40B4-BE49-F238E27FC236}">
                <a16:creationId xmlns:a16="http://schemas.microsoft.com/office/drawing/2014/main" id="{99718CE5-D4B9-5703-2F5D-70C535C4D7E0}"/>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
        <p:nvSpPr>
          <p:cNvPr id="3" name="TextBox 2">
            <a:extLst>
              <a:ext uri="{FF2B5EF4-FFF2-40B4-BE49-F238E27FC236}">
                <a16:creationId xmlns:a16="http://schemas.microsoft.com/office/drawing/2014/main" id="{9F4B9E9B-6AF8-75AD-0774-7F3F3979CB07}"/>
              </a:ext>
            </a:extLst>
          </p:cNvPr>
          <p:cNvSpPr txBox="1"/>
          <p:nvPr/>
        </p:nvSpPr>
        <p:spPr>
          <a:xfrm>
            <a:off x="5278244" y="1402199"/>
            <a:ext cx="3733076" cy="1600438"/>
          </a:xfrm>
          <a:prstGeom prst="rect">
            <a:avLst/>
          </a:prstGeom>
          <a:noFill/>
        </p:spPr>
        <p:txBody>
          <a:bodyPr wrap="square">
            <a:spAutoFit/>
          </a:bodyPr>
          <a:lstStyle/>
          <a:p>
            <a:r>
              <a:rPr lang="en-US" dirty="0"/>
              <a:t>This week, </a:t>
            </a:r>
            <a:r>
              <a:rPr lang="en-US" dirty="0" err="1"/>
              <a:t>Erfan</a:t>
            </a:r>
            <a:r>
              <a:rPr lang="en-US" dirty="0"/>
              <a:t>, a second-year student, reviewed my Coursera course and suggested focusing more on coding instead of just watching the course, as hands-on practice is key. I’ve decided to follow his advice to improve my skills and understanding.</a:t>
            </a:r>
          </a:p>
        </p:txBody>
      </p:sp>
    </p:spTree>
    <p:extLst>
      <p:ext uri="{BB962C8B-B14F-4D97-AF65-F5344CB8AC3E}">
        <p14:creationId xmlns:p14="http://schemas.microsoft.com/office/powerpoint/2010/main" val="1600689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For Week 6, I set goals to practice math more effectively and complete assignments to the best of my ability with the highest possible scores. Additionally, I plan to perform feature engineering on my creative brief data and fill in parts of Section C in my learning log to make next week easier.</a:t>
            </a:r>
          </a:p>
          <a:p>
            <a:pPr marL="27940" lvl="0" indent="0" algn="l" rtl="0">
              <a:spcBef>
                <a:spcPts val="0"/>
              </a:spcBef>
              <a:spcAft>
                <a:spcPts val="0"/>
              </a:spcAft>
              <a:buSzPts val="1000"/>
              <a:buNone/>
            </a:pPr>
            <a:r>
              <a:rPr lang="en" dirty="0"/>
              <a:t>What have you actually been able to do? </a:t>
            </a:r>
          </a:p>
          <a:p>
            <a:pPr marL="27940" lvl="0" indent="0" algn="l" rtl="0">
              <a:spcBef>
                <a:spcPts val="0"/>
              </a:spcBef>
              <a:spcAft>
                <a:spcPts val="0"/>
              </a:spcAft>
              <a:buSzPts val="1000"/>
              <a:buNone/>
            </a:pPr>
            <a:r>
              <a:rPr lang="en-US" dirty="0"/>
              <a:t>I was able to complete the math assignment and work on feature engineering. I also made progress in my Coursera course, and overall, I think I did well this week.</a:t>
            </a:r>
          </a:p>
          <a:p>
            <a:pPr marL="27940" lvl="0" indent="0" algn="l" rtl="0">
              <a:spcBef>
                <a:spcPts val="0"/>
              </a:spcBef>
              <a:spcAft>
                <a:spcPts val="0"/>
              </a:spcAft>
              <a:buSzPts val="1000"/>
              <a:buNone/>
            </a:pPr>
            <a:r>
              <a:rPr lang="en" dirty="0"/>
              <a:t>Showcase the evidence of your progress (production artifacts, short descriptions-links-pictures animated gifs, etc.)</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hlinkClick r:id="rId3"/>
              </a:rPr>
              <a:t>Linear Assignment</a:t>
            </a:r>
            <a:endParaRPr lang="en-US" dirty="0"/>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t>The math assignment helped me gain a deeper understanding of the principles behind machine learning. It was incredibly satisfying to calculate results manually rather than relying on Scikit-learn, as it gave me a clearer picture of the underlying processes.</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This week went well. I feel more comfortable compared to the previous block, and I think I now have a clearer idea of what I need to do to achieve a better score at the end of Block B.</a:t>
            </a:r>
          </a:p>
          <a:p>
            <a:pPr marL="27940" lvl="0" indent="0" algn="l" rtl="0">
              <a:spcBef>
                <a:spcPts val="0"/>
              </a:spcBef>
              <a:spcAft>
                <a:spcPts val="0"/>
              </a:spcAft>
              <a:buSzPts val="1000"/>
              <a:buNone/>
            </a:pPr>
            <a:r>
              <a:rPr lang="en" dirty="0"/>
              <a:t>What went well? </a:t>
            </a:r>
          </a:p>
          <a:p>
            <a:pPr marL="27940" lvl="0" indent="0" algn="l" rtl="0">
              <a:spcBef>
                <a:spcPts val="0"/>
              </a:spcBef>
              <a:spcAft>
                <a:spcPts val="0"/>
              </a:spcAft>
              <a:buSzPts val="1000"/>
              <a:buNone/>
            </a:pPr>
            <a:r>
              <a:rPr lang="en-US" dirty="0"/>
              <a:t>Since I had already completed feature engineering in my previous tasks, there wasn’t much left to do for the creative brief, so I simply mentioned it in Task 3.4.</a:t>
            </a:r>
          </a:p>
          <a:p>
            <a:pPr marL="27940" lvl="0" indent="0" algn="l" rtl="0">
              <a:spcBef>
                <a:spcPts val="0"/>
              </a:spcBef>
              <a:spcAft>
                <a:spcPts val="0"/>
              </a:spcAft>
              <a:buSzPts val="1000"/>
              <a:buNone/>
            </a:pPr>
            <a:r>
              <a:rPr lang="en" dirty="0"/>
              <a:t>What didn’t go so well? </a:t>
            </a:r>
          </a:p>
          <a:p>
            <a:pPr marL="27940" lvl="0" indent="0" algn="l" rtl="0">
              <a:spcBef>
                <a:spcPts val="0"/>
              </a:spcBef>
              <a:spcAft>
                <a:spcPts val="0"/>
              </a:spcAft>
              <a:buSzPts val="1000"/>
              <a:buNone/>
            </a:pPr>
            <a:r>
              <a:rPr lang="en-US" dirty="0"/>
              <a:t>I couldn't fill in Section C of my learning log, but that's okay because I still have time to complete it.</a:t>
            </a:r>
          </a:p>
          <a:p>
            <a:pPr marL="27940" lvl="0" indent="0" algn="l" rtl="0">
              <a:spcBef>
                <a:spcPts val="0"/>
              </a:spcBef>
              <a:spcAft>
                <a:spcPts val="0"/>
              </a:spcAft>
              <a:buSzPts val="1000"/>
              <a:buNone/>
            </a:pPr>
            <a:r>
              <a:rPr lang="en" dirty="0"/>
              <a:t>What did you learn? </a:t>
            </a:r>
          </a:p>
          <a:p>
            <a:pPr marL="27940" lvl="0" indent="0" algn="l" rtl="0">
              <a:spcBef>
                <a:spcPts val="0"/>
              </a:spcBef>
              <a:spcAft>
                <a:spcPts val="0"/>
              </a:spcAft>
              <a:buSzPts val="1000"/>
              <a:buNone/>
            </a:pPr>
            <a:r>
              <a:rPr lang="en-US" dirty="0"/>
              <a:t>I understood the mathematical concepts behind machine learning better through the two assignments we had this week.</a:t>
            </a:r>
          </a:p>
          <a:p>
            <a:pPr marL="27940" lvl="0" indent="0" algn="l" rtl="0">
              <a:spcBef>
                <a:spcPts val="0"/>
              </a:spcBef>
              <a:spcAft>
                <a:spcPts val="0"/>
              </a:spcAft>
              <a:buSzPts val="1000"/>
              <a:buNone/>
            </a:pPr>
            <a:r>
              <a:rPr lang="en" dirty="0"/>
              <a:t>What could be added as an Action point looking forward to next week?</a:t>
            </a:r>
          </a:p>
          <a:p>
            <a:pPr marL="27940" lvl="0" indent="0" algn="l" rtl="0">
              <a:spcBef>
                <a:spcPts val="0"/>
              </a:spcBef>
              <a:spcAft>
                <a:spcPts val="0"/>
              </a:spcAft>
              <a:buSzPts val="1000"/>
              <a:buNone/>
            </a:pPr>
            <a:r>
              <a:rPr lang="en-US" dirty="0"/>
              <a:t>For next week, I plan to focus more on completing Section C of my learning log and finishing my work log to ensure I don't lose any points at the end of Block B.</a:t>
            </a:r>
          </a:p>
          <a:p>
            <a:pPr marL="27940" lvl="0" indent="0" algn="l" rtl="0">
              <a:spcBef>
                <a:spcPts val="0"/>
              </a:spcBef>
              <a:spcAft>
                <a:spcPts val="0"/>
              </a:spcAft>
              <a:buSzPts val="1000"/>
              <a:buNone/>
            </a:pPr>
            <a:r>
              <a:rPr lang="en-US" b="1" dirty="0"/>
              <a:t>Personal Goal:</a:t>
            </a:r>
          </a:p>
          <a:p>
            <a:pPr marL="27940" lvl="0" indent="0" algn="l" rtl="0">
              <a:spcBef>
                <a:spcPts val="0"/>
              </a:spcBef>
              <a:spcAft>
                <a:spcPts val="0"/>
              </a:spcAft>
              <a:buSzPts val="1000"/>
              <a:buNone/>
            </a:pPr>
            <a:r>
              <a:rPr lang="en-US" sz="900" dirty="0"/>
              <a:t>After two weeks of rest, it was difficult to start again, but I managed to go to the gym twice this week. It’s not as good as before the holiday, but I’m determined to keep pursuing this goal and gradually get back to my routine. During the holiday, I stayed on a diet to avoid gaining weight, which helped me maintain my progress, and I’m motivated to continue working on both my fitness and nutrition</a:t>
            </a:r>
            <a:r>
              <a:rPr lang="en-US" dirty="0"/>
              <a:t>.</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3163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endParaRPr dirty="0"/>
          </a:p>
          <a:p>
            <a:pPr marL="0" lvl="0" indent="0" algn="l" rtl="0">
              <a:spcBef>
                <a:spcPts val="800"/>
              </a:spcBef>
              <a:spcAft>
                <a:spcPts val="800"/>
              </a:spcAft>
              <a:buNone/>
            </a:pPr>
            <a:r>
              <a:rPr lang="en-US" dirty="0"/>
              <a:t>This is feedback from Nika. She reviewed my creative brief and mentioned that it’s good that my code is very clear and well-commented, making it easier for mentors to review at the end of the block. However, she pointed out that in the hyperparameter tuning section, I should use logistic regression instead of decision trees. I’ll need to make this change accordingly.</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4" name="TextBox 3">
            <a:extLst>
              <a:ext uri="{FF2B5EF4-FFF2-40B4-BE49-F238E27FC236}">
                <a16:creationId xmlns:a16="http://schemas.microsoft.com/office/drawing/2014/main" id="{4AB08CE0-9533-DFE2-D89E-D9E289BD7CD8}"/>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
        <p:nvSpPr>
          <p:cNvPr id="3" name="TextBox 2">
            <a:extLst>
              <a:ext uri="{FF2B5EF4-FFF2-40B4-BE49-F238E27FC236}">
                <a16:creationId xmlns:a16="http://schemas.microsoft.com/office/drawing/2014/main" id="{071756B2-664C-AD7C-8804-5035F79161E4}"/>
              </a:ext>
            </a:extLst>
          </p:cNvPr>
          <p:cNvSpPr txBox="1"/>
          <p:nvPr/>
        </p:nvSpPr>
        <p:spPr>
          <a:xfrm>
            <a:off x="5563813" y="1232922"/>
            <a:ext cx="2496587" cy="2677656"/>
          </a:xfrm>
          <a:prstGeom prst="rect">
            <a:avLst/>
          </a:prstGeom>
          <a:noFill/>
        </p:spPr>
        <p:txBody>
          <a:bodyPr wrap="square">
            <a:spAutoFit/>
          </a:bodyPr>
          <a:lstStyle/>
          <a:p>
            <a:r>
              <a:rPr lang="en-US" dirty="0"/>
              <a:t>I appreciate Nika's feedback on my creative brief. She highlighted that my code is clear and well-commented, which makes it easier for mentors to review. She also suggested using logistic regression instead of decision trees for hyperparameter tuning, and I plan to implement this change to improve my work.</a:t>
            </a:r>
          </a:p>
        </p:txBody>
      </p:sp>
    </p:spTree>
    <p:extLst>
      <p:ext uri="{BB962C8B-B14F-4D97-AF65-F5344CB8AC3E}">
        <p14:creationId xmlns:p14="http://schemas.microsoft.com/office/powerpoint/2010/main" val="23978758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For Week 7, I set goals to first complete my creative brief and finish the Coursera course. I also aimed to study math a bit more, complete my learning log and work log, and write my report for the creative brief.</a:t>
            </a:r>
            <a:endParaRPr dirty="0"/>
          </a:p>
          <a:p>
            <a:pPr marL="182880" lvl="0" indent="-154940" algn="l" rtl="0">
              <a:spcBef>
                <a:spcPts val="0"/>
              </a:spcBef>
              <a:spcAft>
                <a:spcPts val="0"/>
              </a:spcAft>
              <a:buSzPts val="1000"/>
              <a:buChar char="●"/>
            </a:pPr>
            <a:r>
              <a:rPr lang="en" dirty="0"/>
              <a:t>What have you actually been able to do? </a:t>
            </a:r>
          </a:p>
          <a:p>
            <a:pPr marL="27940" lvl="0" indent="0" algn="l" rtl="0">
              <a:spcBef>
                <a:spcPts val="0"/>
              </a:spcBef>
              <a:spcAft>
                <a:spcPts val="0"/>
              </a:spcAft>
              <a:buSzPts val="1000"/>
              <a:buNone/>
            </a:pPr>
            <a:r>
              <a:rPr lang="en-US" dirty="0"/>
              <a:t>Fortunately, I was able to finish my creative brief, complete Section C of my learning log, and write the report for the creative brief. The only remaining task is to provide evidence for my entries in Learning Log Section C and for my SMARTER goals.</a:t>
            </a:r>
            <a:endParaRPr dirty="0"/>
          </a:p>
          <a:p>
            <a:pPr marL="182880" lvl="0" indent="-154940" algn="l" rtl="0">
              <a:spcBef>
                <a:spcPts val="0"/>
              </a:spcBef>
              <a:spcAft>
                <a:spcPts val="0"/>
              </a:spcAft>
              <a:buSzPts val="1000"/>
              <a:buChar char="●"/>
            </a:pPr>
            <a:r>
              <a:rPr lang="en" dirty="0"/>
              <a:t>Showcase the evidence of your progress (production artifacts, short animated gifs, etc.)</a:t>
            </a:r>
          </a:p>
          <a:p>
            <a:pPr marL="182880" lvl="0" indent="-154940" algn="l" rtl="0">
              <a:spcBef>
                <a:spcPts val="0"/>
              </a:spcBef>
              <a:spcAft>
                <a:spcPts val="0"/>
              </a:spcAft>
              <a:buSzPts val="1000"/>
              <a:buChar char="●"/>
            </a:pPr>
            <a:endParaRPr lang="en" dirty="0"/>
          </a:p>
          <a:p>
            <a:pPr marL="182880" lvl="0" indent="-154940" algn="l" rtl="0">
              <a:spcBef>
                <a:spcPts val="0"/>
              </a:spcBef>
              <a:spcAft>
                <a:spcPts val="0"/>
              </a:spcAft>
              <a:buSzPts val="1000"/>
              <a:buChar char="●"/>
            </a:pPr>
            <a:r>
              <a:rPr lang="en-US" dirty="0">
                <a:hlinkClick r:id="rId3"/>
              </a:rPr>
              <a:t>Logistic Regression</a:t>
            </a:r>
            <a:endParaRPr lang="en-US" dirty="0"/>
          </a:p>
          <a:p>
            <a:pPr marL="182880" lvl="0" indent="-154940" algn="l" rtl="0">
              <a:spcBef>
                <a:spcPts val="0"/>
              </a:spcBef>
              <a:spcAft>
                <a:spcPts val="0"/>
              </a:spcAft>
              <a:buSzPts val="1000"/>
              <a:buChar char="●"/>
            </a:pPr>
            <a:endParaRPr lang="en-US" dirty="0"/>
          </a:p>
          <a:p>
            <a:pPr marL="27940" indent="0">
              <a:buNone/>
            </a:pPr>
            <a:r>
              <a:rPr lang="en-US" dirty="0"/>
              <a:t>The math assignment helped me gain a deeper understanding of the principles behind machine learning. It was incredibly satisfying to calculate results manually rather than relying on Scikit-learn, as it gave me a clearer picture of the underlying processes.</a:t>
            </a:r>
          </a:p>
          <a:p>
            <a:pPr marL="182880" lvl="0" indent="-154940" algn="l" rtl="0">
              <a:spcBef>
                <a:spcPts val="0"/>
              </a:spcBef>
              <a:spcAft>
                <a:spcPts val="0"/>
              </a:spcAft>
              <a:buSzPts val="1000"/>
              <a:buChar char="●"/>
            </a:pPr>
            <a:endParaRPr lang="en" dirty="0"/>
          </a:p>
          <a:p>
            <a:pPr marL="182880" lvl="0" indent="-154940" algn="l" rtl="0">
              <a:spcBef>
                <a:spcPts val="0"/>
              </a:spcBef>
              <a:spcAft>
                <a:spcPts val="0"/>
              </a:spcAft>
              <a:buSzPts val="1000"/>
              <a:buChar char="●"/>
            </a:pPr>
            <a:endParaRPr lang="en" dirty="0"/>
          </a:p>
          <a:p>
            <a:pPr marL="182880" lvl="0" indent="-154940" algn="l" rtl="0">
              <a:spcBef>
                <a:spcPts val="0"/>
              </a:spcBef>
              <a:spcAft>
                <a:spcPts val="0"/>
              </a:spcAft>
              <a:buSzPts val="1000"/>
              <a:buChar char="●"/>
            </a:pP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sz="900" dirty="0"/>
              <a:t>How did the week go?</a:t>
            </a:r>
          </a:p>
          <a:p>
            <a:pPr marL="27940" lvl="0" indent="0" algn="l" rtl="0">
              <a:spcBef>
                <a:spcPts val="0"/>
              </a:spcBef>
              <a:spcAft>
                <a:spcPts val="0"/>
              </a:spcAft>
              <a:buSzPts val="1000"/>
              <a:buNone/>
            </a:pPr>
            <a:r>
              <a:rPr lang="en-US" sz="900" dirty="0"/>
              <a:t>This week went well, and I believe there isn’t much left to do. I just need to prepare my presentation for Friday and provide evidence for Section C of my learning log.</a:t>
            </a:r>
            <a:r>
              <a:rPr lang="en" sz="900" dirty="0"/>
              <a:t> </a:t>
            </a:r>
            <a:endParaRPr sz="900" dirty="0"/>
          </a:p>
          <a:p>
            <a:pPr marL="182880" lvl="0" indent="-154940" algn="l" rtl="0">
              <a:spcBef>
                <a:spcPts val="0"/>
              </a:spcBef>
              <a:spcAft>
                <a:spcPts val="0"/>
              </a:spcAft>
              <a:buSzPts val="1000"/>
              <a:buChar char="●"/>
            </a:pPr>
            <a:r>
              <a:rPr lang="en" sz="900" dirty="0"/>
              <a:t>What went well? </a:t>
            </a:r>
          </a:p>
          <a:p>
            <a:pPr marL="27940" lvl="0" indent="0" algn="l" rtl="0">
              <a:spcBef>
                <a:spcPts val="0"/>
              </a:spcBef>
              <a:spcAft>
                <a:spcPts val="0"/>
              </a:spcAft>
              <a:buSzPts val="1000"/>
              <a:buNone/>
            </a:pPr>
            <a:r>
              <a:rPr lang="en-US" sz="900" dirty="0"/>
              <a:t>I am so happy to have completed my creative brief and to be performing better than in the previous block.</a:t>
            </a:r>
            <a:endParaRPr sz="900" dirty="0"/>
          </a:p>
          <a:p>
            <a:pPr marL="182880" lvl="0" indent="-154940" algn="l" rtl="0">
              <a:spcBef>
                <a:spcPts val="0"/>
              </a:spcBef>
              <a:spcAft>
                <a:spcPts val="0"/>
              </a:spcAft>
              <a:buSzPts val="1000"/>
              <a:buChar char="●"/>
            </a:pPr>
            <a:r>
              <a:rPr lang="en" sz="900" dirty="0"/>
              <a:t>What didn’t go so well? </a:t>
            </a:r>
          </a:p>
          <a:p>
            <a:pPr marL="27940" lvl="0" indent="0" algn="l" rtl="0">
              <a:spcBef>
                <a:spcPts val="0"/>
              </a:spcBef>
              <a:spcAft>
                <a:spcPts val="0"/>
              </a:spcAft>
              <a:buSzPts val="1000"/>
              <a:buNone/>
            </a:pPr>
            <a:r>
              <a:rPr lang="en-US" sz="900" dirty="0"/>
              <a:t>Honestly, nothing more; I am very satisfied with what I have accomplished so far.</a:t>
            </a:r>
            <a:endParaRPr sz="900" dirty="0"/>
          </a:p>
          <a:p>
            <a:pPr marL="182880" lvl="0" indent="-154940" algn="l" rtl="0">
              <a:spcBef>
                <a:spcPts val="0"/>
              </a:spcBef>
              <a:spcAft>
                <a:spcPts val="0"/>
              </a:spcAft>
              <a:buSzPts val="1000"/>
              <a:buChar char="●"/>
            </a:pPr>
            <a:r>
              <a:rPr lang="en" sz="900" dirty="0"/>
              <a:t>What did you learn? </a:t>
            </a:r>
          </a:p>
          <a:p>
            <a:pPr marL="27940" lvl="0" indent="0" algn="l" rtl="0">
              <a:spcBef>
                <a:spcPts val="0"/>
              </a:spcBef>
              <a:spcAft>
                <a:spcPts val="0"/>
              </a:spcAft>
              <a:buSzPts val="1000"/>
              <a:buNone/>
            </a:pPr>
            <a:r>
              <a:rPr lang="en-US" sz="900" dirty="0"/>
              <a:t>I learned how to perform feature engineering on my data, as well as how to use </a:t>
            </a:r>
            <a:r>
              <a:rPr lang="en-US" sz="900" dirty="0" err="1"/>
              <a:t>GridSearch</a:t>
            </a:r>
            <a:r>
              <a:rPr lang="en-US" sz="900" dirty="0"/>
              <a:t> and cross-validation for hyperparameter tuning to achieve more accurate scores for my models.</a:t>
            </a:r>
            <a:endParaRPr sz="900" dirty="0"/>
          </a:p>
          <a:p>
            <a:pPr marL="182880" lvl="0" indent="-154940" algn="l" rtl="0">
              <a:spcBef>
                <a:spcPts val="0"/>
              </a:spcBef>
              <a:spcAft>
                <a:spcPts val="0"/>
              </a:spcAft>
              <a:buSzPts val="1000"/>
              <a:buChar char="●"/>
            </a:pPr>
            <a:r>
              <a:rPr lang="en" sz="900" dirty="0"/>
              <a:t>What could be added as an Action point looking forward to next week?</a:t>
            </a:r>
          </a:p>
          <a:p>
            <a:pPr marL="27940" lvl="0" indent="0" algn="l" rtl="0">
              <a:spcBef>
                <a:spcPts val="0"/>
              </a:spcBef>
              <a:spcAft>
                <a:spcPts val="0"/>
              </a:spcAft>
              <a:buSzPts val="1000"/>
              <a:buNone/>
            </a:pPr>
            <a:r>
              <a:rPr lang="en-US" sz="900" dirty="0"/>
              <a:t>For next week, my primary focus will be to thoroughly prepare my presentation, ensure all evidence for my SMART goals is properly linked, and take the time to review my report carefully with my mentor to make any necessary improvements</a:t>
            </a:r>
            <a:r>
              <a:rPr lang="en" sz="900" dirty="0"/>
              <a:t>.</a:t>
            </a:r>
          </a:p>
          <a:p>
            <a:pPr marL="27940" lvl="0" indent="0" algn="l" rtl="0">
              <a:spcBef>
                <a:spcPts val="0"/>
              </a:spcBef>
              <a:spcAft>
                <a:spcPts val="0"/>
              </a:spcAft>
              <a:buSzPts val="1000"/>
              <a:buNone/>
            </a:pPr>
            <a:r>
              <a:rPr lang="en" sz="900" dirty="0"/>
              <a:t>Personal Goal:</a:t>
            </a:r>
          </a:p>
          <a:p>
            <a:pPr marL="27940" lvl="0" indent="0" algn="l" rtl="0">
              <a:spcBef>
                <a:spcPts val="0"/>
              </a:spcBef>
              <a:spcAft>
                <a:spcPts val="0"/>
              </a:spcAft>
              <a:buSzPts val="1000"/>
              <a:buNone/>
            </a:pPr>
            <a:r>
              <a:rPr lang="en-US" sz="800" dirty="0"/>
              <a:t>This is the last week of this block, and I want to reflect on the changes I’ve noticed after almost two months of going to the gym and maintaining a healthy diet. Overall, going to the gym has been a positive experience—it made me feel good physically and mentally. However, there were times when it was challenging to stay consistent, especially with the cold weather making it harder to step outside. Despite these difficulties, I’m proud of the progress I’ve made so far. Here is the link to my progress and changes after almost two months: [</a:t>
            </a:r>
            <a:r>
              <a:rPr lang="en-US" sz="800" dirty="0">
                <a:hlinkClick r:id="rId4"/>
              </a:rPr>
              <a:t>Insert Link</a:t>
            </a:r>
            <a:r>
              <a:rPr lang="en-US" sz="800" dirty="0"/>
              <a:t>].</a:t>
            </a:r>
            <a:endParaRPr sz="800"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25466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73318" y="1152852"/>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endParaRPr dirty="0"/>
          </a:p>
          <a:p>
            <a:pPr marL="0" lvl="0" indent="0" algn="l" rtl="0">
              <a:spcBef>
                <a:spcPts val="800"/>
              </a:spcBef>
              <a:spcAft>
                <a:spcPts val="800"/>
              </a:spcAft>
              <a:buNone/>
            </a:pPr>
            <a:r>
              <a:rPr lang="en-US" dirty="0"/>
              <a:t>I received feedback from my mentor, and she mentioned that I need to adjust my style when writing section C of my learning log. She also said that my worklog is good and that I just need to consistently provide evidence or write about my personal goals every week, which I’ve already started doing. Overall, I think everything is on track; I just need to focus on finalizing my report and preparing for my presentation on Friday.</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4" name="TextBox 3">
            <a:extLst>
              <a:ext uri="{FF2B5EF4-FFF2-40B4-BE49-F238E27FC236}">
                <a16:creationId xmlns:a16="http://schemas.microsoft.com/office/drawing/2014/main" id="{8058A61B-E4F8-64BA-11B4-82E7C0FE3D5C}"/>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
        <p:nvSpPr>
          <p:cNvPr id="6" name="TextBox 5">
            <a:extLst>
              <a:ext uri="{FF2B5EF4-FFF2-40B4-BE49-F238E27FC236}">
                <a16:creationId xmlns:a16="http://schemas.microsoft.com/office/drawing/2014/main" id="{2068654B-9E6E-3BA8-32D4-57AE6DC12229}"/>
              </a:ext>
            </a:extLst>
          </p:cNvPr>
          <p:cNvSpPr txBox="1"/>
          <p:nvPr/>
        </p:nvSpPr>
        <p:spPr>
          <a:xfrm>
            <a:off x="5345151" y="1152852"/>
            <a:ext cx="2795238" cy="2031325"/>
          </a:xfrm>
          <a:prstGeom prst="rect">
            <a:avLst/>
          </a:prstGeom>
          <a:noFill/>
        </p:spPr>
        <p:txBody>
          <a:bodyPr wrap="square">
            <a:spAutoFit/>
          </a:bodyPr>
          <a:lstStyle/>
          <a:p>
            <a:r>
              <a:rPr lang="en-US" dirty="0"/>
              <a:t>I’ll work on adjusting my writing style for section C of my learning log as suggested. I’m glad my work log is on the right track, and I’ll ensure to consistently provide updates on my personal goals. I’ll focus on finalizing my report and preparing thoroughly for my presentation on Friday.</a:t>
            </a:r>
          </a:p>
        </p:txBody>
      </p:sp>
    </p:spTree>
    <p:extLst>
      <p:ext uri="{BB962C8B-B14F-4D97-AF65-F5344CB8AC3E}">
        <p14:creationId xmlns:p14="http://schemas.microsoft.com/office/powerpoint/2010/main" val="6282947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8</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Reflection</a:t>
            </a:r>
            <a:endParaRPr dirty="0"/>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This week, my main goal is to finish my report for the creative brief and complete section C of my learning log thoroughly. Once I’ve wrapped up these tasks and delivered my presentation, I’m looking forward to enjoying a well-deserved two-week break. It’s been a busy block, and I’m excited to take some time off to recharge.</a:t>
            </a:r>
          </a:p>
          <a:p>
            <a:pPr marL="27940" lvl="0" indent="0" algn="l" rtl="0">
              <a:spcBef>
                <a:spcPts val="0"/>
              </a:spcBef>
              <a:spcAft>
                <a:spcPts val="0"/>
              </a:spcAft>
              <a:buSzPts val="1000"/>
              <a:buNone/>
            </a:pPr>
            <a:r>
              <a:rPr lang="en" dirty="0"/>
              <a:t>What have you actually been able to do?</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t>I was able to finish my report and prepare myself for the presentation. I made some final adjustments to my creative brief, reviewed it thoroughly, and re-ran all the sections to ensure everything was working perfectly without any issues. This preparation gave me confidence for the presentation, knowing I had double-checked everything.</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 dirty="0"/>
              <a:t>Showcase the evidence of your progress (production artifacts, short descriptions-links-pictures animated gifs, etc.)</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t>This is the evidence of my work showing that I have completed my report and prepared myself for the presentation. I wrote my report thoroughly and ensured that I explained everything clearly and in a structured way. I am confident that the report reflects all the necessary details and effectively communicates my work and </a:t>
            </a:r>
            <a:r>
              <a:rPr lang="en-US" dirty="0" err="1"/>
              <a:t>progress.</a:t>
            </a:r>
            <a:r>
              <a:rPr lang="en-US" dirty="0" err="1">
                <a:hlinkClick r:id="rId3"/>
              </a:rPr>
              <a:t>Report</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sz="900" dirty="0"/>
              <a:t>How did the week go? </a:t>
            </a:r>
          </a:p>
          <a:p>
            <a:pPr marL="27940" lvl="0" indent="0" algn="l" rtl="0">
              <a:spcBef>
                <a:spcPts val="0"/>
              </a:spcBef>
              <a:spcAft>
                <a:spcPts val="0"/>
              </a:spcAft>
              <a:buSzPts val="1000"/>
              <a:buNone/>
            </a:pPr>
            <a:r>
              <a:rPr lang="en-US" sz="900" dirty="0"/>
              <a:t>This is the evidence of my work showing that I have completed my report and prepared myself for the presentation. I wrote my report thoroughly and ensured that I explained everything clearly and in a structured way. I am confident that the report reflects all the necessary details and effectively communicates my work and progress.</a:t>
            </a:r>
          </a:p>
          <a:p>
            <a:pPr marL="27940" lvl="0" indent="0" algn="l" rtl="0">
              <a:spcBef>
                <a:spcPts val="0"/>
              </a:spcBef>
              <a:spcAft>
                <a:spcPts val="0"/>
              </a:spcAft>
              <a:buSzPts val="1000"/>
              <a:buNone/>
            </a:pPr>
            <a:r>
              <a:rPr lang="en" sz="900" dirty="0"/>
              <a:t>What went well? </a:t>
            </a:r>
          </a:p>
          <a:p>
            <a:pPr marL="182880" lvl="0" indent="-154940" algn="l" rtl="0">
              <a:spcBef>
                <a:spcPts val="0"/>
              </a:spcBef>
              <a:spcAft>
                <a:spcPts val="0"/>
              </a:spcAft>
              <a:buSzPts val="1000"/>
              <a:buChar char="●"/>
            </a:pPr>
            <a:r>
              <a:rPr lang="en-US" sz="900" dirty="0"/>
              <a:t>Everything went smoothly, and I’m really happy with how this block turned out. It feels great to have completed everything on time and made steady progress toward my goals.</a:t>
            </a:r>
          </a:p>
          <a:p>
            <a:pPr marL="182880" lvl="0" indent="-154940" algn="l" rtl="0">
              <a:spcBef>
                <a:spcPts val="0"/>
              </a:spcBef>
              <a:spcAft>
                <a:spcPts val="0"/>
              </a:spcAft>
              <a:buSzPts val="1000"/>
              <a:buChar char="●"/>
            </a:pPr>
            <a:r>
              <a:rPr lang="en" sz="900" dirty="0"/>
              <a:t>What didn’t go so well? </a:t>
            </a:r>
          </a:p>
          <a:p>
            <a:pPr marL="27940" lvl="0" indent="0" algn="l" rtl="0">
              <a:spcBef>
                <a:spcPts val="0"/>
              </a:spcBef>
              <a:spcAft>
                <a:spcPts val="0"/>
              </a:spcAft>
              <a:buSzPts val="1000"/>
              <a:buNone/>
            </a:pPr>
            <a:r>
              <a:rPr lang="en-US" sz="900" dirty="0"/>
              <a:t>There’s nothing more to add, as everything was well-organized and went according to plan. I’m pleased with how everything came together.</a:t>
            </a:r>
          </a:p>
          <a:p>
            <a:pPr marL="27940" lvl="0" indent="0" algn="l" rtl="0">
              <a:spcBef>
                <a:spcPts val="0"/>
              </a:spcBef>
              <a:spcAft>
                <a:spcPts val="0"/>
              </a:spcAft>
              <a:buSzPts val="1000"/>
              <a:buNone/>
            </a:pPr>
            <a:r>
              <a:rPr lang="en" sz="900" dirty="0"/>
              <a:t>What did you learn? </a:t>
            </a:r>
          </a:p>
          <a:p>
            <a:pPr marL="182880" lvl="0" indent="-154940" algn="l" rtl="0">
              <a:spcBef>
                <a:spcPts val="0"/>
              </a:spcBef>
              <a:spcAft>
                <a:spcPts val="0"/>
              </a:spcAft>
              <a:buSzPts val="1000"/>
              <a:buChar char="●"/>
            </a:pPr>
            <a:endParaRPr lang="en" sz="900" dirty="0"/>
          </a:p>
          <a:p>
            <a:pPr marL="27940" lvl="0" indent="0" algn="l" rtl="0">
              <a:spcBef>
                <a:spcPts val="0"/>
              </a:spcBef>
              <a:spcAft>
                <a:spcPts val="0"/>
              </a:spcAft>
              <a:buSzPts val="1000"/>
              <a:buNone/>
            </a:pPr>
            <a:r>
              <a:rPr lang="en-US" sz="900" dirty="0"/>
              <a:t>My goal for the future is to continue doing everything on time and avoid being in a hurry, just like I managed to do in this block. This week, I spent a lot of time writing about what I accomplished in my creative brief. It felt more like a review, which was a good opportunity to reflect on and refine my work. Overall, it was a productive and satisfying experience.</a:t>
            </a:r>
          </a:p>
          <a:p>
            <a:pPr marL="27940" lvl="0" indent="0" algn="l" rtl="0">
              <a:spcBef>
                <a:spcPts val="0"/>
              </a:spcBef>
              <a:spcAft>
                <a:spcPts val="0"/>
              </a:spcAft>
              <a:buSzPts val="1000"/>
              <a:buNone/>
            </a:pPr>
            <a:r>
              <a:rPr lang="en" sz="900" dirty="0"/>
              <a:t>What could be added as an Action point looking forward to next week?</a:t>
            </a:r>
          </a:p>
          <a:p>
            <a:pPr marL="27940" lvl="0" indent="0" algn="l" rtl="0">
              <a:spcBef>
                <a:spcPts val="0"/>
              </a:spcBef>
              <a:spcAft>
                <a:spcPts val="0"/>
              </a:spcAft>
              <a:buSzPts val="1000"/>
              <a:buNone/>
            </a:pPr>
            <a:r>
              <a:rPr lang="en-US" sz="900" dirty="0"/>
              <a:t>Moving forward, I want to focus more and dedicate extra time to my additional projects, such as my startup idea. Balancing my primary responsibilities with these side goals is important to me, and I believe allocating more time and energy to my startup will help me make meaningful progress in turning it into a reality.</a:t>
            </a:r>
            <a:endParaRPr sz="900"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8</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82021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8</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p>
          <a:p>
            <a:pPr marL="27940" lvl="0" indent="0" algn="l" rtl="0">
              <a:spcBef>
                <a:spcPts val="0"/>
              </a:spcBef>
              <a:spcAft>
                <a:spcPts val="0"/>
              </a:spcAft>
              <a:buSzPts val="1000"/>
              <a:buNone/>
            </a:pPr>
            <a:r>
              <a:rPr lang="en" dirty="0"/>
              <a:t> Try to keep your cod clean and filled with comments.</a:t>
            </a:r>
          </a:p>
          <a:p>
            <a:pPr marL="27940" lvl="0" indent="0" algn="l" rtl="0">
              <a:spcBef>
                <a:spcPts val="0"/>
              </a:spcBef>
              <a:spcAft>
                <a:spcPts val="0"/>
              </a:spcAft>
              <a:buSzPts val="1000"/>
              <a:buNone/>
            </a:pPr>
            <a:r>
              <a:rPr lang="en" dirty="0"/>
              <a:t> Make your presentation longer and practice to present better  and     longer.</a:t>
            </a:r>
          </a:p>
          <a:p>
            <a:pPr marL="27940" lvl="0" indent="0" algn="l" rtl="0">
              <a:spcBef>
                <a:spcPts val="0"/>
              </a:spcBef>
              <a:spcAft>
                <a:spcPts val="0"/>
              </a:spcAft>
              <a:buSzPts val="1000"/>
              <a:buNone/>
            </a:pPr>
            <a:r>
              <a:rPr lang="en" dirty="0"/>
              <a:t> Filip Grosicki 231874</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8</a:t>
            </a:r>
            <a:endParaRPr/>
          </a:p>
        </p:txBody>
      </p:sp>
      <p:sp>
        <p:nvSpPr>
          <p:cNvPr id="4" name="TextBox 3">
            <a:extLst>
              <a:ext uri="{FF2B5EF4-FFF2-40B4-BE49-F238E27FC236}">
                <a16:creationId xmlns:a16="http://schemas.microsoft.com/office/drawing/2014/main" id="{E4C397CE-AA8E-75FA-B537-08E4745DD9B7}"/>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
        <p:nvSpPr>
          <p:cNvPr id="3" name="TextBox 2">
            <a:extLst>
              <a:ext uri="{FF2B5EF4-FFF2-40B4-BE49-F238E27FC236}">
                <a16:creationId xmlns:a16="http://schemas.microsoft.com/office/drawing/2014/main" id="{644B87CC-9853-9E34-46C8-A6C526F1FC37}"/>
              </a:ext>
            </a:extLst>
          </p:cNvPr>
          <p:cNvSpPr txBox="1"/>
          <p:nvPr/>
        </p:nvSpPr>
        <p:spPr>
          <a:xfrm>
            <a:off x="4393580" y="2414830"/>
            <a:ext cx="4109522" cy="954107"/>
          </a:xfrm>
          <a:prstGeom prst="rect">
            <a:avLst/>
          </a:prstGeom>
          <a:noFill/>
        </p:spPr>
        <p:txBody>
          <a:bodyPr wrap="square">
            <a:spAutoFit/>
          </a:bodyPr>
          <a:lstStyle/>
          <a:p>
            <a:r>
              <a:rPr lang="en-US" dirty="0"/>
              <a:t>Response:</a:t>
            </a:r>
          </a:p>
          <a:p>
            <a:r>
              <a:rPr lang="en-US" dirty="0"/>
              <a:t>I tried my best to prepare a strong presentation and added comments to my code to ensure the coding part was clear and easy to understand.</a:t>
            </a:r>
          </a:p>
        </p:txBody>
      </p:sp>
    </p:spTree>
    <p:extLst>
      <p:ext uri="{BB962C8B-B14F-4D97-AF65-F5344CB8AC3E}">
        <p14:creationId xmlns:p14="http://schemas.microsoft.com/office/powerpoint/2010/main" val="36579777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8"/>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NL" sz="6000"/>
              <a:t>C</a:t>
            </a:r>
            <a:endParaRPr sz="6000"/>
          </a:p>
        </p:txBody>
      </p:sp>
      <p:sp>
        <p:nvSpPr>
          <p:cNvPr id="357" name="Google Shape;357;p38"/>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a:t>
            </a:r>
            <a:endParaRPr/>
          </a:p>
          <a:p>
            <a:pPr marL="0" lvl="0" indent="0" algn="ctr" rtl="0">
              <a:spcBef>
                <a:spcPts val="0"/>
              </a:spcBef>
              <a:spcAft>
                <a:spcPts val="0"/>
              </a:spcAft>
              <a:buNone/>
            </a:pPr>
            <a:r>
              <a:rPr lang="en"/>
              <a:t>Intended Learning Outcomes</a:t>
            </a:r>
            <a:endParaRPr sz="3000"/>
          </a:p>
        </p:txBody>
      </p:sp>
      <p:sp>
        <p:nvSpPr>
          <p:cNvPr id="358" name="Google Shape;358;p38"/>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a:solidFill>
                  <a:srgbClr val="999999"/>
                </a:solidFill>
                <a:latin typeface="Roboto"/>
                <a:ea typeface="Roboto"/>
                <a:cs typeface="Roboto"/>
                <a:sym typeface="Roboto"/>
              </a:rPr>
              <a:t>C</a:t>
            </a:r>
            <a:endParaRPr sz="40000">
              <a:solidFill>
                <a:srgbClr val="999999"/>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0.2</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Foundational skills</a:t>
            </a:r>
            <a:endParaRP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indent="0"/>
            <a:r>
              <a:rPr lang="en-US"/>
              <a:t>The student masters the foundational skills and knowledge that form the basis of Data Science and Artificial Intelligence.  </a:t>
            </a:r>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0</a:t>
            </a:r>
            <a:endParaRPr sz="40000">
              <a:solidFill>
                <a:srgbClr val="999999"/>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a:t>
            </a:r>
            <a:r>
              <a:rPr lang="en-US"/>
              <a:t>0</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indent="0"/>
            <a:r>
              <a:rPr lang="en-US" sz="1050"/>
              <a:t>The student masters the foundational skills and knowledge that form the basis of Data Science and Artificial Intelligence.  </a:t>
            </a:r>
            <a:endParaRPr lang="en-GB"/>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0.2</a:t>
            </a:r>
            <a:endParaRP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US" i="0"/>
              <a:t>The students is able to demonstrate an advanced understanding of python programming concepts and basics of SQL.</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Foundational skills</a:t>
            </a:r>
            <a:endParaRPr sz="900"/>
          </a:p>
        </p:txBody>
      </p:sp>
      <p:graphicFrame>
        <p:nvGraphicFramePr>
          <p:cNvPr id="4" name="Table 3">
            <a:extLst>
              <a:ext uri="{FF2B5EF4-FFF2-40B4-BE49-F238E27FC236}">
                <a16:creationId xmlns:a16="http://schemas.microsoft.com/office/drawing/2014/main" id="{88237E1D-86A5-F036-5877-8DE06B55CF72}"/>
              </a:ext>
            </a:extLst>
          </p:cNvPr>
          <p:cNvGraphicFramePr>
            <a:graphicFrameLocks noGrp="1"/>
          </p:cNvGraphicFramePr>
          <p:nvPr>
            <p:extLst>
              <p:ext uri="{D42A27DB-BD31-4B8C-83A1-F6EECF244321}">
                <p14:modId xmlns:p14="http://schemas.microsoft.com/office/powerpoint/2010/main" val="3047115312"/>
              </p:ext>
            </p:extLst>
          </p:nvPr>
        </p:nvGraphicFramePr>
        <p:xfrm>
          <a:off x="0" y="1069800"/>
          <a:ext cx="9139639" cy="4872981"/>
        </p:xfrm>
        <a:graphic>
          <a:graphicData uri="http://schemas.openxmlformats.org/drawingml/2006/table">
            <a:tbl>
              <a:tblPr/>
              <a:tblGrid>
                <a:gridCol w="1724722">
                  <a:extLst>
                    <a:ext uri="{9D8B030D-6E8A-4147-A177-3AD203B41FA5}">
                      <a16:colId xmlns:a16="http://schemas.microsoft.com/office/drawing/2014/main" val="155233656"/>
                    </a:ext>
                  </a:extLst>
                </a:gridCol>
                <a:gridCol w="1564837">
                  <a:extLst>
                    <a:ext uri="{9D8B030D-6E8A-4147-A177-3AD203B41FA5}">
                      <a16:colId xmlns:a16="http://schemas.microsoft.com/office/drawing/2014/main" val="2278356070"/>
                    </a:ext>
                  </a:extLst>
                </a:gridCol>
                <a:gridCol w="1462520">
                  <a:extLst>
                    <a:ext uri="{9D8B030D-6E8A-4147-A177-3AD203B41FA5}">
                      <a16:colId xmlns:a16="http://schemas.microsoft.com/office/drawing/2014/main" val="1234828313"/>
                    </a:ext>
                  </a:extLst>
                </a:gridCol>
                <a:gridCol w="1462520">
                  <a:extLst>
                    <a:ext uri="{9D8B030D-6E8A-4147-A177-3AD203B41FA5}">
                      <a16:colId xmlns:a16="http://schemas.microsoft.com/office/drawing/2014/main" val="2890251847"/>
                    </a:ext>
                  </a:extLst>
                </a:gridCol>
                <a:gridCol w="1462520">
                  <a:extLst>
                    <a:ext uri="{9D8B030D-6E8A-4147-A177-3AD203B41FA5}">
                      <a16:colId xmlns:a16="http://schemas.microsoft.com/office/drawing/2014/main" val="2105771382"/>
                    </a:ext>
                  </a:extLst>
                </a:gridCol>
                <a:gridCol w="1462520">
                  <a:extLst>
                    <a:ext uri="{9D8B030D-6E8A-4147-A177-3AD203B41FA5}">
                      <a16:colId xmlns:a16="http://schemas.microsoft.com/office/drawing/2014/main" val="1029514408"/>
                    </a:ext>
                  </a:extLst>
                </a:gridCol>
              </a:tblGrid>
              <a:tr h="407371">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C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D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E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extLst>
                  <a:ext uri="{0D108BD9-81ED-4DB2-BD59-A6C34878D82A}">
                    <a16:rowId xmlns:a16="http://schemas.microsoft.com/office/drawing/2014/main" val="537700777"/>
                  </a:ext>
                </a:extLst>
              </a:tr>
              <a:tr h="1101977">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EF2CD"/>
                        </a:highlight>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EF2CD"/>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should submit the relevant Python Notebooks addressing the creative brief.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endParaRPr lang="en-US" sz="1000" noProof="0">
                        <a:latin typeface="Calibri"/>
                      </a:endParaRPr>
                    </a:p>
                    <a:p>
                      <a:pPr lvl="0" algn="l">
                        <a:buNone/>
                      </a:pPr>
                      <a:endParaRPr lang="en-US" sz="1000" b="0" i="0" u="none" strike="noStrike">
                        <a:solidFill>
                          <a:srgbClr val="000000"/>
                        </a:solidFill>
                        <a:effectLst/>
                        <a:highlight>
                          <a:srgbClr val="FEF2CD"/>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buNone/>
                      </a:pPr>
                      <a:endParaRPr lang="en-US" sz="1000" b="0" i="0" u="none" strike="noStrike">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demonstrate an understanding of the concept of working directory, file types and file structures in Python.</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perform basic data cleansing activities in Python with or without using packages. Additionally, the student is able to demonstrate significant understanding of </a:t>
                      </a:r>
                      <a:r>
                        <a:rPr lang="en-US" sz="1000" b="0" i="0" u="none" strike="noStrike" noProof="0" err="1">
                          <a:solidFill>
                            <a:srgbClr val="000000"/>
                          </a:solidFill>
                          <a:effectLst/>
                          <a:highlight>
                            <a:srgbClr val="FFE1CC"/>
                          </a:highlight>
                          <a:latin typeface="Calibri"/>
                        </a:rPr>
                        <a:t>Numpy</a:t>
                      </a:r>
                      <a:r>
                        <a:rPr lang="en-US" sz="1000" b="0" i="0" u="none" strike="noStrike" noProof="0">
                          <a:solidFill>
                            <a:srgbClr val="000000"/>
                          </a:solidFill>
                          <a:effectLst/>
                          <a:highlight>
                            <a:srgbClr val="FFE1CC"/>
                          </a:highlight>
                          <a:latin typeface="Calibri"/>
                        </a:rPr>
                        <a:t>.</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design reports and visuals (e.g., using matplotlib, </a:t>
                      </a:r>
                      <a:r>
                        <a:rPr lang="en-US" sz="1000" b="0" i="0" u="none" strike="noStrike" noProof="0" err="1">
                          <a:solidFill>
                            <a:srgbClr val="000000"/>
                          </a:solidFill>
                          <a:effectLst/>
                          <a:highlight>
                            <a:srgbClr val="FFE1CC"/>
                          </a:highlight>
                          <a:latin typeface="Calibri"/>
                        </a:rPr>
                        <a:t>Streamlit</a:t>
                      </a:r>
                      <a:r>
                        <a:rPr lang="en-US" sz="1000" b="0" i="0" u="none" strike="noStrike" noProof="0">
                          <a:solidFill>
                            <a:srgbClr val="000000"/>
                          </a:solidFill>
                          <a:effectLst/>
                          <a:highlight>
                            <a:srgbClr val="FFE1CC"/>
                          </a:highlight>
                          <a:latin typeface="Calibri"/>
                        </a:rPr>
                        <a:t> ) based on the merged datasets which help providing valuable and actionable insights.</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demonstrates the capability to establish a connection between Python and a database,  perform basic ETL operations such as read/write.</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join two different tables using SQL and uses this to fulfill the requirements of creative brief.</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extLst>
                  <a:ext uri="{0D108BD9-81ED-4DB2-BD59-A6C34878D82A}">
                    <a16:rowId xmlns:a16="http://schemas.microsoft.com/office/drawing/2014/main" val="1364420496"/>
                  </a:ext>
                </a:extLst>
              </a:tr>
              <a:tr h="2631687">
                <a:tc>
                  <a:txBody>
                    <a:bodyPr/>
                    <a:lstStyle/>
                    <a:p>
                      <a:pPr algn="ctr" rtl="0" fontAlgn="t"/>
                      <a:r>
                        <a:rPr lang="en-US" sz="1800" b="1" i="0" u="none" strike="noStrike" dirty="0">
                          <a:solidFill>
                            <a:schemeClr val="tx1">
                              <a:lumMod val="75000"/>
                            </a:schemeClr>
                          </a:solidFill>
                          <a:effectLst/>
                          <a:highlight>
                            <a:srgbClr val="FEF2CD"/>
                          </a:highlight>
                          <a:latin typeface="Calibri" panose="020F0502020204030204" pitchFamily="34" charset="0"/>
                          <a:hlinkClick r:id="rId3"/>
                        </a:rPr>
                        <a:t>Worklog</a:t>
                      </a:r>
                      <a:endParaRPr lang="en-US" sz="1800" b="1" i="0" u="none" strike="noStrike" dirty="0">
                        <a:solidFill>
                          <a:schemeClr val="tx1">
                            <a:lumMod val="75000"/>
                          </a:schemeClr>
                        </a:solidFill>
                        <a:effectLst/>
                        <a:highlight>
                          <a:srgbClr val="FEF2CD"/>
                        </a:highlight>
                        <a:latin typeface="Calibri" panose="020F0502020204030204" pitchFamily="34" charset="0"/>
                      </a:endParaRPr>
                    </a:p>
                    <a:p>
                      <a:pPr algn="ctr" rtl="0" fontAlgn="t"/>
                      <a:r>
                        <a:rPr lang="en-US" sz="1800" b="1" i="0" u="none" strike="noStrike" dirty="0">
                          <a:solidFill>
                            <a:schemeClr val="tx1">
                              <a:lumMod val="75000"/>
                            </a:schemeClr>
                          </a:solidFill>
                          <a:effectLst/>
                          <a:highlight>
                            <a:srgbClr val="FEF2CD"/>
                          </a:highlight>
                          <a:latin typeface="Calibri" panose="020F0502020204030204" pitchFamily="34" charset="0"/>
                          <a:hlinkClick r:id="rId4"/>
                        </a:rPr>
                        <a:t>Creative brief</a:t>
                      </a:r>
                      <a:endParaRPr lang="en-US" sz="1800" b="1" i="0" u="none" strike="noStrike" dirty="0">
                        <a:solidFill>
                          <a:schemeClr val="tx1">
                            <a:lumMod val="75000"/>
                          </a:schemeClr>
                        </a:solidFill>
                        <a:effectLst/>
                        <a:highlight>
                          <a:srgbClr val="FEF2CD"/>
                        </a:highlight>
                        <a:latin typeface="Calibri" panose="020F0502020204030204" pitchFamily="34" charset="0"/>
                      </a:endParaRPr>
                    </a:p>
                    <a:p>
                      <a:pPr algn="ctr" rtl="0" fontAlgn="t"/>
                      <a:r>
                        <a:rPr lang="en-US" sz="1800" b="1" i="0" u="none" strike="noStrike" dirty="0">
                          <a:solidFill>
                            <a:schemeClr val="tx1">
                              <a:lumMod val="75000"/>
                            </a:schemeClr>
                          </a:solidFill>
                          <a:effectLst/>
                          <a:highlight>
                            <a:srgbClr val="FEF2CD"/>
                          </a:highlight>
                          <a:latin typeface="Calibri" panose="020F0502020204030204" pitchFamily="34" charset="0"/>
                          <a:hlinkClick r:id="rId5"/>
                        </a:rPr>
                        <a:t>Self </a:t>
                      </a:r>
                      <a:r>
                        <a:rPr lang="en-US" sz="1800" b="1" i="0" u="none" strike="noStrike" dirty="0" err="1">
                          <a:solidFill>
                            <a:schemeClr val="tx1">
                              <a:lumMod val="75000"/>
                            </a:schemeClr>
                          </a:solidFill>
                          <a:effectLst/>
                          <a:highlight>
                            <a:srgbClr val="FEF2CD"/>
                          </a:highlight>
                          <a:latin typeface="Calibri" panose="020F0502020204030204" pitchFamily="34" charset="0"/>
                          <a:hlinkClick r:id="rId5"/>
                        </a:rPr>
                        <a:t>assesment</a:t>
                      </a:r>
                      <a:r>
                        <a:rPr lang="en-US" sz="1800" b="1" i="0" u="none" strike="noStrike" dirty="0">
                          <a:solidFill>
                            <a:schemeClr val="tx1">
                              <a:lumMod val="75000"/>
                            </a:schemeClr>
                          </a:solidFill>
                          <a:effectLst/>
                          <a:highlight>
                            <a:srgbClr val="FEF2CD"/>
                          </a:highlight>
                          <a:latin typeface="Calibri" panose="020F0502020204030204" pitchFamily="34" charset="0"/>
                          <a:hlinkClick r:id="rId5"/>
                        </a:rPr>
                        <a:t> rubric</a:t>
                      </a:r>
                      <a:endParaRPr lang="en-US" sz="1800" b="1" i="0" u="none" strike="noStrike" dirty="0">
                        <a:solidFill>
                          <a:schemeClr val="tx1">
                            <a:lumMod val="75000"/>
                          </a:schemeClr>
                        </a:solidFill>
                        <a:effectLst/>
                        <a:highlight>
                          <a:srgbClr val="FEF2CD"/>
                        </a:highlight>
                        <a:latin typeface="Calibri" panose="020F0502020204030204" pitchFamily="34" charset="0"/>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ctr">
                        <a:lnSpc>
                          <a:spcPct val="100000"/>
                        </a:lnSpc>
                        <a:spcBef>
                          <a:spcPts val="0"/>
                        </a:spcBef>
                        <a:spcAft>
                          <a:spcPts val="0"/>
                        </a:spcAft>
                        <a:buNone/>
                      </a:pPr>
                      <a:r>
                        <a:rPr lang="en-US" sz="1000" dirty="0">
                          <a:highlight>
                            <a:srgbClr val="FEF2CD"/>
                          </a:highlight>
                        </a:rPr>
                        <a:t>I successfully completed the coding part section A in PostgreSQL, where I was able to check my columns and identify missing values in my dataset using both PostgreSQL and SQL.</a:t>
                      </a:r>
                    </a:p>
                    <a:p>
                      <a:pPr lvl="0" algn="ctr">
                        <a:lnSpc>
                          <a:spcPct val="100000"/>
                        </a:lnSpc>
                        <a:spcBef>
                          <a:spcPts val="0"/>
                        </a:spcBef>
                        <a:spcAft>
                          <a:spcPts val="0"/>
                        </a:spcAft>
                        <a:buNone/>
                      </a:pPr>
                      <a:r>
                        <a:rPr lang="en-US" sz="1000" b="1" i="0" u="none" strike="noStrike" noProof="0" dirty="0">
                          <a:solidFill>
                            <a:schemeClr val="tx1">
                              <a:lumMod val="75000"/>
                            </a:schemeClr>
                          </a:solidFill>
                          <a:effectLst/>
                          <a:highlight>
                            <a:srgbClr val="FEF2CD"/>
                          </a:highlight>
                          <a:latin typeface="Calibri"/>
                          <a:hlinkClick r:id="rId4"/>
                        </a:rPr>
                        <a:t>Creative brief</a:t>
                      </a:r>
                      <a:endParaRPr lang="en-US" sz="1000" b="1" i="0" u="none" strike="noStrike" noProof="0" dirty="0">
                        <a:solidFill>
                          <a:schemeClr val="tx1">
                            <a:lumMod val="75000"/>
                          </a:schemeClr>
                        </a:solidFill>
                        <a:effectLst/>
                        <a:highlight>
                          <a:srgbClr val="FEF2CD"/>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r>
                        <a:rPr lang="en-US" sz="1000" b="1" i="0" u="none" strike="noStrike" dirty="0">
                          <a:solidFill>
                            <a:schemeClr val="tx1">
                              <a:lumMod val="75000"/>
                            </a:schemeClr>
                          </a:solidFill>
                          <a:effectLst/>
                          <a:latin typeface="Calibri"/>
                        </a:rPr>
                        <a:t>In sections A and B of my work, I utilized NumPy to explore and analyze the dataset, gaining a comprehensive understanding of its content. </a:t>
                      </a:r>
                    </a:p>
                    <a:p>
                      <a:pPr lvl="0" algn="ctr">
                        <a:buNone/>
                      </a:pPr>
                      <a:r>
                        <a:rPr lang="en-US" sz="1000" b="1" i="0" u="none" strike="noStrike" dirty="0">
                          <a:solidFill>
                            <a:schemeClr val="tx1">
                              <a:lumMod val="75000"/>
                            </a:schemeClr>
                          </a:solidFill>
                          <a:effectLst/>
                          <a:highlight>
                            <a:srgbClr val="FFE1CC"/>
                          </a:highlight>
                          <a:latin typeface="Calibri"/>
                          <a:hlinkClick r:id="rId4"/>
                        </a:rPr>
                        <a:t>Creative brief</a:t>
                      </a:r>
                      <a:endParaRPr lang="en-US" sz="1000" b="1" i="0" u="none" strike="noStrike" dirty="0">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buNone/>
                      </a:pPr>
                      <a:r>
                        <a:rPr lang="en-US" sz="1050" b="1" i="0" u="none" strike="noStrike" dirty="0">
                          <a:solidFill>
                            <a:schemeClr val="tx1">
                              <a:lumMod val="75000"/>
                            </a:schemeClr>
                          </a:solidFill>
                          <a:effectLst/>
                          <a:latin typeface="Calibri"/>
                        </a:rPr>
                        <a:t>In Section 2 of my </a:t>
                      </a:r>
                      <a:r>
                        <a:rPr lang="en-US" sz="1050" b="1" i="0" u="none" strike="noStrike" dirty="0" err="1">
                          <a:solidFill>
                            <a:schemeClr val="tx1">
                              <a:lumMod val="75000"/>
                            </a:schemeClr>
                          </a:solidFill>
                          <a:effectLst/>
                          <a:latin typeface="Calibri"/>
                        </a:rPr>
                        <a:t>Jupyter</a:t>
                      </a:r>
                      <a:r>
                        <a:rPr lang="en-US" sz="1050" b="1" i="0" u="none" strike="noStrike" dirty="0">
                          <a:solidFill>
                            <a:schemeClr val="tx1">
                              <a:lumMod val="75000"/>
                            </a:schemeClr>
                          </a:solidFill>
                          <a:effectLst/>
                          <a:latin typeface="Calibri"/>
                        </a:rPr>
                        <a:t> Notebook, I utilized </a:t>
                      </a:r>
                      <a:r>
                        <a:rPr lang="en-US" sz="1050" b="1" i="0" u="none" strike="noStrike" dirty="0" err="1">
                          <a:solidFill>
                            <a:schemeClr val="tx1">
                              <a:lumMod val="75000"/>
                            </a:schemeClr>
                          </a:solidFill>
                          <a:effectLst/>
                          <a:latin typeface="Calibri"/>
                        </a:rPr>
                        <a:t>matplotlib.pyplot</a:t>
                      </a:r>
                      <a:r>
                        <a:rPr lang="en-US" sz="1050" b="1" i="0" u="none" strike="noStrike" dirty="0">
                          <a:solidFill>
                            <a:schemeClr val="tx1">
                              <a:lumMod val="75000"/>
                            </a:schemeClr>
                          </a:solidFill>
                          <a:effectLst/>
                          <a:latin typeface="Calibri"/>
                        </a:rPr>
                        <a:t> to create multiple visualizations</a:t>
                      </a:r>
                    </a:p>
                    <a:p>
                      <a:pPr lvl="0" algn="ctr">
                        <a:buNone/>
                      </a:pPr>
                      <a:r>
                        <a:rPr lang="en-US" sz="1050" b="1" i="0" u="none" strike="noStrike" dirty="0">
                          <a:solidFill>
                            <a:schemeClr val="tx1">
                              <a:lumMod val="75000"/>
                            </a:schemeClr>
                          </a:solidFill>
                          <a:effectLst/>
                          <a:highlight>
                            <a:srgbClr val="FFE1CC"/>
                          </a:highlight>
                          <a:latin typeface="Calibri"/>
                          <a:hlinkClick r:id="rId4"/>
                        </a:rPr>
                        <a:t>Creative brief</a:t>
                      </a:r>
                      <a:endParaRPr lang="en-US" sz="1050" b="1" i="0" u="none" strike="noStrike" dirty="0">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050" b="1" i="0" u="none" strike="noStrike" noProof="0" dirty="0">
                          <a:solidFill>
                            <a:schemeClr val="tx1">
                              <a:lumMod val="75000"/>
                            </a:schemeClr>
                          </a:solidFill>
                          <a:effectLst/>
                          <a:latin typeface="Calibri"/>
                        </a:rPr>
                        <a:t>Using a combination of a book and YouTube courses, I developed the skills to write SQL code effectively. In Section A, I demonstrated this by writing basic SQL queries.</a:t>
                      </a:r>
                    </a:p>
                    <a:p>
                      <a:pPr lvl="0" algn="ctr">
                        <a:lnSpc>
                          <a:spcPct val="100000"/>
                        </a:lnSpc>
                        <a:spcBef>
                          <a:spcPts val="0"/>
                        </a:spcBef>
                        <a:spcAft>
                          <a:spcPts val="0"/>
                        </a:spcAft>
                        <a:buNone/>
                      </a:pPr>
                      <a:r>
                        <a:rPr lang="en-US" sz="1800" b="1" i="0" u="none" strike="noStrike" dirty="0">
                          <a:solidFill>
                            <a:schemeClr val="tx1">
                              <a:lumMod val="75000"/>
                            </a:schemeClr>
                          </a:solidFill>
                          <a:effectLst/>
                          <a:highlight>
                            <a:srgbClr val="FFE1CC"/>
                          </a:highlight>
                          <a:latin typeface="Calibri"/>
                          <a:hlinkClick r:id="rId4"/>
                        </a:rPr>
                        <a:t>Creativebrief</a:t>
                      </a:r>
                      <a:endParaRPr lang="en-US" sz="1800" b="1" i="0" u="none" strike="noStrike" dirty="0">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buNone/>
                      </a:pPr>
                      <a:r>
                        <a:rPr lang="en-US" sz="1050" b="1" i="0" u="none" strike="noStrike" dirty="0">
                          <a:solidFill>
                            <a:schemeClr val="tx1">
                              <a:lumMod val="75000"/>
                            </a:schemeClr>
                          </a:solidFill>
                          <a:effectLst/>
                          <a:latin typeface="Calibri"/>
                        </a:rPr>
                        <a:t>In this section, Python was utilized to run SQL queries, focusing on extracting detailed information from key columns such as age and admission source. </a:t>
                      </a:r>
                    </a:p>
                    <a:p>
                      <a:pPr lvl="0" algn="ctr">
                        <a:buNone/>
                      </a:pPr>
                      <a:r>
                        <a:rPr lang="en-US" sz="1050" b="1" i="0" u="none" strike="noStrike" dirty="0">
                          <a:solidFill>
                            <a:schemeClr val="tx1">
                              <a:lumMod val="75000"/>
                            </a:schemeClr>
                          </a:solidFill>
                          <a:effectLst/>
                          <a:latin typeface="Calibri"/>
                        </a:rPr>
                        <a:t>The related code is documented in Section A of my creative brief.</a:t>
                      </a:r>
                    </a:p>
                    <a:p>
                      <a:pPr lvl="0" algn="ctr">
                        <a:buNone/>
                      </a:pPr>
                      <a:r>
                        <a:rPr lang="en-US" sz="1050" b="1" i="0" u="none" strike="noStrike" dirty="0">
                          <a:solidFill>
                            <a:schemeClr val="tx1">
                              <a:lumMod val="75000"/>
                            </a:schemeClr>
                          </a:solidFill>
                          <a:effectLst/>
                          <a:highlight>
                            <a:srgbClr val="FFE1CC"/>
                          </a:highlight>
                          <a:latin typeface="Calibri"/>
                          <a:hlinkClick r:id="rId4"/>
                        </a:rPr>
                        <a:t>Creativebrief</a:t>
                      </a:r>
                      <a:endParaRPr lang="en-US" sz="1050" b="1" i="0" u="none" strike="noStrike" dirty="0">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extLst>
                  <a:ext uri="{0D108BD9-81ED-4DB2-BD59-A6C34878D82A}">
                    <a16:rowId xmlns:a16="http://schemas.microsoft.com/office/drawing/2014/main" val="2977052830"/>
                  </a:ext>
                </a:extLst>
              </a:tr>
            </a:tbl>
          </a:graphicData>
        </a:graphic>
      </p:graphicFrame>
    </p:spTree>
    <p:extLst>
      <p:ext uri="{BB962C8B-B14F-4D97-AF65-F5344CB8AC3E}">
        <p14:creationId xmlns:p14="http://schemas.microsoft.com/office/powerpoint/2010/main" val="31326037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1.2</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Professional practice</a:t>
            </a:r>
            <a:endParaRPr/>
          </a:p>
        </p:txBody>
      </p:sp>
      <p:sp>
        <p:nvSpPr>
          <p:cNvPr id="365" name="Google Shape;365;p39"/>
          <p:cNvSpPr txBox="1">
            <a:spLocks noGrp="1"/>
          </p:cNvSpPr>
          <p:nvPr>
            <p:ph type="subTitle" idx="2"/>
          </p:nvPr>
        </p:nvSpPr>
        <p:spPr>
          <a:xfrm>
            <a:off x="2735580" y="3353563"/>
            <a:ext cx="5951220" cy="685800"/>
          </a:xfrm>
          <a:prstGeom prst="rect">
            <a:avLst/>
          </a:prstGeom>
        </p:spPr>
        <p:txBody>
          <a:bodyPr spcFirstLastPara="1" wrap="square" lIns="91425" tIns="91425" rIns="91425" bIns="91425" anchor="ctr" anchorCtr="0">
            <a:noAutofit/>
          </a:bodyPr>
          <a:lstStyle/>
          <a:p>
            <a:pPr marL="0" indent="0"/>
            <a:r>
              <a:rPr lang="en-US"/>
              <a:t> 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1</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28110380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a:t>
            </a:r>
            <a:r>
              <a:rPr lang="en-US"/>
              <a:t>1</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755326" cy="576000"/>
          </a:xfrm>
          <a:prstGeom prst="rect">
            <a:avLst/>
          </a:prstGeom>
        </p:spPr>
        <p:txBody>
          <a:bodyPr spcFirstLastPara="1" wrap="square" lIns="91425" tIns="91425" rIns="91425" bIns="91425" anchor="ctr" anchorCtr="0">
            <a:noAutofit/>
          </a:bodyPr>
          <a:lstStyle/>
          <a:p>
            <a:pPr marL="0" indent="0"/>
            <a:r>
              <a:rPr lang="en-US"/>
              <a:t>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endParaRPr lang="en-GB"/>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1.2</a:t>
            </a: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US" i="0"/>
              <a:t>The student accurately tracks time spent on planned and unplanned work, noting reasons for and consequences of deviations from the planned objectives. </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Professional practice</a:t>
            </a:r>
            <a:endParaRPr sz="900"/>
          </a:p>
        </p:txBody>
      </p:sp>
      <p:graphicFrame>
        <p:nvGraphicFramePr>
          <p:cNvPr id="3" name="Table 2">
            <a:extLst>
              <a:ext uri="{FF2B5EF4-FFF2-40B4-BE49-F238E27FC236}">
                <a16:creationId xmlns:a16="http://schemas.microsoft.com/office/drawing/2014/main" id="{5A5D76DD-780A-47E4-7E54-A7A840FD7EAC}"/>
              </a:ext>
            </a:extLst>
          </p:cNvPr>
          <p:cNvGraphicFramePr>
            <a:graphicFrameLocks noGrp="1"/>
          </p:cNvGraphicFramePr>
          <p:nvPr>
            <p:extLst>
              <p:ext uri="{D42A27DB-BD31-4B8C-83A1-F6EECF244321}">
                <p14:modId xmlns:p14="http://schemas.microsoft.com/office/powerpoint/2010/main" val="1914943098"/>
              </p:ext>
            </p:extLst>
          </p:nvPr>
        </p:nvGraphicFramePr>
        <p:xfrm>
          <a:off x="-1" y="1069800"/>
          <a:ext cx="9144000" cy="4301289"/>
        </p:xfrm>
        <a:graphic>
          <a:graphicData uri="http://schemas.openxmlformats.org/drawingml/2006/table">
            <a:tbl>
              <a:tblPr/>
              <a:tblGrid>
                <a:gridCol w="1546303">
                  <a:extLst>
                    <a:ext uri="{9D8B030D-6E8A-4147-A177-3AD203B41FA5}">
                      <a16:colId xmlns:a16="http://schemas.microsoft.com/office/drawing/2014/main" val="2828626719"/>
                    </a:ext>
                  </a:extLst>
                </a:gridCol>
                <a:gridCol w="1583474">
                  <a:extLst>
                    <a:ext uri="{9D8B030D-6E8A-4147-A177-3AD203B41FA5}">
                      <a16:colId xmlns:a16="http://schemas.microsoft.com/office/drawing/2014/main" val="2163814410"/>
                    </a:ext>
                  </a:extLst>
                </a:gridCol>
                <a:gridCol w="1531434">
                  <a:extLst>
                    <a:ext uri="{9D8B030D-6E8A-4147-A177-3AD203B41FA5}">
                      <a16:colId xmlns:a16="http://schemas.microsoft.com/office/drawing/2014/main" val="1982883818"/>
                    </a:ext>
                  </a:extLst>
                </a:gridCol>
                <a:gridCol w="1457092">
                  <a:extLst>
                    <a:ext uri="{9D8B030D-6E8A-4147-A177-3AD203B41FA5}">
                      <a16:colId xmlns:a16="http://schemas.microsoft.com/office/drawing/2014/main" val="288988014"/>
                    </a:ext>
                  </a:extLst>
                </a:gridCol>
                <a:gridCol w="1471961">
                  <a:extLst>
                    <a:ext uri="{9D8B030D-6E8A-4147-A177-3AD203B41FA5}">
                      <a16:colId xmlns:a16="http://schemas.microsoft.com/office/drawing/2014/main" val="1128064345"/>
                    </a:ext>
                  </a:extLst>
                </a:gridCol>
                <a:gridCol w="1553736">
                  <a:extLst>
                    <a:ext uri="{9D8B030D-6E8A-4147-A177-3AD203B41FA5}">
                      <a16:colId xmlns:a16="http://schemas.microsoft.com/office/drawing/2014/main" val="1683564814"/>
                    </a:ext>
                  </a:extLst>
                </a:gridCol>
              </a:tblGrid>
              <a:tr h="192777">
                <a:tc>
                  <a:txBody>
                    <a:bodyPr/>
                    <a:lstStyle/>
                    <a:p>
                      <a:pPr algn="ctr" fontAlgn="ctr"/>
                      <a:r>
                        <a:rPr lang="en-US" sz="1000" b="1" i="0" u="none" strike="noStrike">
                          <a:solidFill>
                            <a:srgbClr val="000000"/>
                          </a:solidFill>
                          <a:effectLst/>
                          <a:highlight>
                            <a:srgbClr val="D0D0D0"/>
                          </a:highlight>
                          <a:latin typeface="Calibri"/>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2091709">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endParaRPr lang="en-US" sz="1000" noProof="0">
                        <a:latin typeface="Calibri"/>
                      </a:endParaRPr>
                    </a:p>
                    <a:p>
                      <a:pPr lvl="0" algn="l">
                        <a:buNone/>
                      </a:pPr>
                      <a:endParaRPr lang="en-US" sz="1000" b="0" i="0" u="none" strike="noStrike">
                        <a:solidFill>
                          <a:srgbClr val="000000"/>
                        </a:solidFill>
                        <a:effectLst/>
                        <a:highlight>
                          <a:srgbClr val="FEF2CD"/>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buNone/>
                      </a:pPr>
                      <a:r>
                        <a:rPr lang="en-US" sz="1000" b="0" i="0" u="none" strike="noStrike" noProof="0">
                          <a:solidFill>
                            <a:srgbClr val="000000"/>
                          </a:solidFill>
                          <a:effectLst/>
                          <a:highlight>
                            <a:srgbClr val="FFE1CC"/>
                          </a:highlight>
                          <a:latin typeface="Calibri"/>
                        </a:rPr>
                        <a:t>The student outlines the completed tasks in the worklog, with detailed comments provided where necessary.</a:t>
                      </a:r>
                      <a:endParaRPr lang="en-US" sz="1000" b="0" i="0" u="none" strike="noStrike">
                        <a:solidFill>
                          <a:srgbClr val="000000"/>
                        </a:solidFill>
                        <a:effectLst/>
                        <a:highlight>
                          <a:srgbClr val="FFE1C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dirty="0">
                          <a:solidFill>
                            <a:srgbClr val="000000"/>
                          </a:solidFill>
                          <a:effectLst/>
                          <a:highlight>
                            <a:srgbClr val="F7C7AC"/>
                          </a:highlight>
                          <a:latin typeface="Calibri"/>
                        </a:rPr>
                        <a:t>The student writes professional and critical reflections with time-tracking and identifying key lessons.</a:t>
                      </a:r>
                      <a:endParaRPr lang="en-US" sz="1000" noProof="0" dirty="0">
                        <a:latin typeface="Calibri"/>
                      </a:endParaRPr>
                    </a:p>
                    <a:p>
                      <a:pPr lvl="0" algn="l">
                        <a:buNone/>
                      </a:pPr>
                      <a:endParaRPr lang="en-US" sz="1000" b="0" i="0" u="none" strike="noStrike" dirty="0">
                        <a:solidFill>
                          <a:srgbClr val="000000"/>
                        </a:solidFill>
                        <a:effectLst/>
                        <a:highlight>
                          <a:srgbClr val="F7C7A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dirty="0">
                          <a:solidFill>
                            <a:srgbClr val="000000"/>
                          </a:solidFill>
                          <a:effectLst/>
                          <a:highlight>
                            <a:srgbClr val="FFE1CC"/>
                          </a:highlight>
                          <a:latin typeface="Calibri"/>
                        </a:rPr>
                        <a:t>The student fills out the worklog for each of the weeks.</a:t>
                      </a:r>
                      <a:endParaRPr lang="en-US" sz="1000" dirty="0">
                        <a:latin typeface="Calibri"/>
                      </a:endParaRPr>
                    </a:p>
                    <a:p>
                      <a:pPr lvl="0" algn="l">
                        <a:buNone/>
                      </a:pPr>
                      <a:endParaRPr lang="en-US" sz="1000" b="0" i="0" u="none" strike="noStrike" dirty="0">
                        <a:solidFill>
                          <a:srgbClr val="000000"/>
                        </a:solidFill>
                        <a:effectLst/>
                        <a:highlight>
                          <a:srgbClr val="FFE1C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includes all references to important resources in the worklog for the listed tasks. </a:t>
                      </a:r>
                      <a:endParaRPr lang="en-US" sz="1000">
                        <a:latin typeface="Calibri"/>
                      </a:endParaRPr>
                    </a:p>
                    <a:p>
                      <a:pPr lvl="0" algn="l">
                        <a:buNone/>
                      </a:pPr>
                      <a:endParaRPr lang="en-US" sz="1000" b="0" i="0" u="none" strike="noStrike">
                        <a:solidFill>
                          <a:srgbClr val="000000"/>
                        </a:solidFill>
                        <a:effectLst/>
                        <a:highlight>
                          <a:srgbClr val="F7C7A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dirty="0">
                          <a:solidFill>
                            <a:srgbClr val="000000"/>
                          </a:solidFill>
                          <a:effectLst/>
                          <a:highlight>
                            <a:srgbClr val="FFE1CC"/>
                          </a:highlight>
                          <a:latin typeface="Calibri"/>
                        </a:rPr>
                        <a:t>The student's writing style in worklog is professional and free of spelling and grammar mistakes. The student comprehends what was completed and why individual and project feedback was given. </a:t>
                      </a:r>
                      <a:endParaRPr lang="en-US" sz="1000" noProof="0" dirty="0">
                        <a:latin typeface="Calibri"/>
                      </a:endParaRPr>
                    </a:p>
                    <a:p>
                      <a:pPr lvl="0" algn="l">
                        <a:buNone/>
                      </a:pPr>
                      <a:endParaRPr lang="en-US" sz="1000" b="0" i="0" u="none" strike="noStrike" dirty="0">
                        <a:solidFill>
                          <a:srgbClr val="000000"/>
                        </a:solidFill>
                        <a:effectLst/>
                        <a:highlight>
                          <a:srgbClr val="FFE1C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871622024"/>
                  </a:ext>
                </a:extLst>
              </a:tr>
              <a:tr h="1789214">
                <a:tc>
                  <a:txBody>
                    <a:bodyPr/>
                    <a:lstStyle/>
                    <a:p>
                      <a:pPr lvl="0" algn="ctr" rtl="0">
                        <a:buNone/>
                      </a:pPr>
                      <a:r>
                        <a:rPr lang="en-US" sz="1200" b="1" i="0" u="none" strike="noStrike" dirty="0">
                          <a:solidFill>
                            <a:schemeClr val="tx1">
                              <a:lumMod val="75000"/>
                            </a:schemeClr>
                          </a:solidFill>
                          <a:effectLst/>
                          <a:latin typeface="Calibri"/>
                        </a:rPr>
                        <a:t>I have submitted my completed learning log and work log. You can access them by clicking on the links below:</a:t>
                      </a:r>
                    </a:p>
                    <a:p>
                      <a:pPr lvl="0" algn="ctr" rtl="0">
                        <a:buNone/>
                      </a:pPr>
                      <a:r>
                        <a:rPr lang="en-US" sz="1800" b="1" i="0" u="none" strike="noStrike" dirty="0">
                          <a:solidFill>
                            <a:schemeClr val="tx1">
                              <a:lumMod val="75000"/>
                            </a:schemeClr>
                          </a:solidFill>
                          <a:effectLst/>
                          <a:highlight>
                            <a:srgbClr val="FEF2CD"/>
                          </a:highlight>
                          <a:latin typeface="Calibri"/>
                          <a:hlinkClick r:id="rId3"/>
                        </a:rPr>
                        <a:t>Worklog</a:t>
                      </a:r>
                      <a:endParaRPr lang="en-US" sz="1800" b="1" i="0" u="none" strike="noStrike" dirty="0">
                        <a:solidFill>
                          <a:schemeClr val="tx1">
                            <a:lumMod val="75000"/>
                          </a:schemeClr>
                        </a:solidFill>
                        <a:effectLst/>
                        <a:highlight>
                          <a:srgbClr val="FEF2CD"/>
                        </a:highlight>
                        <a:latin typeface="Calibri"/>
                      </a:endParaRPr>
                    </a:p>
                    <a:p>
                      <a:pPr lvl="0" algn="ctr" rtl="0">
                        <a:buNone/>
                      </a:pPr>
                      <a:r>
                        <a:rPr lang="en-US" sz="1800" b="1" i="0" u="none" strike="noStrike" dirty="0" err="1">
                          <a:solidFill>
                            <a:schemeClr val="tx1">
                              <a:lumMod val="75000"/>
                            </a:schemeClr>
                          </a:solidFill>
                          <a:effectLst/>
                          <a:highlight>
                            <a:srgbClr val="FEF2CD"/>
                          </a:highlight>
                          <a:latin typeface="Calibri"/>
                        </a:rPr>
                        <a:t>Learninglog</a:t>
                      </a:r>
                      <a:r>
                        <a:rPr lang="en-US" sz="1800" b="1" i="0" u="none" strike="noStrike" dirty="0">
                          <a:solidFill>
                            <a:schemeClr val="tx1">
                              <a:lumMod val="75000"/>
                            </a:schemeClr>
                          </a:solidFill>
                          <a:effectLst/>
                          <a:highlight>
                            <a:srgbClr val="FEF2CD"/>
                          </a:highlight>
                          <a:latin typeface="Calibri"/>
                        </a:rPr>
                        <a:t> </a:t>
                      </a:r>
                    </a:p>
                    <a:p>
                      <a:pPr lvl="0" algn="ctr" rtl="0">
                        <a:buNone/>
                      </a:pPr>
                      <a:r>
                        <a:rPr lang="en-US" sz="1800" b="1" i="0" u="none" strike="noStrike" dirty="0">
                          <a:solidFill>
                            <a:schemeClr val="tx1">
                              <a:lumMod val="75000"/>
                            </a:schemeClr>
                          </a:solidFill>
                          <a:effectLst/>
                          <a:highlight>
                            <a:srgbClr val="FEF2CD"/>
                          </a:highlight>
                          <a:latin typeface="Calibri"/>
                          <a:hlinkClick r:id="rId4"/>
                        </a:rPr>
                        <a:t>Self </a:t>
                      </a:r>
                      <a:r>
                        <a:rPr lang="en-US" sz="1800" b="1" i="0" u="none" strike="noStrike" dirty="0" err="1">
                          <a:solidFill>
                            <a:schemeClr val="tx1">
                              <a:lumMod val="75000"/>
                            </a:schemeClr>
                          </a:solidFill>
                          <a:effectLst/>
                          <a:highlight>
                            <a:srgbClr val="FEF2CD"/>
                          </a:highlight>
                          <a:latin typeface="Calibri"/>
                          <a:hlinkClick r:id="rId4"/>
                        </a:rPr>
                        <a:t>assesment</a:t>
                      </a:r>
                      <a:r>
                        <a:rPr lang="en-US" sz="1800" b="1" i="0" u="none" strike="noStrike" dirty="0">
                          <a:solidFill>
                            <a:schemeClr val="tx1">
                              <a:lumMod val="75000"/>
                            </a:schemeClr>
                          </a:solidFill>
                          <a:effectLst/>
                          <a:highlight>
                            <a:srgbClr val="FEF2CD"/>
                          </a:highlight>
                          <a:latin typeface="Calibri"/>
                          <a:hlinkClick r:id="rId4"/>
                        </a:rPr>
                        <a:t> rubric</a:t>
                      </a:r>
                      <a:endParaRPr lang="en-US" sz="1800" b="1" i="0" u="none" strike="noStrike" dirty="0">
                        <a:solidFill>
                          <a:schemeClr val="tx1">
                            <a:lumMod val="75000"/>
                          </a:schemeClr>
                        </a:solidFill>
                        <a:effectLst/>
                        <a:highlight>
                          <a:srgbClr val="FEF2CD"/>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ctr">
                        <a:lnSpc>
                          <a:spcPct val="100000"/>
                        </a:lnSpc>
                        <a:spcBef>
                          <a:spcPts val="0"/>
                        </a:spcBef>
                        <a:spcAft>
                          <a:spcPts val="0"/>
                        </a:spcAft>
                        <a:buNone/>
                      </a:pPr>
                      <a:r>
                        <a:rPr lang="en-US" sz="1000" b="1" i="0" u="none" strike="noStrike" noProof="0" dirty="0">
                          <a:solidFill>
                            <a:schemeClr val="tx1">
                              <a:lumMod val="75000"/>
                            </a:schemeClr>
                          </a:solidFill>
                          <a:effectLst/>
                          <a:latin typeface="Calibri"/>
                        </a:rPr>
                        <a:t>I outlined all completed tasks in my work log. For tasks where I faced problems or unexpected challenges, I provided detailed descriptions to explain the issues.</a:t>
                      </a:r>
                    </a:p>
                    <a:p>
                      <a:pPr lvl="0" algn="ctr">
                        <a:lnSpc>
                          <a:spcPct val="100000"/>
                        </a:lnSpc>
                        <a:spcBef>
                          <a:spcPts val="0"/>
                        </a:spcBef>
                        <a:spcAft>
                          <a:spcPts val="0"/>
                        </a:spcAft>
                        <a:buNone/>
                      </a:pPr>
                      <a:r>
                        <a:rPr lang="en-US" sz="1800" b="1" i="0" u="none" strike="noStrike" noProof="0" dirty="0">
                          <a:solidFill>
                            <a:schemeClr val="tx1">
                              <a:lumMod val="75000"/>
                            </a:schemeClr>
                          </a:solidFill>
                          <a:effectLst/>
                          <a:highlight>
                            <a:srgbClr val="FEF2CD"/>
                          </a:highlight>
                          <a:latin typeface="Calibri"/>
                          <a:hlinkClick r:id="rId3"/>
                        </a:rPr>
                        <a:t>Worklog</a:t>
                      </a:r>
                      <a:endParaRPr lang="en-US" sz="1800" b="0" i="0" u="none" strike="noStrike" noProof="0" dirty="0">
                        <a:solidFill>
                          <a:srgbClr val="4285F4"/>
                        </a:solidFill>
                        <a:effectLst/>
                        <a:highlight>
                          <a:srgbClr val="FFE1CC"/>
                        </a:highlight>
                        <a:latin typeface="Calibri"/>
                      </a:endParaRPr>
                    </a:p>
                    <a:p>
                      <a:pPr lvl="0" algn="ctr">
                        <a:lnSpc>
                          <a:spcPct val="100000"/>
                        </a:lnSpc>
                        <a:spcBef>
                          <a:spcPts val="0"/>
                        </a:spcBef>
                        <a:spcAft>
                          <a:spcPts val="0"/>
                        </a:spcAft>
                        <a:buNone/>
                      </a:pPr>
                      <a:endParaRPr lang="en-US" sz="1800" b="1" i="0" u="none" strike="noStrike" noProof="0" dirty="0">
                        <a:solidFill>
                          <a:schemeClr val="tx1">
                            <a:lumMod val="75000"/>
                          </a:schemeClr>
                        </a:solidFill>
                        <a:effectLst/>
                        <a:highlight>
                          <a:srgbClr val="FEF2CD"/>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lnSpc>
                          <a:spcPct val="100000"/>
                        </a:lnSpc>
                        <a:spcBef>
                          <a:spcPts val="0"/>
                        </a:spcBef>
                        <a:spcAft>
                          <a:spcPts val="0"/>
                        </a:spcAft>
                        <a:buNone/>
                      </a:pPr>
                      <a:r>
                        <a:rPr lang="en-US" sz="1000" b="1" i="0" u="none" strike="noStrike" noProof="0" dirty="0">
                          <a:solidFill>
                            <a:schemeClr val="tx1">
                              <a:lumMod val="75000"/>
                            </a:schemeClr>
                          </a:solidFill>
                          <a:effectLst/>
                          <a:latin typeface="Calibri"/>
                        </a:rPr>
                        <a:t>Additionally, when I encountered unusual situations or challenges, I documented them in the reflections section to analyze and improve my approach.</a:t>
                      </a:r>
                      <a:endParaRPr lang="en-US" sz="1000" b="1" i="0" u="none" strike="noStrike" noProof="0" dirty="0">
                        <a:solidFill>
                          <a:schemeClr val="tx1">
                            <a:lumMod val="75000"/>
                          </a:schemeClr>
                        </a:solidFill>
                        <a:effectLst/>
                        <a:highlight>
                          <a:srgbClr val="FEF2CD"/>
                        </a:highlight>
                        <a:latin typeface="Calibri"/>
                      </a:endParaRPr>
                    </a:p>
                    <a:p>
                      <a:pPr lvl="0" algn="ctr">
                        <a:lnSpc>
                          <a:spcPct val="100000"/>
                        </a:lnSpc>
                        <a:spcBef>
                          <a:spcPts val="0"/>
                        </a:spcBef>
                        <a:spcAft>
                          <a:spcPts val="0"/>
                        </a:spcAft>
                        <a:buNone/>
                      </a:pPr>
                      <a:r>
                        <a:rPr lang="en-US" sz="1800" b="1" i="0" u="none" strike="noStrike" noProof="0" dirty="0">
                          <a:solidFill>
                            <a:schemeClr val="tx1">
                              <a:lumMod val="75000"/>
                            </a:schemeClr>
                          </a:solidFill>
                          <a:effectLst/>
                          <a:highlight>
                            <a:srgbClr val="FEF2CD"/>
                          </a:highlight>
                          <a:latin typeface="Calibri"/>
                          <a:hlinkClick r:id="rId3"/>
                        </a:rPr>
                        <a:t>Worklog</a:t>
                      </a:r>
                      <a:endParaRPr lang="en-US" sz="1800" b="0" i="0" u="none" strike="noStrike" noProof="0" dirty="0">
                        <a:solidFill>
                          <a:srgbClr val="4285F4"/>
                        </a:solidFill>
                        <a:effectLst/>
                        <a:highlight>
                          <a:srgbClr val="FFE1CC"/>
                        </a:highlight>
                        <a:latin typeface="Calibri"/>
                      </a:endParaRPr>
                    </a:p>
                    <a:p>
                      <a:pPr lvl="0" algn="ctr">
                        <a:buNone/>
                      </a:pPr>
                      <a:endParaRPr lang="en-US" sz="1800" b="1" i="0" u="none" strike="noStrike" dirty="0">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000" b="1" i="0" u="none" strike="noStrike" noProof="0" dirty="0">
                          <a:solidFill>
                            <a:schemeClr val="tx1">
                              <a:lumMod val="75000"/>
                            </a:schemeClr>
                          </a:solidFill>
                          <a:effectLst/>
                          <a:latin typeface="Calibri"/>
                        </a:rPr>
                        <a:t>I consistently updated my work log and learning log on a weekly basis.</a:t>
                      </a:r>
                    </a:p>
                    <a:p>
                      <a:pPr lvl="0" algn="ctr">
                        <a:lnSpc>
                          <a:spcPct val="100000"/>
                        </a:lnSpc>
                        <a:spcBef>
                          <a:spcPts val="0"/>
                        </a:spcBef>
                        <a:spcAft>
                          <a:spcPts val="0"/>
                        </a:spcAft>
                        <a:buNone/>
                      </a:pPr>
                      <a:r>
                        <a:rPr lang="en-US" sz="1800" b="1" i="0" u="none" strike="noStrike" noProof="0" dirty="0">
                          <a:solidFill>
                            <a:schemeClr val="tx1">
                              <a:lumMod val="75000"/>
                            </a:schemeClr>
                          </a:solidFill>
                          <a:effectLst/>
                          <a:highlight>
                            <a:srgbClr val="FEF2CD"/>
                          </a:highlight>
                          <a:latin typeface="Calibri"/>
                          <a:hlinkClick r:id="rId3"/>
                        </a:rPr>
                        <a:t>Worklog</a:t>
                      </a:r>
                      <a:endParaRPr lang="en-US" sz="1800" b="0" i="0" u="none" strike="noStrike" noProof="0" dirty="0">
                        <a:solidFill>
                          <a:srgbClr val="4285F4"/>
                        </a:solidFill>
                        <a:effectLst/>
                        <a:highlight>
                          <a:srgbClr val="FFE1CC"/>
                        </a:highlight>
                        <a:latin typeface="Calibri"/>
                      </a:endParaRPr>
                    </a:p>
                    <a:p>
                      <a:pPr lvl="0" algn="ctr">
                        <a:buNone/>
                      </a:pPr>
                      <a:endParaRPr lang="en-US" sz="1800" b="1" i="0" u="none" strike="noStrike" dirty="0">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000" b="1" i="0" u="none" strike="noStrike" noProof="0" dirty="0">
                          <a:solidFill>
                            <a:schemeClr val="tx1">
                              <a:lumMod val="75000"/>
                            </a:schemeClr>
                          </a:solidFill>
                          <a:effectLst/>
                          <a:latin typeface="Calibri"/>
                        </a:rPr>
                        <a:t>I ensured that all relevant references for the data lab and my assignment were included and properly linked</a:t>
                      </a:r>
                    </a:p>
                    <a:p>
                      <a:pPr lvl="0" algn="ctr">
                        <a:lnSpc>
                          <a:spcPct val="100000"/>
                        </a:lnSpc>
                        <a:spcBef>
                          <a:spcPts val="0"/>
                        </a:spcBef>
                        <a:spcAft>
                          <a:spcPts val="0"/>
                        </a:spcAft>
                        <a:buNone/>
                      </a:pPr>
                      <a:r>
                        <a:rPr lang="en-US" sz="1800" b="1" i="0" u="none" strike="noStrike" noProof="0" dirty="0">
                          <a:solidFill>
                            <a:schemeClr val="tx1">
                              <a:lumMod val="75000"/>
                            </a:schemeClr>
                          </a:solidFill>
                          <a:effectLst/>
                          <a:highlight>
                            <a:srgbClr val="FEF2CD"/>
                          </a:highlight>
                          <a:latin typeface="Calibri"/>
                          <a:hlinkClick r:id="rId3"/>
                        </a:rPr>
                        <a:t>Worklog</a:t>
                      </a:r>
                      <a:endParaRPr lang="en-US" sz="1800" b="0" i="0" u="none" strike="noStrike" noProof="0" dirty="0">
                        <a:solidFill>
                          <a:srgbClr val="4285F4"/>
                        </a:solidFill>
                        <a:effectLst/>
                        <a:highlight>
                          <a:srgbClr val="FFE1CC"/>
                        </a:highlight>
                        <a:latin typeface="Calibri"/>
                      </a:endParaRPr>
                    </a:p>
                    <a:p>
                      <a:pPr lvl="0" algn="ctr">
                        <a:buNone/>
                      </a:pPr>
                      <a:endParaRPr lang="en-US" sz="1800" b="1" i="0" u="none" strike="noStrike" dirty="0">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000" b="1" i="0" u="none" strike="noStrike" noProof="0" dirty="0">
                          <a:solidFill>
                            <a:schemeClr val="tx1">
                              <a:lumMod val="75000"/>
                            </a:schemeClr>
                          </a:solidFill>
                          <a:effectLst/>
                          <a:latin typeface="Calibri"/>
                        </a:rPr>
                        <a:t>This is the style of my writing, and I have tried my best to ensure it is clear and well-written, without any mistakes or issues.</a:t>
                      </a:r>
                      <a:endParaRPr lang="en-US" sz="1000" b="1" i="0" u="none" strike="noStrike" noProof="0" dirty="0">
                        <a:solidFill>
                          <a:schemeClr val="tx1">
                            <a:lumMod val="75000"/>
                          </a:schemeClr>
                        </a:solidFill>
                        <a:effectLst/>
                        <a:highlight>
                          <a:srgbClr val="FEF2CD"/>
                        </a:highlight>
                        <a:latin typeface="Calibri"/>
                      </a:endParaRPr>
                    </a:p>
                    <a:p>
                      <a:pPr lvl="0" algn="ctr">
                        <a:lnSpc>
                          <a:spcPct val="100000"/>
                        </a:lnSpc>
                        <a:spcBef>
                          <a:spcPts val="0"/>
                        </a:spcBef>
                        <a:spcAft>
                          <a:spcPts val="0"/>
                        </a:spcAft>
                        <a:buNone/>
                      </a:pPr>
                      <a:r>
                        <a:rPr lang="en-US" sz="1800" b="1" i="0" u="none" strike="noStrike" noProof="0" dirty="0">
                          <a:solidFill>
                            <a:schemeClr val="tx1">
                              <a:lumMod val="75000"/>
                            </a:schemeClr>
                          </a:solidFill>
                          <a:effectLst/>
                          <a:highlight>
                            <a:srgbClr val="FEF2CD"/>
                          </a:highlight>
                          <a:latin typeface="Calibri"/>
                          <a:hlinkClick r:id="rId3"/>
                        </a:rPr>
                        <a:t>Worklog</a:t>
                      </a:r>
                      <a:endParaRPr lang="en-US" sz="1800" b="0" i="0" u="none" strike="noStrike" noProof="0" dirty="0">
                        <a:solidFill>
                          <a:srgbClr val="4285F4"/>
                        </a:solidFill>
                        <a:effectLst/>
                        <a:highlight>
                          <a:srgbClr val="FFE1CC"/>
                        </a:highlight>
                        <a:latin typeface="Calibri"/>
                      </a:endParaRPr>
                    </a:p>
                    <a:p>
                      <a:pPr lvl="0" algn="ctr">
                        <a:buNone/>
                      </a:pPr>
                      <a:endParaRPr lang="en-US" sz="1800" b="1" i="0" u="none" strike="noStrike" dirty="0">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extLst>
                  <a:ext uri="{0D108BD9-81ED-4DB2-BD59-A6C34878D82A}">
                    <a16:rowId xmlns:a16="http://schemas.microsoft.com/office/drawing/2014/main" val="2843461618"/>
                  </a:ext>
                </a:extLst>
              </a:tr>
            </a:tbl>
          </a:graphicData>
        </a:graphic>
      </p:graphicFrame>
    </p:spTree>
    <p:extLst>
      <p:ext uri="{BB962C8B-B14F-4D97-AF65-F5344CB8AC3E}">
        <p14:creationId xmlns:p14="http://schemas.microsoft.com/office/powerpoint/2010/main" val="28373286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2.2</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Personal development &amp; </a:t>
            </a:r>
            <a:br>
              <a:rPr lang="en-US"/>
            </a:br>
            <a:r>
              <a:rPr lang="en-US"/>
              <a:t>Academic practice</a:t>
            </a:r>
            <a:endParaRPr/>
          </a:p>
        </p:txBody>
      </p:sp>
      <p:sp>
        <p:nvSpPr>
          <p:cNvPr id="365" name="Google Shape;365;p39"/>
          <p:cNvSpPr txBox="1">
            <a:spLocks noGrp="1"/>
          </p:cNvSpPr>
          <p:nvPr>
            <p:ph type="subTitle" idx="2"/>
          </p:nvPr>
        </p:nvSpPr>
        <p:spPr>
          <a:xfrm>
            <a:off x="2827020" y="3353563"/>
            <a:ext cx="5859780" cy="685800"/>
          </a:xfrm>
          <a:prstGeom prst="rect">
            <a:avLst/>
          </a:prstGeom>
        </p:spPr>
        <p:txBody>
          <a:bodyPr spcFirstLastPara="1" wrap="square" lIns="91425" tIns="91425" rIns="91425" bIns="91425" anchor="ctr" anchorCtr="0">
            <a:noAutofit/>
          </a:bodyPr>
          <a:lstStyle/>
          <a:p>
            <a:pPr marL="0" indent="0"/>
            <a:r>
              <a:rPr lang="en-US"/>
              <a:t>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 </a:t>
            </a:r>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2</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3934169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a:t>
            </a:r>
            <a:r>
              <a:rPr lang="en-US"/>
              <a:t>2</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615216" cy="576000"/>
          </a:xfrm>
          <a:prstGeom prst="rect">
            <a:avLst/>
          </a:prstGeom>
        </p:spPr>
        <p:txBody>
          <a:bodyPr spcFirstLastPara="1" wrap="square" lIns="91425" tIns="91425" rIns="91425" bIns="91425" anchor="ctr" anchorCtr="0">
            <a:noAutofit/>
          </a:bodyPr>
          <a:lstStyle/>
          <a:p>
            <a:pPr marL="0" indent="0"/>
            <a:r>
              <a:rPr lang="en-US"/>
              <a:t>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a:t>
            </a:r>
            <a:endParaRPr lang="en-GB"/>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2.2</a:t>
            </a:r>
            <a:endParaRP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a:t>The student shows knowledge of leadership skills by taking on the role of a leader and supporting others in being a leader. </a:t>
            </a:r>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Personal development</a:t>
            </a:r>
            <a:endParaRPr sz="900"/>
          </a:p>
        </p:txBody>
      </p:sp>
      <p:graphicFrame>
        <p:nvGraphicFramePr>
          <p:cNvPr id="2" name="Table 1">
            <a:extLst>
              <a:ext uri="{FF2B5EF4-FFF2-40B4-BE49-F238E27FC236}">
                <a16:creationId xmlns:a16="http://schemas.microsoft.com/office/drawing/2014/main" id="{B094636A-55BA-DD52-9038-48FB62682D6F}"/>
              </a:ext>
            </a:extLst>
          </p:cNvPr>
          <p:cNvGraphicFramePr>
            <a:graphicFrameLocks noGrp="1"/>
          </p:cNvGraphicFramePr>
          <p:nvPr>
            <p:extLst>
              <p:ext uri="{D42A27DB-BD31-4B8C-83A1-F6EECF244321}">
                <p14:modId xmlns:p14="http://schemas.microsoft.com/office/powerpoint/2010/main" val="1365558299"/>
              </p:ext>
            </p:extLst>
          </p:nvPr>
        </p:nvGraphicFramePr>
        <p:xfrm>
          <a:off x="0" y="1069800"/>
          <a:ext cx="9143997" cy="4073700"/>
        </p:xfrm>
        <a:graphic>
          <a:graphicData uri="http://schemas.openxmlformats.org/drawingml/2006/table">
            <a:tbl>
              <a:tblPr/>
              <a:tblGrid>
                <a:gridCol w="1758054">
                  <a:extLst>
                    <a:ext uri="{9D8B030D-6E8A-4147-A177-3AD203B41FA5}">
                      <a16:colId xmlns:a16="http://schemas.microsoft.com/office/drawing/2014/main" val="2101514686"/>
                    </a:ext>
                  </a:extLst>
                </a:gridCol>
                <a:gridCol w="3394880">
                  <a:extLst>
                    <a:ext uri="{9D8B030D-6E8A-4147-A177-3AD203B41FA5}">
                      <a16:colId xmlns:a16="http://schemas.microsoft.com/office/drawing/2014/main" val="3182331326"/>
                    </a:ext>
                  </a:extLst>
                </a:gridCol>
                <a:gridCol w="3991063">
                  <a:extLst>
                    <a:ext uri="{9D8B030D-6E8A-4147-A177-3AD203B41FA5}">
                      <a16:colId xmlns:a16="http://schemas.microsoft.com/office/drawing/2014/main" val="2156090830"/>
                    </a:ext>
                  </a:extLst>
                </a:gridCol>
              </a:tblGrid>
              <a:tr h="251194">
                <a:tc>
                  <a:txBody>
                    <a:bodyPr/>
                    <a:lstStyle/>
                    <a:p>
                      <a:pPr algn="ctr" fontAlgn="ctr"/>
                      <a:r>
                        <a:rPr lang="en-US" sz="1000" b="1" i="0" u="none" strike="noStrike">
                          <a:solidFill>
                            <a:srgbClr val="000000"/>
                          </a:solidFill>
                          <a:effectLst/>
                          <a:highlight>
                            <a:srgbClr val="D0D0D0"/>
                          </a:highlight>
                          <a:latin typeface="Calibri"/>
                        </a:rPr>
                        <a:t>pre-requisites</a:t>
                      </a: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5)</a:t>
                      </a:r>
                      <a:endParaRPr lang="en-US" sz="1000">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5)</a:t>
                      </a:r>
                      <a:endParaRPr lang="en-US" sz="1000">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3290195127"/>
                  </a:ext>
                </a:extLst>
              </a:tr>
              <a:tr h="931333">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 </a:t>
                      </a:r>
                      <a:endParaRPr lang="en-US" sz="1000">
                        <a:latin typeface="Calibri"/>
                      </a:endParaRPr>
                    </a:p>
                    <a:p>
                      <a:pPr lvl="0" algn="l">
                        <a:buNone/>
                      </a:pPr>
                      <a:endParaRPr lang="en-US" sz="1000" b="0" i="0" u="none" strike="noStrike">
                        <a:solidFill>
                          <a:srgbClr val="000000"/>
                        </a:solidFill>
                        <a:effectLst/>
                        <a:highlight>
                          <a:srgbClr val="FEF2CD"/>
                        </a:highlight>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latin typeface="Calibri"/>
                        </a:rPr>
                        <a:t>Goals written with a </a:t>
                      </a:r>
                      <a:r>
                        <a:rPr lang="en-US" sz="1000" b="1" i="0" u="none" strike="noStrike" noProof="0">
                          <a:solidFill>
                            <a:srgbClr val="000000"/>
                          </a:solidFill>
                          <a:effectLst/>
                          <a:latin typeface="Calibri"/>
                        </a:rPr>
                        <a:t>SMARTER</a:t>
                      </a:r>
                      <a:r>
                        <a:rPr lang="en-US" sz="1000" b="0" i="0" u="none" strike="noStrike" noProof="0">
                          <a:solidFill>
                            <a:srgbClr val="000000"/>
                          </a:solidFill>
                          <a:effectLst/>
                          <a:latin typeface="Calibri"/>
                        </a:rPr>
                        <a:t> method. The goals are shown to be Specific, Measurable, Achievable, Relevant, Time-bound, Evaluated and Readjusted. Project goals and self-development goals detailed.</a:t>
                      </a:r>
                      <a:endParaRPr lang="en-US" sz="1000" b="0" i="0" u="none" strike="noStrike">
                        <a:solidFill>
                          <a:srgbClr val="000000"/>
                        </a:solidFill>
                        <a:effectLst/>
                        <a:highlight>
                          <a:srgbClr val="FFE1CC"/>
                        </a:highlight>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latin typeface="Calibri"/>
                        </a:rPr>
                        <a:t>Goals are aligned with project, personal, and professional development objectives. A detailed evaluation of the goals has been conducted throughout the block. The goals may have been re-adjusted as well. </a:t>
                      </a:r>
                      <a:endParaRPr lang="en-US" sz="1000" b="0" i="0" u="none" strike="noStrike">
                        <a:solidFill>
                          <a:srgbClr val="000000"/>
                        </a:solidFill>
                        <a:effectLst/>
                        <a:highlight>
                          <a:srgbClr val="FFE1CC"/>
                        </a:highlight>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1106371534"/>
                  </a:ext>
                </a:extLst>
              </a:tr>
              <a:tr h="2891173">
                <a:tc>
                  <a:txBody>
                    <a:bodyPr/>
                    <a:lstStyle/>
                    <a:p>
                      <a:pPr algn="ctr" rtl="0" fontAlgn="t"/>
                      <a:endParaRPr lang="en-US" sz="1800" b="1" i="0" u="none" strike="noStrike" dirty="0">
                        <a:solidFill>
                          <a:schemeClr val="tx1">
                            <a:lumMod val="75000"/>
                          </a:schemeClr>
                        </a:solidFill>
                        <a:effectLst/>
                        <a:highlight>
                          <a:srgbClr val="FEF2CD"/>
                        </a:highlight>
                        <a:latin typeface="Calibri" panose="020F0502020204030204" pitchFamily="34" charset="0"/>
                      </a:endParaRPr>
                    </a:p>
                    <a:p>
                      <a:pPr algn="ctr" rtl="0" fontAlgn="t"/>
                      <a:r>
                        <a:rPr lang="en-US" sz="1000" b="1" i="0" u="none" strike="noStrike" dirty="0">
                          <a:solidFill>
                            <a:schemeClr val="tx1">
                              <a:lumMod val="75000"/>
                            </a:schemeClr>
                          </a:solidFill>
                          <a:effectLst/>
                          <a:latin typeface="Calibri" panose="020F0502020204030204" pitchFamily="34" charset="0"/>
                        </a:rPr>
                        <a:t>Here are the links to my work log, learning log, and assessment rubric so you can verify if they are complete or not.</a:t>
                      </a:r>
                    </a:p>
                    <a:p>
                      <a:pPr algn="ctr" rtl="0" fontAlgn="t"/>
                      <a:r>
                        <a:rPr lang="en-US" sz="1000" b="1" i="0" u="none" strike="noStrike" dirty="0">
                          <a:solidFill>
                            <a:schemeClr val="tx1">
                              <a:lumMod val="75000"/>
                            </a:schemeClr>
                          </a:solidFill>
                          <a:effectLst/>
                          <a:latin typeface="Calibri" panose="020F0502020204030204" pitchFamily="34" charset="0"/>
                          <a:hlinkClick r:id="rId3"/>
                        </a:rPr>
                        <a:t>Self </a:t>
                      </a:r>
                      <a:r>
                        <a:rPr lang="en-US" sz="1000" b="1" i="0" u="none" strike="noStrike" dirty="0" err="1">
                          <a:solidFill>
                            <a:schemeClr val="tx1">
                              <a:lumMod val="75000"/>
                            </a:schemeClr>
                          </a:solidFill>
                          <a:effectLst/>
                          <a:latin typeface="Calibri" panose="020F0502020204030204" pitchFamily="34" charset="0"/>
                          <a:hlinkClick r:id="rId3"/>
                        </a:rPr>
                        <a:t>assesment</a:t>
                      </a:r>
                      <a:r>
                        <a:rPr lang="en-US" sz="1000" b="1" i="0" u="none" strike="noStrike" dirty="0">
                          <a:solidFill>
                            <a:schemeClr val="tx1">
                              <a:lumMod val="75000"/>
                            </a:schemeClr>
                          </a:solidFill>
                          <a:effectLst/>
                          <a:latin typeface="Calibri" panose="020F0502020204030204" pitchFamily="34" charset="0"/>
                          <a:hlinkClick r:id="rId3"/>
                        </a:rPr>
                        <a:t> rubric</a:t>
                      </a:r>
                      <a:endParaRPr lang="en-US" sz="1000" b="1" i="0" u="none" strike="noStrike" dirty="0">
                        <a:solidFill>
                          <a:schemeClr val="tx1">
                            <a:lumMod val="75000"/>
                          </a:schemeClr>
                        </a:solidFill>
                        <a:effectLst/>
                        <a:latin typeface="Calibri" panose="020F0502020204030204" pitchFamily="34" charset="0"/>
                      </a:endParaRPr>
                    </a:p>
                    <a:p>
                      <a:pPr algn="ctr" rtl="0" fontAlgn="t"/>
                      <a:r>
                        <a:rPr lang="en-US" sz="1000" b="1" i="0" u="none" strike="noStrike" dirty="0">
                          <a:solidFill>
                            <a:schemeClr val="tx1">
                              <a:lumMod val="75000"/>
                            </a:schemeClr>
                          </a:solidFill>
                          <a:effectLst/>
                          <a:latin typeface="Calibri" panose="020F0502020204030204" pitchFamily="34" charset="0"/>
                          <a:hlinkClick r:id="rId4"/>
                        </a:rPr>
                        <a:t>Worklog</a:t>
                      </a:r>
                      <a:endParaRPr lang="en-US" sz="1000" b="1" i="0" u="none" strike="noStrike" dirty="0">
                        <a:solidFill>
                          <a:schemeClr val="tx1">
                            <a:lumMod val="75000"/>
                          </a:schemeClr>
                        </a:solidFill>
                        <a:effectLst/>
                        <a:latin typeface="Calibri" panose="020F0502020204030204" pitchFamily="34" charset="0"/>
                      </a:endParaRPr>
                    </a:p>
                    <a:p>
                      <a:pPr algn="ctr" rtl="0" fontAlgn="t"/>
                      <a:endParaRPr lang="en-US" sz="1000" b="1" i="0" u="none" strike="noStrike" dirty="0">
                        <a:solidFill>
                          <a:schemeClr val="tx1">
                            <a:lumMod val="75000"/>
                          </a:schemeClr>
                        </a:solidFill>
                        <a:effectLst/>
                        <a:latin typeface="Calibri" panose="020F0502020204030204" pitchFamily="34" charset="0"/>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dirty="0">
                        <a:solidFill>
                          <a:schemeClr val="tx1">
                            <a:lumMod val="75000"/>
                          </a:schemeClr>
                        </a:solidFill>
                        <a:effectLst/>
                        <a:highlight>
                          <a:srgbClr val="FFE1CC"/>
                        </a:highlight>
                        <a:latin typeface="Calibri" panose="020F0502020204030204" pitchFamily="34" charset="0"/>
                      </a:endParaRPr>
                    </a:p>
                    <a:p>
                      <a:pPr algn="ctr" fontAlgn="t"/>
                      <a:r>
                        <a:rPr lang="en-US" sz="1000" b="1" i="0" u="none" strike="noStrike" dirty="0">
                          <a:solidFill>
                            <a:schemeClr val="tx1">
                              <a:lumMod val="75000"/>
                            </a:schemeClr>
                          </a:solidFill>
                          <a:effectLst/>
                          <a:latin typeface="Calibri" panose="020F0502020204030204" pitchFamily="34" charset="0"/>
                        </a:rPr>
                        <a:t>I have clearly outlined my goals, describing each part separately to ensure clarity and ease of understanding. The details of both my personal and professional goals are outlined before Section B. For my personal goal, I also included weekly reflections in the learning log to provide detailed descriptions and consistently track my </a:t>
                      </a:r>
                      <a:r>
                        <a:rPr lang="en-US" sz="1000" b="1" i="0" u="none" strike="noStrike" dirty="0" err="1">
                          <a:solidFill>
                            <a:schemeClr val="tx1">
                              <a:lumMod val="75000"/>
                            </a:schemeClr>
                          </a:solidFill>
                          <a:effectLst/>
                          <a:latin typeface="Calibri" panose="020F0502020204030204" pitchFamily="34" charset="0"/>
                        </a:rPr>
                        <a:t>progress.You</a:t>
                      </a:r>
                      <a:r>
                        <a:rPr lang="en-US" sz="1000" b="1" i="0" u="none" strike="noStrike" dirty="0">
                          <a:solidFill>
                            <a:schemeClr val="tx1">
                              <a:lumMod val="75000"/>
                            </a:schemeClr>
                          </a:solidFill>
                          <a:effectLst/>
                          <a:latin typeface="Calibri" panose="020F0502020204030204" pitchFamily="34" charset="0"/>
                        </a:rPr>
                        <a:t> can view these details on slides 7 and 8.</a:t>
                      </a:r>
                      <a:endParaRPr lang="en-US" sz="1000" b="1" i="0" u="none" strike="noStrike" noProof="0" dirty="0">
                        <a:solidFill>
                          <a:schemeClr val="tx1">
                            <a:lumMod val="75000"/>
                          </a:schemeClr>
                        </a:solidFill>
                        <a:effectLst/>
                        <a:highlight>
                          <a:srgbClr val="FEF2CD"/>
                        </a:highlight>
                        <a:latin typeface="Calibri" panose="020F0502020204030204" pitchFamily="34" charset="0"/>
                        <a:hlinkClick r:id="rId5" action="ppaction://hlinksldjump"/>
                      </a:endParaRPr>
                    </a:p>
                    <a:p>
                      <a:pPr algn="ctr" fontAlgn="t"/>
                      <a:r>
                        <a:rPr lang="en-US" sz="1800" b="1" i="0" u="none" strike="noStrike" noProof="0" dirty="0">
                          <a:solidFill>
                            <a:schemeClr val="tx1">
                              <a:lumMod val="75000"/>
                            </a:schemeClr>
                          </a:solidFill>
                          <a:effectLst/>
                          <a:highlight>
                            <a:srgbClr val="FEF2CD"/>
                          </a:highlight>
                          <a:latin typeface="Calibri"/>
                          <a:hlinkClick r:id="rId5" action="ppaction://hlinksldjump"/>
                        </a:rPr>
                        <a:t>Slide 8,7</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r>
                        <a:rPr lang="en-US" sz="1000" b="1" i="0" u="none" strike="noStrike" dirty="0">
                          <a:solidFill>
                            <a:schemeClr val="tx1">
                              <a:lumMod val="75000"/>
                            </a:schemeClr>
                          </a:solidFill>
                          <a:effectLst/>
                          <a:latin typeface="Calibri"/>
                        </a:rPr>
                        <a:t>I have maintained my goals without any adjustments since the second week, ensuring consistency throughout. Additionally, I summarized my goals here and included a link to my SMARTER goals for further </a:t>
                      </a:r>
                      <a:r>
                        <a:rPr lang="en-US" sz="1000" b="1" i="0" u="none" strike="noStrike" dirty="0" err="1">
                          <a:solidFill>
                            <a:schemeClr val="tx1">
                              <a:lumMod val="75000"/>
                            </a:schemeClr>
                          </a:solidFill>
                          <a:effectLst/>
                          <a:latin typeface="Calibri"/>
                        </a:rPr>
                        <a:t>reference.You</a:t>
                      </a:r>
                      <a:r>
                        <a:rPr lang="en-US" sz="1000" b="1" i="0" u="none" strike="noStrike" dirty="0">
                          <a:solidFill>
                            <a:schemeClr val="tx1">
                              <a:lumMod val="75000"/>
                            </a:schemeClr>
                          </a:solidFill>
                          <a:effectLst/>
                          <a:latin typeface="Calibri"/>
                        </a:rPr>
                        <a:t> can find details about my SMART goals on slides 7 and 8, along with weekly reflections on my personal goal in the learning log.</a:t>
                      </a:r>
                    </a:p>
                    <a:p>
                      <a:pPr lvl="0" algn="ctr">
                        <a:buNone/>
                      </a:pPr>
                      <a:r>
                        <a:rPr lang="en-US" sz="1800" b="1" i="0" u="none" strike="noStrike" noProof="0" dirty="0">
                          <a:solidFill>
                            <a:schemeClr val="tx1">
                              <a:lumMod val="75000"/>
                            </a:schemeClr>
                          </a:solidFill>
                          <a:effectLst/>
                          <a:highlight>
                            <a:srgbClr val="FEF2CD"/>
                          </a:highlight>
                          <a:latin typeface="Calibri"/>
                          <a:hlinkClick r:id="rId5" action="ppaction://hlinksldjump"/>
                        </a:rPr>
                        <a:t>Slide 7,8</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369291459"/>
                  </a:ext>
                </a:extLst>
              </a:tr>
            </a:tbl>
          </a:graphicData>
        </a:graphic>
      </p:graphicFrame>
    </p:spTree>
    <p:extLst>
      <p:ext uri="{BB962C8B-B14F-4D97-AF65-F5344CB8AC3E}">
        <p14:creationId xmlns:p14="http://schemas.microsoft.com/office/powerpoint/2010/main" val="4007477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6.2</a:t>
            </a:r>
            <a:endParaRPr lang="en-US"/>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indent="0"/>
            <a:r>
              <a:rPr lang="en-US"/>
              <a:t>Data Collection and Processing</a:t>
            </a: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US"/>
              <a:t>The student masters (technological) skills to acquire, pre-process, process and manage the necessary data to create value for individuals, organizations and domains. </a:t>
            </a:r>
          </a:p>
          <a:p>
            <a:pPr marL="0" indent="0"/>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rPr>
              <a:t>6</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6254212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6</a:t>
            </a:r>
            <a:endParaRPr lang="en-US"/>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351123" cy="576000"/>
          </a:xfrm>
          <a:prstGeom prst="rect">
            <a:avLst/>
          </a:prstGeom>
        </p:spPr>
        <p:txBody>
          <a:bodyPr spcFirstLastPara="1" wrap="square" lIns="91425" tIns="91425" rIns="91425" bIns="91425" anchor="ctr" anchorCtr="0">
            <a:noAutofit/>
          </a:bodyPr>
          <a:lstStyle/>
          <a:p>
            <a:r>
              <a:rPr lang="en-US" sz="1050"/>
              <a:t>The student masters (technological) skills to acquire, pre-process, process and manage the necessary data to create value for individuals, organizations and domains. </a:t>
            </a:r>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6.2</a:t>
            </a:r>
            <a:endParaRP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US" i="0"/>
              <a:t>The students is able to perform basic ETL operations such as read/write, clean, and explore data using standard Python libraries.</a:t>
            </a:r>
            <a:endParaRPr lang="en-US"/>
          </a:p>
          <a:p>
            <a:pPr marL="0" lvl="0" indent="0" algn="l">
              <a:spcBef>
                <a:spcPts val="0"/>
              </a:spcBef>
              <a:spcAft>
                <a:spcPts val="0"/>
              </a:spcAft>
              <a:buNone/>
            </a:pPr>
            <a:endParaRPr lang="en-US" i="0"/>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900"/>
              <a:t>Data Collection and Processing</a:t>
            </a:r>
            <a:endParaRPr lang="en-US"/>
          </a:p>
        </p:txBody>
      </p:sp>
      <p:graphicFrame>
        <p:nvGraphicFramePr>
          <p:cNvPr id="2" name="Table 1">
            <a:extLst>
              <a:ext uri="{FF2B5EF4-FFF2-40B4-BE49-F238E27FC236}">
                <a16:creationId xmlns:a16="http://schemas.microsoft.com/office/drawing/2014/main" id="{1F5721F6-C620-592B-C011-BF4A3BBF31FB}"/>
              </a:ext>
            </a:extLst>
          </p:cNvPr>
          <p:cNvGraphicFramePr>
            <a:graphicFrameLocks noGrp="1"/>
          </p:cNvGraphicFramePr>
          <p:nvPr>
            <p:extLst>
              <p:ext uri="{D42A27DB-BD31-4B8C-83A1-F6EECF244321}">
                <p14:modId xmlns:p14="http://schemas.microsoft.com/office/powerpoint/2010/main" val="2992064858"/>
              </p:ext>
            </p:extLst>
          </p:nvPr>
        </p:nvGraphicFramePr>
        <p:xfrm>
          <a:off x="0" y="1069800"/>
          <a:ext cx="9143993" cy="4130208"/>
        </p:xfrm>
        <a:graphic>
          <a:graphicData uri="http://schemas.openxmlformats.org/drawingml/2006/table">
            <a:tbl>
              <a:tblPr/>
              <a:tblGrid>
                <a:gridCol w="1520944">
                  <a:extLst>
                    <a:ext uri="{9D8B030D-6E8A-4147-A177-3AD203B41FA5}">
                      <a16:colId xmlns:a16="http://schemas.microsoft.com/office/drawing/2014/main" val="2003549626"/>
                    </a:ext>
                  </a:extLst>
                </a:gridCol>
                <a:gridCol w="3060215">
                  <a:extLst>
                    <a:ext uri="{9D8B030D-6E8A-4147-A177-3AD203B41FA5}">
                      <a16:colId xmlns:a16="http://schemas.microsoft.com/office/drawing/2014/main" val="2448315005"/>
                    </a:ext>
                  </a:extLst>
                </a:gridCol>
                <a:gridCol w="4562834">
                  <a:extLst>
                    <a:ext uri="{9D8B030D-6E8A-4147-A177-3AD203B41FA5}">
                      <a16:colId xmlns:a16="http://schemas.microsoft.com/office/drawing/2014/main" val="105465083"/>
                    </a:ext>
                  </a:extLst>
                </a:gridCol>
              </a:tblGrid>
              <a:tr h="443567">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cap="none" noProof="0">
                          <a:solidFill>
                            <a:srgbClr val="000000"/>
                          </a:solidFill>
                          <a:effectLst/>
                          <a:highlight>
                            <a:srgbClr val="D0D0D0"/>
                          </a:highlight>
                          <a:latin typeface="Calibri"/>
                          <a:ea typeface="+mn-ea"/>
                          <a:cs typeface="+mn-cs"/>
                          <a:sym typeface="Arial"/>
                        </a:rPr>
                        <a:t>A (Points: 5)</a:t>
                      </a:r>
                      <a:endParaRPr lang="en-US" sz="1000" b="1" i="0" u="none" strike="noStrike" cap="none">
                        <a:solidFill>
                          <a:srgbClr val="000000"/>
                        </a:solidFill>
                        <a:effectLst/>
                        <a:highlight>
                          <a:srgbClr val="D0D0D0"/>
                        </a:highlight>
                        <a:latin typeface="Calibri"/>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cap="none" noProof="0">
                          <a:solidFill>
                            <a:srgbClr val="000000"/>
                          </a:solidFill>
                          <a:effectLst/>
                          <a:highlight>
                            <a:srgbClr val="D0D0D0"/>
                          </a:highlight>
                          <a:latin typeface="Calibri"/>
                          <a:ea typeface="+mn-ea"/>
                          <a:cs typeface="+mn-cs"/>
                          <a:sym typeface="Arial"/>
                        </a:rPr>
                        <a:t>B (Points: 5)</a:t>
                      </a:r>
                      <a:endParaRPr lang="en-US" sz="1000" b="1" i="0" u="none" strike="noStrike" cap="none">
                        <a:solidFill>
                          <a:srgbClr val="000000"/>
                        </a:solidFill>
                        <a:effectLst/>
                        <a:highlight>
                          <a:srgbClr val="D0D0D0"/>
                        </a:highlight>
                        <a:latin typeface="Calibri"/>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3041141703"/>
                  </a:ext>
                </a:extLst>
              </a:tr>
              <a:tr h="1472615">
                <a:tc>
                  <a:txBody>
                    <a:bodyPr/>
                    <a:lstStyle/>
                    <a:p>
                      <a:pPr lvl="0" algn="l">
                        <a:lnSpc>
                          <a:spcPct val="100000"/>
                        </a:lnSpc>
                        <a:spcBef>
                          <a:spcPts val="0"/>
                        </a:spcBef>
                        <a:spcAft>
                          <a:spcPts val="0"/>
                        </a:spcAft>
                        <a:buNone/>
                      </a:pPr>
                      <a:r>
                        <a:rPr lang="en-US" sz="1000" b="0" i="0" u="none" strike="noStrike" cap="none" noProof="0">
                          <a:solidFill>
                            <a:srgbClr val="000000"/>
                          </a:solidFill>
                          <a:effectLst/>
                          <a:highlight>
                            <a:srgbClr val="FFE1CC"/>
                          </a:highlight>
                          <a:latin typeface="Calibri"/>
                          <a:ea typeface="+mn-ea"/>
                          <a:cs typeface="+mn-cs"/>
                          <a:sym typeface="Arial"/>
                        </a:rPr>
                        <a:t>The student should submit the relevant Python Notebooks addressing the creative brief. Student submits a complete learning log, work log and self-assessment rubric. The student exhibits professional behavior during the </a:t>
                      </a:r>
                      <a:r>
                        <a:rPr lang="en-US" sz="1000" b="0" i="0" u="none" strike="noStrike" cap="none" noProof="0" err="1">
                          <a:solidFill>
                            <a:srgbClr val="000000"/>
                          </a:solidFill>
                          <a:effectLst/>
                          <a:highlight>
                            <a:srgbClr val="FFE1CC"/>
                          </a:highlight>
                          <a:latin typeface="Calibri"/>
                          <a:ea typeface="+mn-ea"/>
                          <a:cs typeface="+mn-cs"/>
                          <a:sym typeface="Arial"/>
                        </a:rPr>
                        <a:t>DataLab</a:t>
                      </a:r>
                      <a:r>
                        <a:rPr lang="en-US" sz="1000" b="0" i="0" u="none" strike="noStrike" cap="none" noProof="0">
                          <a:solidFill>
                            <a:srgbClr val="000000"/>
                          </a:solidFill>
                          <a:effectLst/>
                          <a:highlight>
                            <a:srgbClr val="FFE1CC"/>
                          </a:highlight>
                          <a:latin typeface="Calibri"/>
                          <a:ea typeface="+mn-ea"/>
                          <a:cs typeface="+mn-cs"/>
                          <a:sym typeface="Arial"/>
                        </a:rPr>
                        <a:t>.</a:t>
                      </a:r>
                    </a:p>
                    <a:p>
                      <a:pPr lvl="0" algn="l">
                        <a:buNone/>
                      </a:pPr>
                      <a:endParaRPr lang="en-US" sz="1000" b="0" i="0" u="none" strike="noStrike">
                        <a:solidFill>
                          <a:srgbClr val="000000"/>
                        </a:solidFill>
                        <a:effectLst/>
                        <a:highlight>
                          <a:srgbClr val="FEF2CD"/>
                        </a:highlight>
                        <a:latin typeface="Calibri"/>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lnSpc>
                          <a:spcPct val="100000"/>
                        </a:lnSpc>
                        <a:spcBef>
                          <a:spcPts val="0"/>
                        </a:spcBef>
                        <a:spcAft>
                          <a:spcPts val="0"/>
                        </a:spcAft>
                        <a:buNone/>
                      </a:pPr>
                      <a:r>
                        <a:rPr lang="en-US" sz="1000" b="0" i="0" u="none" strike="noStrike" cap="none" noProof="0" dirty="0">
                          <a:solidFill>
                            <a:srgbClr val="000000"/>
                          </a:solidFill>
                          <a:effectLst/>
                          <a:highlight>
                            <a:srgbClr val="FFE1CC"/>
                          </a:highlight>
                          <a:latin typeface="Calibri"/>
                          <a:ea typeface="+mn-ea"/>
                          <a:cs typeface="+mn-cs"/>
                          <a:sym typeface="Arial"/>
                        </a:rPr>
                        <a:t>The student is able to clean and pre-process and </a:t>
                      </a:r>
                      <a:r>
                        <a:rPr lang="en-US" sz="1000" b="0" i="0" u="none" strike="noStrike" cap="none" noProof="0" dirty="0" err="1">
                          <a:solidFill>
                            <a:srgbClr val="000000"/>
                          </a:solidFill>
                          <a:effectLst/>
                          <a:highlight>
                            <a:srgbClr val="FFE1CC"/>
                          </a:highlight>
                          <a:latin typeface="Calibri"/>
                          <a:ea typeface="+mn-ea"/>
                          <a:cs typeface="+mn-cs"/>
                          <a:sym typeface="Arial"/>
                        </a:rPr>
                        <a:t>visualise</a:t>
                      </a:r>
                      <a:r>
                        <a:rPr lang="en-US" sz="1000" b="0" i="0" u="none" strike="noStrike" cap="none" noProof="0" dirty="0">
                          <a:solidFill>
                            <a:srgbClr val="000000"/>
                          </a:solidFill>
                          <a:effectLst/>
                          <a:highlight>
                            <a:srgbClr val="FFE1CC"/>
                          </a:highlight>
                          <a:latin typeface="Calibri"/>
                          <a:ea typeface="+mn-ea"/>
                          <a:cs typeface="+mn-cs"/>
                          <a:sym typeface="Arial"/>
                        </a:rPr>
                        <a:t> data using Python libraries.</a:t>
                      </a:r>
                      <a:endParaRPr lang="en-US" sz="1000" b="0" i="0" u="none" strike="noStrike" cap="none" dirty="0">
                        <a:solidFill>
                          <a:srgbClr val="000000"/>
                        </a:solidFill>
                        <a:effectLst/>
                        <a:highlight>
                          <a:srgbClr val="FFE1CC"/>
                        </a:highlight>
                        <a:latin typeface="Calibri"/>
                        <a:ea typeface="+mn-ea"/>
                        <a:cs typeface="+mn-cs"/>
                        <a:sym typeface="Arial"/>
                      </a:endParaRPr>
                    </a:p>
                    <a:p>
                      <a:pPr lvl="0" algn="l">
                        <a:buNone/>
                      </a:pPr>
                      <a:endParaRPr lang="en-US" sz="1000" b="0" i="0" u="none" strike="noStrike" cap="none" dirty="0">
                        <a:solidFill>
                          <a:srgbClr val="000000"/>
                        </a:solidFill>
                        <a:effectLst/>
                        <a:highlight>
                          <a:srgbClr val="FFE1CC"/>
                        </a:highlight>
                        <a:latin typeface="Calibri" panose="020F0502020204030204" pitchFamily="34" charset="0"/>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cap="none" noProof="0" dirty="0">
                          <a:solidFill>
                            <a:srgbClr val="000000"/>
                          </a:solidFill>
                          <a:effectLst/>
                          <a:highlight>
                            <a:srgbClr val="FFE1CC"/>
                          </a:highlight>
                          <a:latin typeface="Calibri"/>
                          <a:ea typeface="+mn-ea"/>
                          <a:cs typeface="+mn-cs"/>
                          <a:sym typeface="Arial"/>
                        </a:rPr>
                        <a:t>The student is able to use metadata from the dataset  to </a:t>
                      </a:r>
                      <a:r>
                        <a:rPr lang="en-US" sz="1000" b="0" i="0" u="none" strike="noStrike" cap="none" noProof="0" dirty="0" err="1">
                          <a:solidFill>
                            <a:srgbClr val="000000"/>
                          </a:solidFill>
                          <a:effectLst/>
                          <a:highlight>
                            <a:srgbClr val="FFE1CC"/>
                          </a:highlight>
                          <a:latin typeface="Calibri"/>
                          <a:ea typeface="+mn-ea"/>
                          <a:cs typeface="+mn-cs"/>
                          <a:sym typeface="Arial"/>
                        </a:rPr>
                        <a:t>analyse</a:t>
                      </a:r>
                      <a:r>
                        <a:rPr lang="en-US" sz="1000" b="0" i="0" u="none" strike="noStrike" cap="none" noProof="0" dirty="0">
                          <a:solidFill>
                            <a:srgbClr val="000000"/>
                          </a:solidFill>
                          <a:effectLst/>
                          <a:highlight>
                            <a:srgbClr val="FFE1CC"/>
                          </a:highlight>
                          <a:latin typeface="Calibri"/>
                          <a:ea typeface="+mn-ea"/>
                          <a:cs typeface="+mn-cs"/>
                          <a:sym typeface="Arial"/>
                        </a:rPr>
                        <a:t> the different types of data with describing the role (e.g. id / feature/ target) as well as detecting missed values.</a:t>
                      </a:r>
                      <a:endParaRPr lang="en-US" sz="1000" b="0" i="0" u="none" strike="noStrike" cap="none" dirty="0">
                        <a:solidFill>
                          <a:srgbClr val="000000"/>
                        </a:solidFill>
                        <a:effectLst/>
                        <a:highlight>
                          <a:srgbClr val="FFE1CC"/>
                        </a:highlight>
                        <a:latin typeface="Calibri"/>
                        <a:ea typeface="+mn-ea"/>
                        <a:cs typeface="+mn-cs"/>
                        <a:sym typeface="Arial"/>
                      </a:endParaRPr>
                    </a:p>
                    <a:p>
                      <a:pPr lvl="0" algn="l">
                        <a:buNone/>
                      </a:pPr>
                      <a:endParaRPr lang="en-US" sz="1000" b="0" i="0" u="none" strike="noStrike" cap="none" dirty="0">
                        <a:solidFill>
                          <a:srgbClr val="000000"/>
                        </a:solidFill>
                        <a:effectLst/>
                        <a:highlight>
                          <a:srgbClr val="FFE1CC"/>
                        </a:highlight>
                        <a:latin typeface="Calibri" panose="020F0502020204030204" pitchFamily="34" charset="0"/>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131454656"/>
                  </a:ext>
                </a:extLst>
              </a:tr>
              <a:tr h="2157518">
                <a:tc>
                  <a:txBody>
                    <a:bodyPr/>
                    <a:lstStyle/>
                    <a:p>
                      <a:pPr algn="ctr" rtl="0" fontAlgn="t"/>
                      <a:endParaRPr lang="en-US" sz="1800" b="1" i="0" u="none" strike="noStrike" dirty="0">
                        <a:solidFill>
                          <a:schemeClr val="tx1">
                            <a:lumMod val="75000"/>
                          </a:schemeClr>
                        </a:solidFill>
                        <a:effectLst/>
                        <a:highlight>
                          <a:srgbClr val="FEF2CD"/>
                        </a:highlight>
                        <a:latin typeface="Calibri" panose="020F0502020204030204" pitchFamily="34" charset="0"/>
                      </a:endParaRPr>
                    </a:p>
                    <a:p>
                      <a:pPr algn="ctr" rtl="0" fontAlgn="t"/>
                      <a:r>
                        <a:rPr lang="en-US" sz="1000" b="1" i="0" u="none" strike="noStrike" dirty="0">
                          <a:solidFill>
                            <a:schemeClr val="tx1">
                              <a:lumMod val="75000"/>
                            </a:schemeClr>
                          </a:solidFill>
                          <a:effectLst/>
                          <a:latin typeface="Calibri" panose="020F0502020204030204" pitchFamily="34" charset="0"/>
                        </a:rPr>
                        <a:t>I submitted the completed learning log and work log, along with the fully completed creative brief notebook for Python. I ensured that all tasks were completed based on the Data Lab contents.</a:t>
                      </a:r>
                    </a:p>
                    <a:p>
                      <a:pPr algn="ctr" rtl="0" fontAlgn="t"/>
                      <a:r>
                        <a:rPr lang="en-US" sz="1000" b="1" i="0" u="none" strike="noStrike" dirty="0">
                          <a:solidFill>
                            <a:schemeClr val="tx1">
                              <a:lumMod val="75000"/>
                            </a:schemeClr>
                          </a:solidFill>
                          <a:effectLst/>
                          <a:latin typeface="Calibri" panose="020F0502020204030204" pitchFamily="34" charset="0"/>
                          <a:hlinkClick r:id="rId3"/>
                        </a:rPr>
                        <a:t>Self </a:t>
                      </a:r>
                      <a:r>
                        <a:rPr lang="en-US" sz="1000" b="1" i="0" u="none" strike="noStrike" dirty="0" err="1">
                          <a:solidFill>
                            <a:schemeClr val="tx1">
                              <a:lumMod val="75000"/>
                            </a:schemeClr>
                          </a:solidFill>
                          <a:effectLst/>
                          <a:latin typeface="Calibri" panose="020F0502020204030204" pitchFamily="34" charset="0"/>
                          <a:hlinkClick r:id="rId3"/>
                        </a:rPr>
                        <a:t>assesment</a:t>
                      </a:r>
                      <a:r>
                        <a:rPr lang="en-US" sz="1000" b="1" i="0" u="none" strike="noStrike" dirty="0">
                          <a:solidFill>
                            <a:schemeClr val="tx1">
                              <a:lumMod val="75000"/>
                            </a:schemeClr>
                          </a:solidFill>
                          <a:effectLst/>
                          <a:latin typeface="Calibri" panose="020F0502020204030204" pitchFamily="34" charset="0"/>
                          <a:hlinkClick r:id="rId3"/>
                        </a:rPr>
                        <a:t> rubric</a:t>
                      </a:r>
                      <a:endParaRPr lang="en-US" sz="1000" b="1" i="0" u="none" strike="noStrike" dirty="0">
                        <a:solidFill>
                          <a:schemeClr val="tx1">
                            <a:lumMod val="75000"/>
                          </a:schemeClr>
                        </a:solidFill>
                        <a:effectLst/>
                        <a:latin typeface="Calibri" panose="020F0502020204030204" pitchFamily="34" charset="0"/>
                      </a:endParaRPr>
                    </a:p>
                    <a:p>
                      <a:pPr algn="ctr" rtl="0" fontAlgn="t"/>
                      <a:r>
                        <a:rPr lang="en-US" sz="1000" b="1" i="0" u="none" strike="noStrike" dirty="0">
                          <a:solidFill>
                            <a:schemeClr val="tx1">
                              <a:lumMod val="75000"/>
                            </a:schemeClr>
                          </a:solidFill>
                          <a:effectLst/>
                          <a:latin typeface="Calibri" panose="020F0502020204030204" pitchFamily="34" charset="0"/>
                          <a:hlinkClick r:id="rId4"/>
                        </a:rPr>
                        <a:t>Worklog</a:t>
                      </a:r>
                      <a:endParaRPr lang="en-US" sz="1000" b="1" i="0" u="none" strike="noStrike" dirty="0">
                        <a:solidFill>
                          <a:schemeClr val="tx1">
                            <a:lumMod val="75000"/>
                          </a:schemeClr>
                        </a:solidFill>
                        <a:effectLst/>
                        <a:latin typeface="Calibri" panose="020F0502020204030204" pitchFamily="34" charset="0"/>
                      </a:endParaRPr>
                    </a:p>
                    <a:p>
                      <a:pPr algn="ctr" rtl="0" fontAlgn="t"/>
                      <a:r>
                        <a:rPr lang="en-US" sz="1000" b="1" i="0" u="none" strike="noStrike" dirty="0">
                          <a:solidFill>
                            <a:schemeClr val="tx1">
                              <a:lumMod val="75000"/>
                            </a:schemeClr>
                          </a:solidFill>
                          <a:effectLst/>
                          <a:latin typeface="Calibri" panose="020F0502020204030204" pitchFamily="34" charset="0"/>
                          <a:hlinkClick r:id="rId5"/>
                        </a:rPr>
                        <a:t>Creativebrief</a:t>
                      </a:r>
                      <a:endParaRPr lang="en-US" sz="1000" b="1" i="0" u="none" strike="noStrike" dirty="0">
                        <a:solidFill>
                          <a:schemeClr val="tx1">
                            <a:lumMod val="75000"/>
                          </a:schemeClr>
                        </a:solidFill>
                        <a:effectLst/>
                        <a:latin typeface="Calibri" panose="020F0502020204030204" pitchFamily="34" charset="0"/>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dirty="0">
                        <a:solidFill>
                          <a:schemeClr val="tx1">
                            <a:lumMod val="75000"/>
                          </a:schemeClr>
                        </a:solidFill>
                        <a:effectLst/>
                        <a:highlight>
                          <a:srgbClr val="FFE1CC"/>
                        </a:highlight>
                        <a:latin typeface="Calibri" panose="020F0502020204030204" pitchFamily="34" charset="0"/>
                      </a:endParaRPr>
                    </a:p>
                    <a:p>
                      <a:pPr algn="ctr" fontAlgn="t"/>
                      <a:r>
                        <a:rPr lang="en-US" sz="1000" b="1" i="0" u="none" strike="noStrike" dirty="0">
                          <a:solidFill>
                            <a:schemeClr val="tx1">
                              <a:lumMod val="75000"/>
                            </a:schemeClr>
                          </a:solidFill>
                          <a:effectLst/>
                          <a:latin typeface="Calibri" panose="020F0502020204030204" pitchFamily="34" charset="0"/>
                        </a:rPr>
                        <a:t>I used Python libraries like pandas, Seaborn, and Matplotlib for data cleaning, preprocessing, and visualization. visualizations identified trends and cleaning needs. Detailed steps are in the Machine Learning and Section 2B of my work.</a:t>
                      </a:r>
                    </a:p>
                    <a:p>
                      <a:pPr algn="ctr" fontAlgn="t"/>
                      <a:r>
                        <a:rPr lang="en-US" sz="1800" b="1" i="0" u="none" strike="noStrike" noProof="0" dirty="0">
                          <a:solidFill>
                            <a:schemeClr val="tx1">
                              <a:lumMod val="75000"/>
                            </a:schemeClr>
                          </a:solidFill>
                          <a:effectLst/>
                          <a:highlight>
                            <a:srgbClr val="FEF2CD"/>
                          </a:highlight>
                          <a:latin typeface="Calibri"/>
                          <a:hlinkClick r:id="rId5"/>
                        </a:rPr>
                        <a:t>Creative brief</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dirty="0">
                        <a:solidFill>
                          <a:schemeClr val="tx1">
                            <a:lumMod val="75000"/>
                          </a:schemeClr>
                        </a:solidFill>
                        <a:effectLst/>
                        <a:highlight>
                          <a:srgbClr val="FFE1CC"/>
                        </a:highlight>
                        <a:latin typeface="Calibri"/>
                      </a:endParaRPr>
                    </a:p>
                    <a:p>
                      <a:pPr lvl="0" algn="ctr">
                        <a:buNone/>
                      </a:pPr>
                      <a:endParaRPr lang="en-US" sz="1800" b="1" i="0" u="none" strike="noStrike" dirty="0">
                        <a:solidFill>
                          <a:schemeClr val="tx1">
                            <a:lumMod val="75000"/>
                          </a:schemeClr>
                        </a:solidFill>
                        <a:effectLst/>
                        <a:highlight>
                          <a:srgbClr val="FFE1CC"/>
                        </a:highlight>
                        <a:latin typeface="Calibri"/>
                      </a:endParaRPr>
                    </a:p>
                    <a:p>
                      <a:pPr lvl="0" algn="ctr">
                        <a:buNone/>
                      </a:pPr>
                      <a:r>
                        <a:rPr lang="en-US" sz="1000" b="1" i="0" u="none" strike="noStrike" noProof="0" dirty="0">
                          <a:solidFill>
                            <a:schemeClr val="tx1">
                              <a:lumMod val="75000"/>
                            </a:schemeClr>
                          </a:solidFill>
                          <a:effectLst/>
                          <a:latin typeface="Calibri"/>
                        </a:rPr>
                        <a:t>I analyzed the metadata from the dataset to categorize columns by their roles, such as ID, features, and target variables. This analysis ensured that the target variable was relevant and well-defined for modeling </a:t>
                      </a:r>
                      <a:r>
                        <a:rPr lang="en-US" sz="1000" b="1" i="0" u="none" strike="noStrike" noProof="0" dirty="0" err="1">
                          <a:solidFill>
                            <a:schemeClr val="tx1">
                              <a:lumMod val="75000"/>
                            </a:schemeClr>
                          </a:solidFill>
                          <a:effectLst/>
                          <a:latin typeface="Calibri"/>
                        </a:rPr>
                        <a:t>purposes.For</a:t>
                      </a:r>
                      <a:r>
                        <a:rPr lang="en-US" sz="1000" b="1" i="0" u="none" strike="noStrike" noProof="0" dirty="0">
                          <a:solidFill>
                            <a:schemeClr val="tx1">
                              <a:lumMod val="75000"/>
                            </a:schemeClr>
                          </a:solidFill>
                          <a:effectLst/>
                          <a:latin typeface="Calibri"/>
                        </a:rPr>
                        <a:t> feature selection, I used decision trees and correlation analysis to choose specific features while avoiding </a:t>
                      </a:r>
                      <a:r>
                        <a:rPr lang="en-US" sz="1000" b="1" i="0" u="none" strike="noStrike" noProof="0" dirty="0" err="1">
                          <a:solidFill>
                            <a:schemeClr val="tx1">
                              <a:lumMod val="75000"/>
                            </a:schemeClr>
                          </a:solidFill>
                          <a:effectLst/>
                          <a:latin typeface="Calibri"/>
                        </a:rPr>
                        <a:t>overfitting.You</a:t>
                      </a:r>
                      <a:r>
                        <a:rPr lang="en-US" sz="1000" b="1" i="0" u="none" strike="noStrike" noProof="0" dirty="0">
                          <a:solidFill>
                            <a:schemeClr val="tx1">
                              <a:lumMod val="75000"/>
                            </a:schemeClr>
                          </a:solidFill>
                          <a:effectLst/>
                          <a:latin typeface="Calibri"/>
                        </a:rPr>
                        <a:t> can see the details in my </a:t>
                      </a:r>
                      <a:r>
                        <a:rPr lang="en-US" sz="1000" b="1" i="0" u="none" strike="noStrike" noProof="0" dirty="0" err="1">
                          <a:solidFill>
                            <a:schemeClr val="tx1">
                              <a:lumMod val="75000"/>
                            </a:schemeClr>
                          </a:solidFill>
                          <a:effectLst/>
                          <a:latin typeface="Calibri"/>
                        </a:rPr>
                        <a:t>Jupyter</a:t>
                      </a:r>
                      <a:r>
                        <a:rPr lang="en-US" sz="1000" b="1" i="0" u="none" strike="noStrike" noProof="0" dirty="0">
                          <a:solidFill>
                            <a:schemeClr val="tx1">
                              <a:lumMod val="75000"/>
                            </a:schemeClr>
                          </a:solidFill>
                          <a:effectLst/>
                          <a:latin typeface="Calibri"/>
                        </a:rPr>
                        <a:t> Notebook. </a:t>
                      </a:r>
                    </a:p>
                    <a:p>
                      <a:pPr lvl="0" algn="ctr">
                        <a:buNone/>
                      </a:pPr>
                      <a:r>
                        <a:rPr lang="en-US" sz="1800" b="1" i="0" u="none" strike="noStrike" noProof="0" dirty="0">
                          <a:solidFill>
                            <a:schemeClr val="tx1">
                              <a:lumMod val="75000"/>
                            </a:schemeClr>
                          </a:solidFill>
                          <a:effectLst/>
                          <a:highlight>
                            <a:srgbClr val="FEF2CD"/>
                          </a:highlight>
                          <a:latin typeface="Calibri"/>
                          <a:hlinkClick r:id="rId5"/>
                        </a:rPr>
                        <a:t>Creativebrief</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66779070"/>
                  </a:ext>
                </a:extLst>
              </a:tr>
            </a:tbl>
          </a:graphicData>
        </a:graphic>
      </p:graphicFrame>
    </p:spTree>
    <p:extLst>
      <p:ext uri="{BB962C8B-B14F-4D97-AF65-F5344CB8AC3E}">
        <p14:creationId xmlns:p14="http://schemas.microsoft.com/office/powerpoint/2010/main" val="13079797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8.1</a:t>
            </a:r>
            <a:endParaRPr lang="en-US"/>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r>
              <a:rPr lang="en-US"/>
              <a:t>Modelling</a:t>
            </a: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US"/>
              <a:t>The student can apply modelling techniques including Machine Learning and AI to create value for individuals, organizations and domains. </a:t>
            </a:r>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rPr>
              <a:t>8</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9339090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8</a:t>
            </a:r>
            <a:endParaRPr lang="en-US"/>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6380860" cy="576000"/>
          </a:xfrm>
          <a:prstGeom prst="rect">
            <a:avLst/>
          </a:prstGeom>
        </p:spPr>
        <p:txBody>
          <a:bodyPr spcFirstLastPara="1" wrap="square" lIns="91425" tIns="91425" rIns="91425" bIns="91425" anchor="ctr" anchorCtr="0">
            <a:noAutofit/>
          </a:bodyPr>
          <a:lstStyle/>
          <a:p>
            <a:r>
              <a:rPr lang="en-US" sz="1050"/>
              <a:t>The student can apply modelling techniques including Machine Learning and AI to create value for individuals, organizations and domains. </a:t>
            </a:r>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8.1</a:t>
            </a:r>
            <a:endParaRPr/>
          </a:p>
        </p:txBody>
      </p:sp>
      <p:sp>
        <p:nvSpPr>
          <p:cNvPr id="398" name="Google Shape;398;p42"/>
          <p:cNvSpPr txBox="1">
            <a:spLocks noGrp="1"/>
          </p:cNvSpPr>
          <p:nvPr>
            <p:ph type="title" idx="5"/>
          </p:nvPr>
        </p:nvSpPr>
        <p:spPr>
          <a:xfrm>
            <a:off x="845550" y="576000"/>
            <a:ext cx="8298450" cy="493800"/>
          </a:xfrm>
          <a:prstGeom prst="rect">
            <a:avLst/>
          </a:prstGeom>
        </p:spPr>
        <p:txBody>
          <a:bodyPr spcFirstLastPara="1" wrap="square" lIns="91425" tIns="91425" rIns="91425" bIns="91425" anchor="ctr" anchorCtr="0">
            <a:noAutofit/>
          </a:bodyPr>
          <a:lstStyle/>
          <a:p>
            <a:r>
              <a:rPr lang="en-US" i="0"/>
              <a:t>The student is able to understand different types of supervised and unsupervised machine learning algorithms for data analysis  and can implement these to solve a business objective using industry standard Python libraries.</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900"/>
              <a:t>Modelling</a:t>
            </a:r>
            <a:endParaRPr lang="en-US"/>
          </a:p>
        </p:txBody>
      </p:sp>
      <p:graphicFrame>
        <p:nvGraphicFramePr>
          <p:cNvPr id="2" name="Table 1">
            <a:extLst>
              <a:ext uri="{FF2B5EF4-FFF2-40B4-BE49-F238E27FC236}">
                <a16:creationId xmlns:a16="http://schemas.microsoft.com/office/drawing/2014/main" id="{57E3E280-FB5F-EC44-E126-2CCC797691FD}"/>
              </a:ext>
            </a:extLst>
          </p:cNvPr>
          <p:cNvGraphicFramePr>
            <a:graphicFrameLocks noGrp="1"/>
          </p:cNvGraphicFramePr>
          <p:nvPr>
            <p:extLst>
              <p:ext uri="{D42A27DB-BD31-4B8C-83A1-F6EECF244321}">
                <p14:modId xmlns:p14="http://schemas.microsoft.com/office/powerpoint/2010/main" val="122841254"/>
              </p:ext>
            </p:extLst>
          </p:nvPr>
        </p:nvGraphicFramePr>
        <p:xfrm>
          <a:off x="0" y="1069800"/>
          <a:ext cx="9144001" cy="4412701"/>
        </p:xfrm>
        <a:graphic>
          <a:graphicData uri="http://schemas.openxmlformats.org/drawingml/2006/table">
            <a:tbl>
              <a:tblPr/>
              <a:tblGrid>
                <a:gridCol w="1520946">
                  <a:extLst>
                    <a:ext uri="{9D8B030D-6E8A-4147-A177-3AD203B41FA5}">
                      <a16:colId xmlns:a16="http://schemas.microsoft.com/office/drawing/2014/main" val="2171384223"/>
                    </a:ext>
                  </a:extLst>
                </a:gridCol>
                <a:gridCol w="1502622">
                  <a:extLst>
                    <a:ext uri="{9D8B030D-6E8A-4147-A177-3AD203B41FA5}">
                      <a16:colId xmlns:a16="http://schemas.microsoft.com/office/drawing/2014/main" val="1315127927"/>
                    </a:ext>
                  </a:extLst>
                </a:gridCol>
                <a:gridCol w="1557595">
                  <a:extLst>
                    <a:ext uri="{9D8B030D-6E8A-4147-A177-3AD203B41FA5}">
                      <a16:colId xmlns:a16="http://schemas.microsoft.com/office/drawing/2014/main" val="2516077077"/>
                    </a:ext>
                  </a:extLst>
                </a:gridCol>
                <a:gridCol w="1520946">
                  <a:extLst>
                    <a:ext uri="{9D8B030D-6E8A-4147-A177-3AD203B41FA5}">
                      <a16:colId xmlns:a16="http://schemas.microsoft.com/office/drawing/2014/main" val="2417746137"/>
                    </a:ext>
                  </a:extLst>
                </a:gridCol>
                <a:gridCol w="1520946">
                  <a:extLst>
                    <a:ext uri="{9D8B030D-6E8A-4147-A177-3AD203B41FA5}">
                      <a16:colId xmlns:a16="http://schemas.microsoft.com/office/drawing/2014/main" val="2357257076"/>
                    </a:ext>
                  </a:extLst>
                </a:gridCol>
                <a:gridCol w="1520946">
                  <a:extLst>
                    <a:ext uri="{9D8B030D-6E8A-4147-A177-3AD203B41FA5}">
                      <a16:colId xmlns:a16="http://schemas.microsoft.com/office/drawing/2014/main" val="1775122286"/>
                    </a:ext>
                  </a:extLst>
                </a:gridCol>
              </a:tblGrid>
              <a:tr h="169455">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2505160243"/>
                  </a:ext>
                </a:extLst>
              </a:tr>
              <a:tr h="1952123">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has a sufficient knowledge about ML algorithms. 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 </a:t>
                      </a:r>
                      <a:endParaRPr lang="en-US" sz="1000">
                        <a:latin typeface="Calibri"/>
                      </a:endParaRPr>
                    </a:p>
                    <a:p>
                      <a:pPr lvl="0" algn="l">
                        <a:buNone/>
                      </a:pPr>
                      <a:r>
                        <a:rPr lang="en-US" sz="1000" b="0" i="0" u="none" strike="noStrike">
                          <a:solidFill>
                            <a:srgbClr val="000000"/>
                          </a:solidFill>
                          <a:effectLst/>
                          <a:highlight>
                            <a:srgbClr val="FEF2CD"/>
                          </a:highlight>
                          <a:latin typeface="Calibri"/>
                        </a:rPr>
                        <a:t>. </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ctr">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understand regression concepts and build a regression baseline using dataset. </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buNone/>
                      </a:pPr>
                      <a:r>
                        <a:rPr lang="en-US" sz="1000" b="0" i="0" u="none" strike="noStrike" noProof="0">
                          <a:solidFill>
                            <a:srgbClr val="000000"/>
                          </a:solidFill>
                          <a:effectLst/>
                          <a:highlight>
                            <a:srgbClr val="F7C7AC"/>
                          </a:highlight>
                          <a:latin typeface="Calibri"/>
                        </a:rPr>
                        <a:t>The student is able to understand classification concepts and build a classification baseline using dataset</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understand clustering concepts and build a clustering baseline to segment patients into clusters using dataset.</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is able to do the feature selection and engineering in dataset and is able to improve their model by tuning its hyperparameter(s) using a validation set and justify their model improvement(s) in the context of the business objective.</a:t>
                      </a:r>
                      <a:endParaRPr lang="en-US" sz="1000">
                        <a:latin typeface="Calibri"/>
                      </a:endParaRPr>
                    </a:p>
                    <a:p>
                      <a:pPr lvl="0" algn="l">
                        <a:buNone/>
                      </a:pPr>
                      <a:endParaRPr lang="en-US" sz="1000" b="0" i="0" u="none" strike="noStrike">
                        <a:solidFill>
                          <a:srgbClr val="000000"/>
                        </a:solidFill>
                        <a:effectLst/>
                        <a:highlight>
                          <a:srgbClr val="F7C7A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dirty="0">
                          <a:solidFill>
                            <a:srgbClr val="000000"/>
                          </a:solidFill>
                          <a:effectLst/>
                          <a:highlight>
                            <a:srgbClr val="FFE1CC"/>
                          </a:highlight>
                          <a:latin typeface="Calibri"/>
                        </a:rPr>
                        <a:t>The student is able to </a:t>
                      </a:r>
                      <a:r>
                        <a:rPr lang="en-US" sz="1000" b="0" i="0" u="none" strike="noStrike" noProof="0" dirty="0" err="1">
                          <a:solidFill>
                            <a:srgbClr val="000000"/>
                          </a:solidFill>
                          <a:effectLst/>
                          <a:highlight>
                            <a:srgbClr val="FFE1CC"/>
                          </a:highlight>
                          <a:latin typeface="Calibri"/>
                        </a:rPr>
                        <a:t>analyse</a:t>
                      </a:r>
                      <a:r>
                        <a:rPr lang="en-US" sz="1000" b="0" i="0" u="none" strike="noStrike" noProof="0" dirty="0">
                          <a:solidFill>
                            <a:srgbClr val="000000"/>
                          </a:solidFill>
                          <a:effectLst/>
                          <a:highlight>
                            <a:srgbClr val="FFE1CC"/>
                          </a:highlight>
                          <a:latin typeface="Calibri"/>
                        </a:rPr>
                        <a:t> and interpret the results obtained from the ML algorithms for model selection based on the solution requirements and dataset features.</a:t>
                      </a:r>
                      <a:endParaRPr lang="en-US" sz="1000" dirty="0">
                        <a:latin typeface="Calibri"/>
                      </a:endParaRPr>
                    </a:p>
                    <a:p>
                      <a:pPr lvl="0" algn="l">
                        <a:buNone/>
                      </a:pPr>
                      <a:endParaRPr lang="en-US" sz="1000" b="0" i="0" u="none" strike="noStrike" dirty="0">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510942754"/>
                  </a:ext>
                </a:extLst>
              </a:tr>
              <a:tr h="1952123">
                <a:tc>
                  <a:txBody>
                    <a:bodyPr/>
                    <a:lstStyle/>
                    <a:p>
                      <a:pPr algn="ctr" rtl="0" fontAlgn="t"/>
                      <a:endParaRPr lang="en-US" sz="1800" b="1" i="0" u="none" strike="noStrike" dirty="0">
                        <a:solidFill>
                          <a:schemeClr val="tx1">
                            <a:lumMod val="75000"/>
                          </a:schemeClr>
                        </a:solidFill>
                        <a:effectLst/>
                        <a:highlight>
                          <a:srgbClr val="FEF2CD"/>
                        </a:highlight>
                        <a:latin typeface="Calibri" panose="020F0502020204030204" pitchFamily="34" charset="0"/>
                      </a:endParaRPr>
                    </a:p>
                    <a:p>
                      <a:pPr algn="ctr" rtl="0" fontAlgn="t"/>
                      <a:r>
                        <a:rPr lang="en-US" sz="1000" b="1" i="0" u="none" strike="noStrike" dirty="0">
                          <a:solidFill>
                            <a:schemeClr val="tx1">
                              <a:lumMod val="75000"/>
                            </a:schemeClr>
                          </a:solidFill>
                          <a:effectLst/>
                          <a:latin typeface="Calibri" panose="020F0502020204030204" pitchFamily="34" charset="0"/>
                        </a:rPr>
                        <a:t>With the help of the book and the creative brief, I was able to understand the material very well . You can see in my </a:t>
                      </a:r>
                      <a:r>
                        <a:rPr lang="en-US" sz="1000" b="1" i="0" u="none" strike="noStrike" dirty="0" err="1">
                          <a:solidFill>
                            <a:schemeClr val="tx1">
                              <a:lumMod val="75000"/>
                            </a:schemeClr>
                          </a:solidFill>
                          <a:effectLst/>
                          <a:latin typeface="Calibri" panose="020F0502020204030204" pitchFamily="34" charset="0"/>
                        </a:rPr>
                        <a:t>jupyter</a:t>
                      </a:r>
                      <a:r>
                        <a:rPr lang="en-US" sz="1000" b="1" i="0" u="none" strike="noStrike" dirty="0">
                          <a:solidFill>
                            <a:schemeClr val="tx1">
                              <a:lumMod val="75000"/>
                            </a:schemeClr>
                          </a:solidFill>
                          <a:effectLst/>
                          <a:latin typeface="Calibri" panose="020F0502020204030204" pitchFamily="34" charset="0"/>
                        </a:rPr>
                        <a:t> notebook </a:t>
                      </a:r>
                    </a:p>
                    <a:p>
                      <a:pPr algn="ctr" rtl="0" fontAlgn="t"/>
                      <a:r>
                        <a:rPr lang="en-US" sz="1000" b="1" i="0" u="none" strike="noStrike" dirty="0">
                          <a:solidFill>
                            <a:schemeClr val="tx1">
                              <a:lumMod val="75000"/>
                            </a:schemeClr>
                          </a:solidFill>
                          <a:effectLst/>
                          <a:latin typeface="Calibri" panose="020F0502020204030204" pitchFamily="34" charset="0"/>
                          <a:hlinkClick r:id="rId3"/>
                        </a:rPr>
                        <a:t>Self </a:t>
                      </a:r>
                      <a:r>
                        <a:rPr lang="en-US" sz="1000" b="1" i="0" u="none" strike="noStrike" dirty="0" err="1">
                          <a:solidFill>
                            <a:schemeClr val="tx1">
                              <a:lumMod val="75000"/>
                            </a:schemeClr>
                          </a:solidFill>
                          <a:effectLst/>
                          <a:latin typeface="Calibri" panose="020F0502020204030204" pitchFamily="34" charset="0"/>
                          <a:hlinkClick r:id="rId3"/>
                        </a:rPr>
                        <a:t>assesment</a:t>
                      </a:r>
                      <a:r>
                        <a:rPr lang="en-US" sz="1000" b="1" i="0" u="none" strike="noStrike" dirty="0">
                          <a:solidFill>
                            <a:schemeClr val="tx1">
                              <a:lumMod val="75000"/>
                            </a:schemeClr>
                          </a:solidFill>
                          <a:effectLst/>
                          <a:latin typeface="Calibri" panose="020F0502020204030204" pitchFamily="34" charset="0"/>
                          <a:hlinkClick r:id="rId3"/>
                        </a:rPr>
                        <a:t> rubric</a:t>
                      </a:r>
                      <a:endParaRPr lang="en-US" sz="1000" b="1" i="0" u="none" strike="noStrike" dirty="0">
                        <a:solidFill>
                          <a:schemeClr val="tx1">
                            <a:lumMod val="75000"/>
                          </a:schemeClr>
                        </a:solidFill>
                        <a:effectLst/>
                        <a:latin typeface="Calibri" panose="020F0502020204030204" pitchFamily="34" charset="0"/>
                      </a:endParaRPr>
                    </a:p>
                    <a:p>
                      <a:pPr algn="ctr" rtl="0" fontAlgn="t"/>
                      <a:r>
                        <a:rPr lang="en-US" sz="1000" b="1" i="0" u="none" strike="noStrike" dirty="0">
                          <a:solidFill>
                            <a:schemeClr val="tx1">
                              <a:lumMod val="75000"/>
                            </a:schemeClr>
                          </a:solidFill>
                          <a:effectLst/>
                          <a:latin typeface="Calibri" panose="020F0502020204030204" pitchFamily="34" charset="0"/>
                          <a:hlinkClick r:id="rId4"/>
                        </a:rPr>
                        <a:t>Worklog</a:t>
                      </a:r>
                      <a:endParaRPr lang="en-US" sz="1000" b="1" i="0" u="none" strike="noStrike" dirty="0">
                        <a:solidFill>
                          <a:schemeClr val="tx1">
                            <a:lumMod val="75000"/>
                          </a:schemeClr>
                        </a:solidFill>
                        <a:effectLst/>
                        <a:latin typeface="Calibri" panose="020F0502020204030204" pitchFamily="34" charset="0"/>
                      </a:endParaRPr>
                    </a:p>
                    <a:p>
                      <a:pPr algn="ctr" rtl="0" fontAlgn="t"/>
                      <a:r>
                        <a:rPr lang="en-US" sz="1000" b="1" i="0" u="none" strike="noStrike" dirty="0">
                          <a:solidFill>
                            <a:schemeClr val="tx1">
                              <a:lumMod val="75000"/>
                            </a:schemeClr>
                          </a:solidFill>
                          <a:effectLst/>
                          <a:latin typeface="Calibri" panose="020F0502020204030204" pitchFamily="34" charset="0"/>
                          <a:hlinkClick r:id="rId5"/>
                        </a:rPr>
                        <a:t>Creativebrief</a:t>
                      </a:r>
                      <a:endParaRPr lang="en-US" sz="1000" b="1" i="0" u="none" strike="noStrike" dirty="0">
                        <a:solidFill>
                          <a:schemeClr val="tx1">
                            <a:lumMod val="75000"/>
                          </a:schemeClr>
                        </a:solidFill>
                        <a:effectLst/>
                        <a:latin typeface="Calibri" panose="020F0502020204030204" pitchFamily="34" charset="0"/>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dirty="0">
                        <a:solidFill>
                          <a:schemeClr val="tx1">
                            <a:lumMod val="75000"/>
                          </a:schemeClr>
                        </a:solidFill>
                        <a:effectLst/>
                        <a:highlight>
                          <a:srgbClr val="FFE1CC"/>
                        </a:highlight>
                        <a:latin typeface="Calibri" panose="020F0502020204030204" pitchFamily="34" charset="0"/>
                      </a:endParaRPr>
                    </a:p>
                    <a:p>
                      <a:pPr algn="ctr" fontAlgn="t"/>
                      <a:r>
                        <a:rPr lang="en-US" sz="1000" b="1" i="0" u="none" strike="noStrike" dirty="0">
                          <a:solidFill>
                            <a:schemeClr val="tx1">
                              <a:lumMod val="75000"/>
                            </a:schemeClr>
                          </a:solidFill>
                          <a:effectLst/>
                          <a:latin typeface="Calibri" panose="020F0502020204030204" pitchFamily="34" charset="0"/>
                        </a:rPr>
                        <a:t>I believe I performed well in the regression part of the creative brief.</a:t>
                      </a:r>
                    </a:p>
                    <a:p>
                      <a:pPr algn="ctr" fontAlgn="t"/>
                      <a:r>
                        <a:rPr lang="en-US" sz="1000" b="1" i="0" u="none" strike="noStrike" dirty="0">
                          <a:solidFill>
                            <a:schemeClr val="tx1">
                              <a:lumMod val="75000"/>
                            </a:schemeClr>
                          </a:solidFill>
                          <a:effectLst/>
                          <a:latin typeface="Calibri" panose="020F0502020204030204" pitchFamily="34" charset="0"/>
                        </a:rPr>
                        <a:t>Which it is in a first part of machine learning</a:t>
                      </a:r>
                    </a:p>
                    <a:p>
                      <a:pPr algn="ctr" fontAlgn="t"/>
                      <a:r>
                        <a:rPr lang="en-US" sz="1800" b="1" i="0" u="none" strike="noStrike" noProof="0" dirty="0">
                          <a:solidFill>
                            <a:schemeClr val="tx1">
                              <a:lumMod val="75000"/>
                            </a:schemeClr>
                          </a:solidFill>
                          <a:effectLst/>
                          <a:highlight>
                            <a:srgbClr val="FEF2CD"/>
                          </a:highlight>
                          <a:latin typeface="Calibri"/>
                          <a:hlinkClick r:id="rId5"/>
                        </a:rPr>
                        <a:t>Creative brief</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r>
                        <a:rPr lang="en-US" sz="800" b="1" i="0" u="none" strike="noStrike" dirty="0">
                          <a:solidFill>
                            <a:schemeClr val="tx1">
                              <a:lumMod val="75000"/>
                            </a:schemeClr>
                          </a:solidFill>
                          <a:effectLst/>
                          <a:latin typeface="Calibri"/>
                        </a:rPr>
                        <a:t> I performed well in the classification parts of my creative brief. After cleaning my data, I selected one target variable and multiple features to achieve good accuracy, and I believe I got strong scores</a:t>
                      </a:r>
                    </a:p>
                    <a:p>
                      <a:pPr lvl="0" algn="ctr">
                        <a:buNone/>
                      </a:pPr>
                      <a:r>
                        <a:rPr lang="en-US" sz="1800" b="1" i="0" u="none" strike="noStrike" noProof="0" dirty="0">
                          <a:solidFill>
                            <a:schemeClr val="tx1">
                              <a:lumMod val="75000"/>
                            </a:schemeClr>
                          </a:solidFill>
                          <a:effectLst/>
                          <a:highlight>
                            <a:srgbClr val="FEF2CD"/>
                          </a:highlight>
                          <a:latin typeface="Calibri"/>
                          <a:hlinkClick r:id="rId5"/>
                        </a:rPr>
                        <a:t>Creativebrief</a:t>
                      </a:r>
                      <a:endParaRPr lang="en-US" sz="1800" b="1" i="0" u="none" strike="noStrike" noProof="0" dirty="0">
                        <a:solidFill>
                          <a:schemeClr val="tx1">
                            <a:lumMod val="75000"/>
                          </a:schemeClr>
                        </a:solidFill>
                        <a:effectLst/>
                        <a:highlight>
                          <a:srgbClr val="FEF2CD"/>
                        </a:highlight>
                        <a:latin typeface="Calibri"/>
                      </a:endParaRPr>
                    </a:p>
                    <a:p>
                      <a:pPr lvl="0" algn="ctr">
                        <a:buNone/>
                      </a:pP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dirty="0">
                        <a:solidFill>
                          <a:schemeClr val="tx1">
                            <a:lumMod val="75000"/>
                          </a:schemeClr>
                        </a:solidFill>
                        <a:effectLst/>
                        <a:highlight>
                          <a:srgbClr val="FFE1CC"/>
                        </a:highlight>
                        <a:latin typeface="Calibri"/>
                      </a:endParaRPr>
                    </a:p>
                    <a:p>
                      <a:pPr lvl="0" algn="ctr">
                        <a:buNone/>
                      </a:pPr>
                      <a:r>
                        <a:rPr lang="en-US" sz="1000" b="1" i="0" u="none" strike="noStrike" dirty="0">
                          <a:solidFill>
                            <a:schemeClr val="tx1">
                              <a:lumMod val="75000"/>
                            </a:schemeClr>
                          </a:solidFill>
                          <a:effectLst/>
                          <a:latin typeface="Calibri"/>
                        </a:rPr>
                        <a:t>I also performed well in this part of my creative brief.</a:t>
                      </a:r>
                    </a:p>
                    <a:p>
                      <a:pPr lvl="0" algn="ctr">
                        <a:buNone/>
                      </a:pPr>
                      <a:r>
                        <a:rPr lang="en-US" sz="1000" b="1" i="0" u="none" strike="noStrike" dirty="0">
                          <a:solidFill>
                            <a:schemeClr val="tx1">
                              <a:lumMod val="75000"/>
                            </a:schemeClr>
                          </a:solidFill>
                          <a:effectLst/>
                          <a:latin typeface="Calibri"/>
                        </a:rPr>
                        <a:t>I used two different metric score to get a good result.</a:t>
                      </a:r>
                    </a:p>
                    <a:p>
                      <a:pPr lvl="0" algn="ctr">
                        <a:buNone/>
                      </a:pPr>
                      <a:endParaRPr lang="en-US" sz="1000" b="1" i="0" u="none" strike="noStrike" dirty="0">
                        <a:solidFill>
                          <a:schemeClr val="tx1">
                            <a:lumMod val="75000"/>
                          </a:schemeClr>
                        </a:solidFill>
                        <a:effectLst/>
                        <a:latin typeface="Calibri"/>
                      </a:endParaRPr>
                    </a:p>
                    <a:p>
                      <a:pPr lvl="0" algn="ctr">
                        <a:buNone/>
                      </a:pPr>
                      <a:r>
                        <a:rPr lang="en-US" sz="1000" b="1" i="0" u="none" strike="noStrike" dirty="0">
                          <a:solidFill>
                            <a:schemeClr val="tx1">
                              <a:lumMod val="75000"/>
                            </a:schemeClr>
                          </a:solidFill>
                          <a:effectLst/>
                          <a:latin typeface="Calibri"/>
                          <a:hlinkClick r:id="rId5"/>
                        </a:rPr>
                        <a:t>Creative brief</a:t>
                      </a:r>
                      <a:endParaRPr lang="en-US" sz="1000" b="1" i="0" u="none" strike="noStrike" dirty="0">
                        <a:solidFill>
                          <a:schemeClr val="tx1">
                            <a:lumMod val="75000"/>
                          </a:schemeClr>
                        </a:solidFill>
                        <a:effectLst/>
                        <a:latin typeface="Calibri"/>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000" b="1" i="0" u="none" strike="noStrike" dirty="0">
                        <a:solidFill>
                          <a:schemeClr val="tx1">
                            <a:lumMod val="75000"/>
                          </a:schemeClr>
                        </a:solidFill>
                        <a:effectLst/>
                        <a:highlight>
                          <a:srgbClr val="FFE1CC"/>
                        </a:highlight>
                        <a:latin typeface="Calibri"/>
                      </a:endParaRPr>
                    </a:p>
                    <a:p>
                      <a:pPr lvl="0" algn="ctr">
                        <a:buNone/>
                      </a:pPr>
                      <a:r>
                        <a:rPr lang="en-US" sz="1000" b="1" i="0" u="none" strike="noStrike" dirty="0">
                          <a:solidFill>
                            <a:schemeClr val="tx1">
                              <a:lumMod val="75000"/>
                            </a:schemeClr>
                          </a:solidFill>
                          <a:effectLst/>
                          <a:latin typeface="Calibri"/>
                        </a:rPr>
                        <a:t>Fortunately, I completed essential feature engineering tasks early in the process. These included scaling the data, creating new features, and converting categorical data into numerical formats. </a:t>
                      </a:r>
                    </a:p>
                    <a:p>
                      <a:pPr lvl="0" algn="ctr">
                        <a:buNone/>
                      </a:pPr>
                      <a:r>
                        <a:rPr lang="en-US" sz="1000" b="1" i="0" u="none" strike="noStrike" dirty="0">
                          <a:solidFill>
                            <a:schemeClr val="tx1">
                              <a:lumMod val="75000"/>
                            </a:schemeClr>
                          </a:solidFill>
                          <a:effectLst/>
                          <a:latin typeface="Calibri"/>
                        </a:rPr>
                        <a:t>You can find the details in the first step of my </a:t>
                      </a:r>
                      <a:r>
                        <a:rPr lang="en-US" sz="1000" b="1" i="0" u="none" strike="noStrike" dirty="0" err="1">
                          <a:solidFill>
                            <a:schemeClr val="tx1">
                              <a:lumMod val="75000"/>
                            </a:schemeClr>
                          </a:solidFill>
                          <a:effectLst/>
                          <a:latin typeface="Calibri"/>
                        </a:rPr>
                        <a:t>Jupyter</a:t>
                      </a:r>
                      <a:r>
                        <a:rPr lang="en-US" sz="1000" b="1" i="0" u="none" strike="noStrike" dirty="0">
                          <a:solidFill>
                            <a:schemeClr val="tx1">
                              <a:lumMod val="75000"/>
                            </a:schemeClr>
                          </a:solidFill>
                          <a:effectLst/>
                          <a:latin typeface="Calibri"/>
                        </a:rPr>
                        <a:t> Notebook under the machine learning section. Here is the link: </a:t>
                      </a:r>
                    </a:p>
                    <a:p>
                      <a:pPr lvl="0" algn="ctr">
                        <a:buNone/>
                      </a:pPr>
                      <a:r>
                        <a:rPr lang="en-US" sz="1000" b="1" i="0" u="none" strike="noStrike" dirty="0">
                          <a:solidFill>
                            <a:schemeClr val="tx1">
                              <a:lumMod val="75000"/>
                            </a:schemeClr>
                          </a:solidFill>
                          <a:effectLst/>
                          <a:latin typeface="Calibri"/>
                          <a:hlinkClick r:id="rId5"/>
                        </a:rPr>
                        <a:t>Creativebrief</a:t>
                      </a:r>
                      <a:endParaRPr lang="en-US" sz="1000" b="1" i="0" u="none" strike="noStrike" dirty="0">
                        <a:solidFill>
                          <a:schemeClr val="tx1">
                            <a:lumMod val="75000"/>
                          </a:schemeClr>
                        </a:solidFill>
                        <a:effectLst/>
                        <a:latin typeface="Calibri"/>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noProof="0" dirty="0">
                        <a:solidFill>
                          <a:schemeClr val="tx1">
                            <a:lumMod val="75000"/>
                          </a:schemeClr>
                        </a:solidFill>
                        <a:effectLst/>
                        <a:highlight>
                          <a:srgbClr val="FEF2CD"/>
                        </a:highlight>
                        <a:latin typeface="Calibri"/>
                        <a:hlinkClick r:id="rId6"/>
                      </a:endParaRPr>
                    </a:p>
                    <a:p>
                      <a:pPr lvl="0" algn="ctr">
                        <a:buNone/>
                      </a:pPr>
                      <a:r>
                        <a:rPr lang="en-US" sz="1000" b="0" i="0" u="none" strike="noStrike" noProof="0" dirty="0">
                          <a:solidFill>
                            <a:schemeClr val="tx1">
                              <a:lumMod val="75000"/>
                            </a:schemeClr>
                          </a:solidFill>
                          <a:effectLst/>
                          <a:latin typeface="Calibri"/>
                          <a:hlinkClick r:id="rId6">
                            <a:extLst>
                              <a:ext uri="{A12FA001-AC4F-418D-AE19-62706E023703}">
                                <ahyp:hlinkClr xmlns:ahyp="http://schemas.microsoft.com/office/drawing/2018/hyperlinkcolor" val="tx"/>
                              </a:ext>
                            </a:extLst>
                          </a:hlinkClick>
                        </a:rPr>
                        <a:t>I successfully analyzed and interpreted the results obtained from the ML algorithms. Detailed explanations and evidence of this analysis can be found in the links provided below.</a:t>
                      </a:r>
                      <a:endParaRPr lang="en-US" sz="1000" b="0" i="0" u="none" strike="noStrike" noProof="0" dirty="0">
                        <a:solidFill>
                          <a:schemeClr val="tx1">
                            <a:lumMod val="75000"/>
                          </a:schemeClr>
                        </a:solidFill>
                        <a:effectLst/>
                        <a:latin typeface="Calibri"/>
                      </a:endParaRPr>
                    </a:p>
                    <a:p>
                      <a:pPr lvl="0" algn="ctr">
                        <a:buNone/>
                      </a:pPr>
                      <a:r>
                        <a:rPr lang="en-US" sz="1800" b="1" i="0" u="none" strike="noStrike" noProof="0" dirty="0">
                          <a:solidFill>
                            <a:schemeClr val="tx1">
                              <a:lumMod val="75000"/>
                            </a:schemeClr>
                          </a:solidFill>
                          <a:effectLst/>
                          <a:highlight>
                            <a:srgbClr val="FEF2CD"/>
                          </a:highlight>
                          <a:latin typeface="Calibri"/>
                          <a:hlinkClick r:id="rId5"/>
                        </a:rPr>
                        <a:t>Creative brief</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825924416"/>
                  </a:ext>
                </a:extLst>
              </a:tr>
            </a:tbl>
          </a:graphicData>
        </a:graphic>
      </p:graphicFrame>
    </p:spTree>
    <p:extLst>
      <p:ext uri="{BB962C8B-B14F-4D97-AF65-F5344CB8AC3E}">
        <p14:creationId xmlns:p14="http://schemas.microsoft.com/office/powerpoint/2010/main" val="830931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8.2</a:t>
            </a:r>
            <a:endParaRPr lang="en-US"/>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r>
              <a:rPr lang="en-US"/>
              <a:t>Modelling</a:t>
            </a: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US"/>
              <a:t>The student can apply modelling techniques including Machine Learning and AI to create value for individuals, organizations and domains. </a:t>
            </a:r>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rPr>
              <a:t>8</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9643193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8</a:t>
            </a:r>
            <a:endParaRPr lang="en-US"/>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6380860" cy="576000"/>
          </a:xfrm>
          <a:prstGeom prst="rect">
            <a:avLst/>
          </a:prstGeom>
        </p:spPr>
        <p:txBody>
          <a:bodyPr spcFirstLastPara="1" wrap="square" lIns="91425" tIns="91425" rIns="91425" bIns="91425" anchor="ctr" anchorCtr="0">
            <a:noAutofit/>
          </a:bodyPr>
          <a:lstStyle/>
          <a:p>
            <a:r>
              <a:rPr lang="en-US" sz="1050"/>
              <a:t>The student can apply modelling techniques including Machine Learning and AI to create value for individuals, organizations and domains. </a:t>
            </a:r>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8.2</a:t>
            </a:r>
            <a:endParaRPr/>
          </a:p>
        </p:txBody>
      </p:sp>
      <p:sp>
        <p:nvSpPr>
          <p:cNvPr id="398" name="Google Shape;398;p42"/>
          <p:cNvSpPr txBox="1">
            <a:spLocks noGrp="1"/>
          </p:cNvSpPr>
          <p:nvPr>
            <p:ph type="title" idx="5"/>
          </p:nvPr>
        </p:nvSpPr>
        <p:spPr>
          <a:xfrm>
            <a:off x="845550" y="576000"/>
            <a:ext cx="8298450" cy="493800"/>
          </a:xfrm>
          <a:prstGeom prst="rect">
            <a:avLst/>
          </a:prstGeom>
        </p:spPr>
        <p:txBody>
          <a:bodyPr spcFirstLastPara="1" wrap="square" lIns="91425" tIns="91425" rIns="91425" bIns="91425" anchor="ctr" anchorCtr="0">
            <a:noAutofit/>
          </a:bodyPr>
          <a:lstStyle/>
          <a:p>
            <a:r>
              <a:rPr lang="en-US" i="0"/>
              <a:t>The student is able to perform elementary operations on matrices and understand the concepts of derivatives, gradients, optimization algorithms, and can implement a simple machine learning model from scratch.</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900"/>
              <a:t>Modelling</a:t>
            </a:r>
            <a:endParaRPr lang="en-US"/>
          </a:p>
        </p:txBody>
      </p:sp>
      <p:graphicFrame>
        <p:nvGraphicFramePr>
          <p:cNvPr id="2" name="Table 1">
            <a:extLst>
              <a:ext uri="{FF2B5EF4-FFF2-40B4-BE49-F238E27FC236}">
                <a16:creationId xmlns:a16="http://schemas.microsoft.com/office/drawing/2014/main" id="{57E3E280-FB5F-EC44-E126-2CCC797691FD}"/>
              </a:ext>
            </a:extLst>
          </p:cNvPr>
          <p:cNvGraphicFramePr>
            <a:graphicFrameLocks noGrp="1"/>
          </p:cNvGraphicFramePr>
          <p:nvPr>
            <p:extLst>
              <p:ext uri="{D42A27DB-BD31-4B8C-83A1-F6EECF244321}">
                <p14:modId xmlns:p14="http://schemas.microsoft.com/office/powerpoint/2010/main" val="605855667"/>
              </p:ext>
            </p:extLst>
          </p:nvPr>
        </p:nvGraphicFramePr>
        <p:xfrm>
          <a:off x="0" y="1069800"/>
          <a:ext cx="9144001" cy="5544181"/>
        </p:xfrm>
        <a:graphic>
          <a:graphicData uri="http://schemas.openxmlformats.org/drawingml/2006/table">
            <a:tbl>
              <a:tblPr/>
              <a:tblGrid>
                <a:gridCol w="1520946">
                  <a:extLst>
                    <a:ext uri="{9D8B030D-6E8A-4147-A177-3AD203B41FA5}">
                      <a16:colId xmlns:a16="http://schemas.microsoft.com/office/drawing/2014/main" val="2171384223"/>
                    </a:ext>
                  </a:extLst>
                </a:gridCol>
                <a:gridCol w="1502622">
                  <a:extLst>
                    <a:ext uri="{9D8B030D-6E8A-4147-A177-3AD203B41FA5}">
                      <a16:colId xmlns:a16="http://schemas.microsoft.com/office/drawing/2014/main" val="1315127927"/>
                    </a:ext>
                  </a:extLst>
                </a:gridCol>
                <a:gridCol w="1557595">
                  <a:extLst>
                    <a:ext uri="{9D8B030D-6E8A-4147-A177-3AD203B41FA5}">
                      <a16:colId xmlns:a16="http://schemas.microsoft.com/office/drawing/2014/main" val="2516077077"/>
                    </a:ext>
                  </a:extLst>
                </a:gridCol>
                <a:gridCol w="1520946">
                  <a:extLst>
                    <a:ext uri="{9D8B030D-6E8A-4147-A177-3AD203B41FA5}">
                      <a16:colId xmlns:a16="http://schemas.microsoft.com/office/drawing/2014/main" val="2417746137"/>
                    </a:ext>
                  </a:extLst>
                </a:gridCol>
                <a:gridCol w="1520946">
                  <a:extLst>
                    <a:ext uri="{9D8B030D-6E8A-4147-A177-3AD203B41FA5}">
                      <a16:colId xmlns:a16="http://schemas.microsoft.com/office/drawing/2014/main" val="2357257076"/>
                    </a:ext>
                  </a:extLst>
                </a:gridCol>
                <a:gridCol w="1520946">
                  <a:extLst>
                    <a:ext uri="{9D8B030D-6E8A-4147-A177-3AD203B41FA5}">
                      <a16:colId xmlns:a16="http://schemas.microsoft.com/office/drawing/2014/main" val="1775122286"/>
                    </a:ext>
                  </a:extLst>
                </a:gridCol>
              </a:tblGrid>
              <a:tr h="169455">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2505160243"/>
                  </a:ext>
                </a:extLst>
              </a:tr>
              <a:tr h="1952122">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EF2CD"/>
                    </a:solidFill>
                  </a:tcPr>
                </a:tc>
                <a:tc>
                  <a:txBody>
                    <a:bodyPr/>
                    <a:lstStyle/>
                    <a:p>
                      <a:pPr lvl="0" algn="l">
                        <a:lnSpc>
                          <a:spcPct val="100000"/>
                        </a:lnSpc>
                        <a:spcBef>
                          <a:spcPts val="0"/>
                        </a:spcBef>
                        <a:spcAft>
                          <a:spcPts val="0"/>
                        </a:spcAft>
                        <a:buNone/>
                      </a:pPr>
                      <a:r>
                        <a:rPr lang="en-US" sz="1000" b="0" i="0" u="none" strike="noStrike" noProof="0" dirty="0">
                          <a:solidFill>
                            <a:srgbClr val="000000"/>
                          </a:solidFill>
                          <a:effectLst/>
                          <a:highlight>
                            <a:srgbClr val="FFE1CC"/>
                          </a:highlight>
                          <a:latin typeface="Calibri"/>
                        </a:rPr>
                        <a:t>The student demonstrate a comprehensive understanding of key optimization algorithms, critically </a:t>
                      </a:r>
                      <a:r>
                        <a:rPr lang="en-US" sz="1000" b="0" i="0" u="none" strike="noStrike" noProof="0" dirty="0" err="1">
                          <a:solidFill>
                            <a:srgbClr val="000000"/>
                          </a:solidFill>
                          <a:effectLst/>
                          <a:highlight>
                            <a:srgbClr val="FFE1CC"/>
                          </a:highlight>
                          <a:latin typeface="Calibri"/>
                        </a:rPr>
                        <a:t>analyse</a:t>
                      </a:r>
                      <a:r>
                        <a:rPr lang="en-US" sz="1000" b="0" i="0" u="none" strike="noStrike" noProof="0" dirty="0">
                          <a:solidFill>
                            <a:srgbClr val="000000"/>
                          </a:solidFill>
                          <a:effectLst/>
                          <a:highlight>
                            <a:srgbClr val="FFE1CC"/>
                          </a:highlight>
                          <a:latin typeface="Calibri"/>
                        </a:rPr>
                        <a:t> their performance, and apply them to solve complex minimization and maximization problems. Furthermore, the student will have the capability to assess the impact of algorithm parameters on performance and convergence in mathematical optimization.</a:t>
                      </a:r>
                      <a:endParaRPr lang="en-US" sz="1000" dirty="0">
                        <a:latin typeface="Calibri"/>
                      </a:endParaRPr>
                    </a:p>
                    <a:p>
                      <a:pPr lvl="0" algn="l">
                        <a:lnSpc>
                          <a:spcPct val="100000"/>
                        </a:lnSpc>
                        <a:spcBef>
                          <a:spcPts val="0"/>
                        </a:spcBef>
                        <a:spcAft>
                          <a:spcPts val="0"/>
                        </a:spcAft>
                        <a:buNone/>
                      </a:pPr>
                      <a:endParaRPr lang="en-US" sz="1000" b="0" i="0" u="none" strike="noStrike" noProof="0" dirty="0">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dirty="0">
                          <a:solidFill>
                            <a:srgbClr val="000000"/>
                          </a:solidFill>
                          <a:effectLst/>
                          <a:highlight>
                            <a:srgbClr val="F7C7AC"/>
                          </a:highlight>
                          <a:latin typeface="Calibri"/>
                        </a:rPr>
                        <a:t>The student implement all steps of training a regression model from scratch for their project, including implementing the cost function and finding its derivative, training the model using an optimization algorithm, evaluating the model's performance using appropriate regression metrics, and performing accurate predictions based on the trained model. </a:t>
                      </a:r>
                      <a:endParaRPr lang="en-US" sz="1000" dirty="0">
                        <a:latin typeface="Calibri"/>
                      </a:endParaRPr>
                    </a:p>
                    <a:p>
                      <a:pPr lvl="0" algn="l">
                        <a:buNone/>
                      </a:pPr>
                      <a:endParaRPr lang="en-US" sz="1000" b="0" i="0" u="none" strike="noStrike" noProof="0" dirty="0">
                        <a:solidFill>
                          <a:srgbClr val="000000"/>
                        </a:solidFill>
                        <a:effectLst/>
                        <a:highlight>
                          <a:srgbClr val="F7C7A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dirty="0">
                          <a:solidFill>
                            <a:srgbClr val="000000"/>
                          </a:solidFill>
                          <a:effectLst/>
                          <a:highlight>
                            <a:srgbClr val="FFE1CC"/>
                          </a:highlight>
                          <a:latin typeface="Calibri"/>
                        </a:rPr>
                        <a:t>The student conduct fine-tuning of hyperparameters for regression models implemented from scratch, which includes implementing the regularized form of the cost function, testing different optimization algorithms (modifying them as necessary when incorporating regularization), studying the impact of learning rates on training performance, and examining how scaling features influences model performance and generalization. </a:t>
                      </a:r>
                      <a:endParaRPr lang="en-US" sz="1000" dirty="0">
                        <a:latin typeface="Calibri"/>
                      </a:endParaRPr>
                    </a:p>
                    <a:p>
                      <a:pPr lvl="0" algn="l">
                        <a:lnSpc>
                          <a:spcPct val="100000"/>
                        </a:lnSpc>
                        <a:spcBef>
                          <a:spcPts val="0"/>
                        </a:spcBef>
                        <a:spcAft>
                          <a:spcPts val="0"/>
                        </a:spcAft>
                        <a:buNone/>
                      </a:pPr>
                      <a:endParaRPr lang="en-US" sz="1000" b="0" i="0" u="none" strike="noStrike" noProof="0" dirty="0">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dirty="0">
                          <a:solidFill>
                            <a:srgbClr val="000000"/>
                          </a:solidFill>
                          <a:effectLst/>
                          <a:highlight>
                            <a:srgbClr val="F7C7AC"/>
                          </a:highlight>
                          <a:latin typeface="Calibri"/>
                        </a:rPr>
                        <a:t>The student implement all steps of training a classification model from scratch for their project, including defining the cost function and calculating its derivative, training the model using an optimization algorithm, evaluating the model's performance with relevant classification metrics, and making accurate predictions based on the trained model.</a:t>
                      </a:r>
                      <a:endParaRPr lang="en-US" sz="1000" dirty="0">
                        <a:latin typeface="Calibri"/>
                      </a:endParaRPr>
                    </a:p>
                    <a:p>
                      <a:pPr lvl="0" algn="l">
                        <a:lnSpc>
                          <a:spcPct val="100000"/>
                        </a:lnSpc>
                        <a:spcBef>
                          <a:spcPts val="0"/>
                        </a:spcBef>
                        <a:spcAft>
                          <a:spcPts val="0"/>
                        </a:spcAft>
                        <a:buNone/>
                      </a:pPr>
                      <a:endParaRPr lang="en-US" sz="1000" b="0" i="0" u="none" strike="noStrike" noProof="0" dirty="0">
                        <a:solidFill>
                          <a:srgbClr val="000000"/>
                        </a:solidFill>
                        <a:effectLst/>
                        <a:highlight>
                          <a:srgbClr val="F7C7A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dirty="0">
                          <a:solidFill>
                            <a:srgbClr val="000000"/>
                          </a:solidFill>
                          <a:effectLst/>
                          <a:highlight>
                            <a:srgbClr val="FFE1CC"/>
                          </a:highlight>
                          <a:latin typeface="Calibri"/>
                        </a:rPr>
                        <a:t>The student carry out hyperparameter fine-tuning for classification models developed from scratch, focusing on testing various optimization algorithms (modifying them as necessary to integrate regularization), implementing the regularized form of the cost function, analyzing the effects of learning rates on training performance, and assessing how scaling features affects model performance and generalization. </a:t>
                      </a:r>
                      <a:endParaRPr lang="en-US" sz="1000" dirty="0">
                        <a:latin typeface="Calibri"/>
                      </a:endParaRPr>
                    </a:p>
                    <a:p>
                      <a:pPr lvl="0" algn="l">
                        <a:lnSpc>
                          <a:spcPct val="100000"/>
                        </a:lnSpc>
                        <a:spcBef>
                          <a:spcPts val="0"/>
                        </a:spcBef>
                        <a:spcAft>
                          <a:spcPts val="0"/>
                        </a:spcAft>
                        <a:buNone/>
                      </a:pPr>
                      <a:endParaRPr lang="en-US" sz="1000" b="0" i="0" u="none" strike="noStrike" noProof="0" dirty="0">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510942754"/>
                  </a:ext>
                </a:extLst>
              </a:tr>
              <a:tr h="1952123">
                <a:tc>
                  <a:txBody>
                    <a:bodyPr/>
                    <a:lstStyle/>
                    <a:p>
                      <a:pPr algn="ctr" rtl="0" fontAlgn="t"/>
                      <a:endParaRPr lang="en-US" sz="1800" b="1" i="0" u="none" strike="noStrike" dirty="0">
                        <a:solidFill>
                          <a:schemeClr val="tx1">
                            <a:lumMod val="75000"/>
                          </a:schemeClr>
                        </a:solidFill>
                        <a:effectLst/>
                        <a:highlight>
                          <a:srgbClr val="FEF2CD"/>
                        </a:highlight>
                        <a:latin typeface="Calibri" panose="020F0502020204030204" pitchFamily="34" charset="0"/>
                      </a:endParaRPr>
                    </a:p>
                    <a:p>
                      <a:pPr algn="ctr" rtl="0" fontAlgn="t"/>
                      <a:r>
                        <a:rPr lang="en-US" sz="1800" b="1" i="0" u="none" strike="noStrike" dirty="0">
                          <a:solidFill>
                            <a:schemeClr val="tx1">
                              <a:lumMod val="75000"/>
                            </a:schemeClr>
                          </a:solidFill>
                          <a:effectLst/>
                          <a:highlight>
                            <a:srgbClr val="FEF2CD"/>
                          </a:highlight>
                          <a:latin typeface="Calibri" panose="020F0502020204030204" pitchFamily="34" charset="0"/>
                          <a:hlinkClick r:id="rId3"/>
                        </a:rPr>
                        <a:t>Self </a:t>
                      </a:r>
                      <a:r>
                        <a:rPr lang="en-US" sz="1800" b="1" i="0" u="none" strike="noStrike" dirty="0" err="1">
                          <a:solidFill>
                            <a:schemeClr val="tx1">
                              <a:lumMod val="75000"/>
                            </a:schemeClr>
                          </a:solidFill>
                          <a:effectLst/>
                          <a:highlight>
                            <a:srgbClr val="FEF2CD"/>
                          </a:highlight>
                          <a:latin typeface="Calibri" panose="020F0502020204030204" pitchFamily="34" charset="0"/>
                          <a:hlinkClick r:id="rId3"/>
                        </a:rPr>
                        <a:t>assesment</a:t>
                      </a:r>
                      <a:r>
                        <a:rPr lang="en-US" sz="1800" b="1" i="0" u="none" strike="noStrike" dirty="0">
                          <a:solidFill>
                            <a:schemeClr val="tx1">
                              <a:lumMod val="75000"/>
                            </a:schemeClr>
                          </a:solidFill>
                          <a:effectLst/>
                          <a:highlight>
                            <a:srgbClr val="FEF2CD"/>
                          </a:highlight>
                          <a:latin typeface="Calibri" panose="020F0502020204030204" pitchFamily="34" charset="0"/>
                          <a:hlinkClick r:id="rId3"/>
                        </a:rPr>
                        <a:t> rubric</a:t>
                      </a:r>
                      <a:endParaRPr lang="en-US" sz="1800" b="1" i="0" u="none" strike="noStrike" dirty="0">
                        <a:solidFill>
                          <a:schemeClr val="tx1">
                            <a:lumMod val="75000"/>
                          </a:schemeClr>
                        </a:solidFill>
                        <a:effectLst/>
                        <a:highlight>
                          <a:srgbClr val="FEF2CD"/>
                        </a:highlight>
                        <a:latin typeface="Calibri" panose="020F0502020204030204" pitchFamily="34" charset="0"/>
                      </a:endParaRPr>
                    </a:p>
                    <a:p>
                      <a:pPr algn="ctr" rtl="0" fontAlgn="t"/>
                      <a:r>
                        <a:rPr lang="en-US" sz="1800" b="1" i="0" u="none" strike="noStrike" dirty="0">
                          <a:solidFill>
                            <a:schemeClr val="tx1">
                              <a:lumMod val="75000"/>
                            </a:schemeClr>
                          </a:solidFill>
                          <a:effectLst/>
                          <a:highlight>
                            <a:srgbClr val="FEF2CD"/>
                          </a:highlight>
                          <a:latin typeface="Calibri" panose="020F0502020204030204" pitchFamily="34" charset="0"/>
                          <a:hlinkClick r:id="rId4"/>
                        </a:rPr>
                        <a:t>Worklog</a:t>
                      </a:r>
                      <a:endParaRPr lang="en-US" sz="1800" b="1" i="0" u="none" strike="noStrike" dirty="0">
                        <a:solidFill>
                          <a:schemeClr val="tx1">
                            <a:lumMod val="75000"/>
                          </a:schemeClr>
                        </a:solidFill>
                        <a:effectLst/>
                        <a:highlight>
                          <a:srgbClr val="FEF2CD"/>
                        </a:highlight>
                        <a:latin typeface="Calibri" panose="020F0502020204030204" pitchFamily="34" charset="0"/>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000" b="1" i="0" u="none" strike="noStrike" dirty="0">
                        <a:solidFill>
                          <a:schemeClr val="tx1">
                            <a:lumMod val="75000"/>
                          </a:schemeClr>
                        </a:solidFill>
                        <a:effectLst/>
                        <a:highlight>
                          <a:srgbClr val="FFE1CC"/>
                        </a:highlight>
                        <a:latin typeface="Calibri" panose="020F0502020204030204" pitchFamily="34" charset="0"/>
                      </a:endParaRPr>
                    </a:p>
                    <a:p>
                      <a:pPr algn="ctr" fontAlgn="t"/>
                      <a:r>
                        <a:rPr lang="en-US" sz="1000" b="1" i="0" u="none" strike="noStrike" dirty="0">
                          <a:solidFill>
                            <a:schemeClr val="tx1">
                              <a:lumMod val="75000"/>
                            </a:schemeClr>
                          </a:solidFill>
                          <a:effectLst/>
                          <a:latin typeface="Calibri" panose="020F0502020204030204" pitchFamily="34" charset="0"/>
                        </a:rPr>
                        <a:t>I demonstrated a strong understanding of optimization algorithms, applied them to solve complex problems, and assessed the impact of parameters on performance and convergence.</a:t>
                      </a:r>
                    </a:p>
                    <a:p>
                      <a:pPr algn="ctr" fontAlgn="t"/>
                      <a:r>
                        <a:rPr lang="en-US" sz="1000" b="0" i="0" u="none" strike="noStrike" dirty="0">
                          <a:solidFill>
                            <a:schemeClr val="tx1">
                              <a:lumMod val="75000"/>
                            </a:schemeClr>
                          </a:solidFill>
                          <a:effectLst/>
                          <a:latin typeface="Calibri"/>
                        </a:rPr>
                        <a:t>You can check my links</a:t>
                      </a:r>
                      <a:endParaRPr lang="en-US" sz="1000" b="0" i="0" u="none" strike="noStrike" dirty="0">
                        <a:solidFill>
                          <a:schemeClr val="tx1">
                            <a:lumMod val="75000"/>
                          </a:schemeClr>
                        </a:solidFill>
                        <a:effectLst/>
                        <a:highlight>
                          <a:srgbClr val="FFE1CC"/>
                        </a:highlight>
                        <a:latin typeface="Calibri"/>
                      </a:endParaRPr>
                    </a:p>
                    <a:p>
                      <a:pPr algn="ctr" fontAlgn="t"/>
                      <a:endParaRPr lang="en-US" sz="1000" b="1" i="0" u="none" strike="noStrike" dirty="0">
                        <a:solidFill>
                          <a:schemeClr val="tx1">
                            <a:lumMod val="75000"/>
                          </a:schemeClr>
                        </a:solidFill>
                        <a:effectLst/>
                        <a:highlight>
                          <a:srgbClr val="FFE1CC"/>
                        </a:highlight>
                        <a:latin typeface="Calibri" panose="020F0502020204030204" pitchFamily="34" charset="0"/>
                      </a:endParaRPr>
                    </a:p>
                    <a:p>
                      <a:pPr algn="ctr" fontAlgn="t"/>
                      <a:r>
                        <a:rPr lang="en-US" sz="1000" b="1" i="0" u="none" strike="noStrike" dirty="0">
                          <a:solidFill>
                            <a:schemeClr val="tx1">
                              <a:lumMod val="75000"/>
                            </a:schemeClr>
                          </a:solidFill>
                          <a:effectLst/>
                          <a:highlight>
                            <a:srgbClr val="FFE1CC"/>
                          </a:highlight>
                          <a:latin typeface="Calibri" panose="020F0502020204030204" pitchFamily="34" charset="0"/>
                          <a:hlinkClick r:id="rId5"/>
                        </a:rPr>
                        <a:t>Price pred</a:t>
                      </a:r>
                      <a:endParaRPr lang="en-US" sz="1000" b="1" i="0" u="none" strike="noStrike" dirty="0">
                        <a:solidFill>
                          <a:schemeClr val="tx1">
                            <a:lumMod val="75000"/>
                          </a:schemeClr>
                        </a:solidFill>
                        <a:effectLst/>
                        <a:highlight>
                          <a:srgbClr val="FFE1CC"/>
                        </a:highlight>
                        <a:latin typeface="Calibri" panose="020F0502020204030204" pitchFamily="34" charset="0"/>
                      </a:endParaRPr>
                    </a:p>
                    <a:p>
                      <a:pPr algn="ctr" fontAlgn="t"/>
                      <a:r>
                        <a:rPr lang="en-US" sz="1000" b="1" i="0" u="none" strike="noStrike" dirty="0" err="1">
                          <a:solidFill>
                            <a:schemeClr val="tx1">
                              <a:lumMod val="75000"/>
                            </a:schemeClr>
                          </a:solidFill>
                          <a:effectLst/>
                          <a:highlight>
                            <a:srgbClr val="FFE1CC"/>
                          </a:highlight>
                          <a:latin typeface="Calibri" panose="020F0502020204030204" pitchFamily="34" charset="0"/>
                          <a:hlinkClick r:id="rId6"/>
                        </a:rPr>
                        <a:t>AlgebraicExample</a:t>
                      </a:r>
                      <a:endParaRPr lang="en-US" sz="1000" b="1" i="0" u="none" strike="noStrike" dirty="0">
                        <a:solidFill>
                          <a:schemeClr val="tx1">
                            <a:lumMod val="75000"/>
                          </a:schemeClr>
                        </a:solidFill>
                        <a:effectLst/>
                        <a:highlight>
                          <a:srgbClr val="FFE1CC"/>
                        </a:highlight>
                        <a:latin typeface="Calibri" panose="020F0502020204030204" pitchFamily="34" charset="0"/>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endParaRPr lang="en-US" sz="1000" dirty="0">
                        <a:highlight>
                          <a:srgbClr val="FFE1CC"/>
                        </a:highlight>
                      </a:endParaRPr>
                    </a:p>
                    <a:p>
                      <a:pPr algn="ctr"/>
                      <a:r>
                        <a:rPr lang="en-US" sz="1000" dirty="0"/>
                        <a:t>I was able to implement all steps of training a regression model from scratch, including defining the cost function and its derivative, using an optimization algorithm, evaluating performance with regression metrics, and making accurate predictions.</a:t>
                      </a:r>
                    </a:p>
                    <a:p>
                      <a:pPr algn="ctr"/>
                      <a:r>
                        <a:rPr lang="en-US" sz="1000" b="0" i="0" u="none" strike="noStrike" dirty="0">
                          <a:solidFill>
                            <a:schemeClr val="tx1">
                              <a:lumMod val="75000"/>
                            </a:schemeClr>
                          </a:solidFill>
                          <a:effectLst/>
                          <a:latin typeface="Calibri"/>
                        </a:rPr>
                        <a:t>You can check my links</a:t>
                      </a:r>
                      <a:endParaRPr lang="en-US" sz="1000" b="0" i="0" u="none" strike="noStrike" dirty="0">
                        <a:solidFill>
                          <a:schemeClr val="tx1">
                            <a:lumMod val="75000"/>
                          </a:schemeClr>
                        </a:solidFill>
                        <a:effectLst/>
                        <a:highlight>
                          <a:srgbClr val="FFE1CC"/>
                        </a:highlight>
                        <a:latin typeface="Calibri"/>
                      </a:endParaRPr>
                    </a:p>
                    <a:p>
                      <a:pPr algn="ctr"/>
                      <a:r>
                        <a:rPr lang="en-US" sz="1000" dirty="0">
                          <a:highlight>
                            <a:srgbClr val="FFE1CC"/>
                          </a:highlight>
                          <a:hlinkClick r:id="rId7"/>
                        </a:rPr>
                        <a:t>Linear regression</a:t>
                      </a:r>
                      <a:endParaRPr lang="en-US" sz="1000" dirty="0">
                        <a:highlight>
                          <a:srgbClr val="FFE1CC"/>
                        </a:highlight>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dirty="0">
                        <a:solidFill>
                          <a:schemeClr val="tx1">
                            <a:lumMod val="75000"/>
                          </a:schemeClr>
                        </a:solidFill>
                        <a:effectLst/>
                        <a:highlight>
                          <a:srgbClr val="FFE1CC"/>
                        </a:highlight>
                        <a:latin typeface="Calibri"/>
                      </a:endParaRPr>
                    </a:p>
                    <a:p>
                      <a:pPr lvl="0" algn="ctr">
                        <a:buNone/>
                      </a:pPr>
                      <a:r>
                        <a:rPr lang="en-US" sz="1000" dirty="0">
                          <a:highlight>
                            <a:srgbClr val="FFE1CC"/>
                          </a:highlight>
                        </a:rPr>
                        <a:t>I was able to fine-tune regression models from scratch by implementing regularization, testing optimization algorithms, analyzing learning rates, and evaluating feature scaling effects.</a:t>
                      </a:r>
                    </a:p>
                    <a:p>
                      <a:pPr lvl="0" algn="ctr">
                        <a:buNone/>
                      </a:pPr>
                      <a:r>
                        <a:rPr lang="en-US" sz="1000" b="0" i="0" u="none" strike="noStrike" dirty="0">
                          <a:solidFill>
                            <a:schemeClr val="tx1">
                              <a:lumMod val="75000"/>
                            </a:schemeClr>
                          </a:solidFill>
                          <a:effectLst/>
                          <a:highlight>
                            <a:srgbClr val="FFE1CC"/>
                          </a:highlight>
                          <a:latin typeface="Calibri"/>
                        </a:rPr>
                        <a:t>You can check my links</a:t>
                      </a:r>
                    </a:p>
                    <a:p>
                      <a:pPr lvl="0" algn="ctr">
                        <a:buNone/>
                      </a:pPr>
                      <a:r>
                        <a:rPr lang="en-US" sz="1000" b="0" i="0" u="none" strike="noStrike" dirty="0">
                          <a:solidFill>
                            <a:schemeClr val="tx1">
                              <a:lumMod val="75000"/>
                            </a:schemeClr>
                          </a:solidFill>
                          <a:effectLst/>
                          <a:highlight>
                            <a:srgbClr val="FFE1CC"/>
                          </a:highlight>
                          <a:latin typeface="Calibri"/>
                          <a:hlinkClick r:id="rId7"/>
                        </a:rPr>
                        <a:t>Linear Regression</a:t>
                      </a:r>
                      <a:endParaRPr lang="en-US" sz="1000" b="0" i="0" u="none" strike="noStrike" dirty="0">
                        <a:solidFill>
                          <a:schemeClr val="tx1">
                            <a:lumMod val="75000"/>
                          </a:schemeClr>
                        </a:solidFill>
                        <a:effectLst/>
                        <a:highlight>
                          <a:srgbClr val="FFE1CC"/>
                        </a:highlight>
                        <a:latin typeface="Calibri"/>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dirty="0">
                        <a:solidFill>
                          <a:schemeClr val="tx1">
                            <a:lumMod val="75000"/>
                          </a:schemeClr>
                        </a:solidFill>
                        <a:effectLst/>
                        <a:highlight>
                          <a:srgbClr val="FFE1CC"/>
                        </a:highlight>
                        <a:latin typeface="Calibri"/>
                      </a:endParaRPr>
                    </a:p>
                    <a:p>
                      <a:pPr lvl="0" algn="ctr">
                        <a:buNone/>
                      </a:pPr>
                      <a:r>
                        <a:rPr lang="en-US" sz="900" b="0" i="0" u="none" strike="noStrike" noProof="0" dirty="0">
                          <a:solidFill>
                            <a:schemeClr val="tx1">
                              <a:lumMod val="75000"/>
                            </a:schemeClr>
                          </a:solidFill>
                          <a:effectLst/>
                          <a:latin typeface="Calibri"/>
                        </a:rPr>
                        <a:t>I was able to implement all steps of training a classification model from scratch, including defining the cost function and its derivative, applying optimization algorithms, incorporating regularization, tuning hyperparameters, and evaluating performance with relevant classification metrics. This approach ensured accurate predictions aligned with the project's requirements.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0" i="0" u="none" strike="noStrike" dirty="0">
                          <a:solidFill>
                            <a:schemeClr val="tx1">
                              <a:lumMod val="75000"/>
                            </a:schemeClr>
                          </a:solidFill>
                          <a:effectLst/>
                          <a:latin typeface="Calibri"/>
                        </a:rPr>
                        <a:t>You can check my links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0" i="0" u="none" strike="noStrike" dirty="0">
                          <a:solidFill>
                            <a:schemeClr val="tx1">
                              <a:lumMod val="75000"/>
                            </a:schemeClr>
                          </a:solidFill>
                          <a:effectLst/>
                          <a:highlight>
                            <a:srgbClr val="FFE1CC"/>
                          </a:highlight>
                          <a:latin typeface="Calibri"/>
                          <a:hlinkClick r:id="rId8"/>
                        </a:rPr>
                        <a:t>Logistic Regression</a:t>
                      </a:r>
                      <a:endParaRPr lang="en-US" sz="900" b="0" i="0" u="none" strike="noStrike" dirty="0">
                        <a:solidFill>
                          <a:schemeClr val="tx1">
                            <a:lumMod val="75000"/>
                          </a:schemeClr>
                        </a:solidFill>
                        <a:effectLst/>
                        <a:highlight>
                          <a:srgbClr val="FFE1CC"/>
                        </a:highlight>
                        <a:latin typeface="Calibri"/>
                      </a:endParaRPr>
                    </a:p>
                    <a:p>
                      <a:pPr lvl="0" algn="ctr">
                        <a:buNone/>
                      </a:pPr>
                      <a:endParaRPr lang="en-US" sz="900" b="0"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r>
                        <a:rPr lang="en-US" sz="1000" b="0" i="0" u="none" strike="noStrike" dirty="0">
                          <a:solidFill>
                            <a:schemeClr val="tx1">
                              <a:lumMod val="75000"/>
                            </a:schemeClr>
                          </a:solidFill>
                          <a:effectLst/>
                          <a:latin typeface="Calibri"/>
                        </a:rPr>
                        <a:t>I was able to fine-tune hyperparameters for classification models from scratch by testing optimization algorithms with regularization, analyzing learning rates, and evaluating the impact of feature scaling on performance and generalization.</a:t>
                      </a:r>
                    </a:p>
                    <a:p>
                      <a:pPr lvl="0" algn="ctr">
                        <a:buNone/>
                      </a:pPr>
                      <a:r>
                        <a:rPr lang="en-US" sz="1000" b="0" i="0" u="none" strike="noStrike" dirty="0">
                          <a:solidFill>
                            <a:schemeClr val="tx1">
                              <a:lumMod val="75000"/>
                            </a:schemeClr>
                          </a:solidFill>
                          <a:effectLst/>
                          <a:latin typeface="Calibri"/>
                        </a:rPr>
                        <a:t>You can check my links</a:t>
                      </a:r>
                    </a:p>
                    <a:p>
                      <a:pPr lvl="0" algn="ctr">
                        <a:buNone/>
                      </a:pPr>
                      <a:r>
                        <a:rPr lang="en-US" sz="1000" b="0" i="0" u="none" strike="noStrike" dirty="0">
                          <a:solidFill>
                            <a:schemeClr val="tx1">
                              <a:lumMod val="75000"/>
                            </a:schemeClr>
                          </a:solidFill>
                          <a:effectLst/>
                          <a:highlight>
                            <a:srgbClr val="FFE1CC"/>
                          </a:highlight>
                          <a:latin typeface="Calibri"/>
                          <a:hlinkClick r:id="rId8"/>
                        </a:rPr>
                        <a:t>Logistic Regression</a:t>
                      </a:r>
                      <a:endParaRPr lang="en-US" sz="1000" b="0" i="0" u="none" strike="noStrike" dirty="0">
                        <a:solidFill>
                          <a:schemeClr val="tx1">
                            <a:lumMod val="75000"/>
                          </a:schemeClr>
                        </a:solidFill>
                        <a:effectLst/>
                        <a:highlight>
                          <a:srgbClr val="FFE1CC"/>
                        </a:highlight>
                        <a:latin typeface="Calibri"/>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825924416"/>
                  </a:ext>
                </a:extLst>
              </a:tr>
            </a:tbl>
          </a:graphicData>
        </a:graphic>
      </p:graphicFrame>
    </p:spTree>
    <p:extLst>
      <p:ext uri="{BB962C8B-B14F-4D97-AF65-F5344CB8AC3E}">
        <p14:creationId xmlns:p14="http://schemas.microsoft.com/office/powerpoint/2010/main" val="42801572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11.1</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Reporting and Advising</a:t>
            </a:r>
            <a:endParaRPr/>
          </a:p>
        </p:txBody>
      </p:sp>
      <p:sp>
        <p:nvSpPr>
          <p:cNvPr id="365" name="Google Shape;365;p39"/>
          <p:cNvSpPr txBox="1">
            <a:spLocks noGrp="1"/>
          </p:cNvSpPr>
          <p:nvPr>
            <p:ph type="subTitle" idx="2"/>
          </p:nvPr>
        </p:nvSpPr>
        <p:spPr>
          <a:xfrm>
            <a:off x="4572000" y="3353563"/>
            <a:ext cx="4114800" cy="685800"/>
          </a:xfrm>
          <a:prstGeom prst="rect">
            <a:avLst/>
          </a:prstGeom>
        </p:spPr>
        <p:txBody>
          <a:bodyPr spcFirstLastPara="1" wrap="square" lIns="91425" tIns="91425" rIns="91425" bIns="91425" anchor="ctr" anchorCtr="0">
            <a:noAutofit/>
          </a:bodyPr>
          <a:lstStyle/>
          <a:p>
            <a:pPr marL="0" indent="0"/>
            <a:r>
              <a:rPr lang="en-US"/>
              <a:t>The student can translate (interim) results into effective reporting. They see opportunities and possibilities and can translate these from a market-oriented vision into new concepts, products or services, while keeping the business side of the organization in mind. </a:t>
            </a:r>
            <a:endParaRPr lang="en"/>
          </a:p>
        </p:txBody>
      </p:sp>
      <p:sp>
        <p:nvSpPr>
          <p:cNvPr id="366" name="Google Shape;366;p39"/>
          <p:cNvSpPr txBox="1"/>
          <p:nvPr/>
        </p:nvSpPr>
        <p:spPr>
          <a:xfrm>
            <a:off x="-1152144" y="1013655"/>
            <a:ext cx="5823204"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11</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26558611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90795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11</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6509088" cy="576000"/>
          </a:xfrm>
          <a:prstGeom prst="rect">
            <a:avLst/>
          </a:prstGeom>
        </p:spPr>
        <p:txBody>
          <a:bodyPr spcFirstLastPara="1" wrap="square" lIns="91425" tIns="91425" rIns="91425" bIns="91425" anchor="ctr" anchorCtr="0">
            <a:noAutofit/>
          </a:bodyPr>
          <a:lstStyle/>
          <a:p>
            <a:pPr marL="0" indent="0"/>
            <a:r>
              <a:rPr lang="en-US" sz="1050"/>
              <a:t>The student can translate (interim) results into effective reporting. They see opportunities and possibilities and can translate these from a market-oriented vision into new concepts, products or services, while keeping the business side of the organization in mind. </a:t>
            </a:r>
            <a:endParaRPr lang="en-GB"/>
          </a:p>
        </p:txBody>
      </p:sp>
      <p:sp>
        <p:nvSpPr>
          <p:cNvPr id="397" name="Google Shape;397;p42"/>
          <p:cNvSpPr txBox="1">
            <a:spLocks noGrp="1"/>
          </p:cNvSpPr>
          <p:nvPr>
            <p:ph type="title" idx="4"/>
          </p:nvPr>
        </p:nvSpPr>
        <p:spPr>
          <a:xfrm>
            <a:off x="0" y="576000"/>
            <a:ext cx="1157712"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11.1</a:t>
            </a:r>
            <a:endParaRPr/>
          </a:p>
        </p:txBody>
      </p:sp>
      <p:sp>
        <p:nvSpPr>
          <p:cNvPr id="398" name="Google Shape;398;p42"/>
          <p:cNvSpPr txBox="1">
            <a:spLocks noGrp="1"/>
          </p:cNvSpPr>
          <p:nvPr>
            <p:ph type="title" idx="5"/>
          </p:nvPr>
        </p:nvSpPr>
        <p:spPr>
          <a:xfrm>
            <a:off x="1044450" y="576000"/>
            <a:ext cx="7315200" cy="493800"/>
          </a:xfrm>
          <a:prstGeom prst="rect">
            <a:avLst/>
          </a:prstGeom>
        </p:spPr>
        <p:txBody>
          <a:bodyPr spcFirstLastPara="1" wrap="square" lIns="91425" tIns="91425" rIns="91425" bIns="91425" anchor="ctr" anchorCtr="0">
            <a:noAutofit/>
          </a:bodyPr>
          <a:lstStyle/>
          <a:p>
            <a:r>
              <a:rPr lang="en-US" i="0"/>
              <a:t>The student is able to communicate technical concepts by means of a structured, coherent, and well-formatted professional report.</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Reporting and Advising</a:t>
            </a:r>
            <a:endParaRPr sz="900"/>
          </a:p>
        </p:txBody>
      </p:sp>
      <p:graphicFrame>
        <p:nvGraphicFramePr>
          <p:cNvPr id="2" name="Table 1">
            <a:extLst>
              <a:ext uri="{FF2B5EF4-FFF2-40B4-BE49-F238E27FC236}">
                <a16:creationId xmlns:a16="http://schemas.microsoft.com/office/drawing/2014/main" id="{AA669EC2-980A-B4FE-9112-D450A8EFD54D}"/>
              </a:ext>
            </a:extLst>
          </p:cNvPr>
          <p:cNvGraphicFramePr>
            <a:graphicFrameLocks noGrp="1"/>
          </p:cNvGraphicFramePr>
          <p:nvPr>
            <p:extLst>
              <p:ext uri="{D42A27DB-BD31-4B8C-83A1-F6EECF244321}">
                <p14:modId xmlns:p14="http://schemas.microsoft.com/office/powerpoint/2010/main" val="2938939853"/>
              </p:ext>
            </p:extLst>
          </p:nvPr>
        </p:nvGraphicFramePr>
        <p:xfrm>
          <a:off x="0" y="1053422"/>
          <a:ext cx="9144001" cy="4090078"/>
        </p:xfrm>
        <a:graphic>
          <a:graphicData uri="http://schemas.openxmlformats.org/drawingml/2006/table">
            <a:tbl>
              <a:tblPr/>
              <a:tblGrid>
                <a:gridCol w="1520946">
                  <a:extLst>
                    <a:ext uri="{9D8B030D-6E8A-4147-A177-3AD203B41FA5}">
                      <a16:colId xmlns:a16="http://schemas.microsoft.com/office/drawing/2014/main" val="2968662855"/>
                    </a:ext>
                  </a:extLst>
                </a:gridCol>
                <a:gridCol w="1502622">
                  <a:extLst>
                    <a:ext uri="{9D8B030D-6E8A-4147-A177-3AD203B41FA5}">
                      <a16:colId xmlns:a16="http://schemas.microsoft.com/office/drawing/2014/main" val="2533108805"/>
                    </a:ext>
                  </a:extLst>
                </a:gridCol>
                <a:gridCol w="1557595">
                  <a:extLst>
                    <a:ext uri="{9D8B030D-6E8A-4147-A177-3AD203B41FA5}">
                      <a16:colId xmlns:a16="http://schemas.microsoft.com/office/drawing/2014/main" val="78944563"/>
                    </a:ext>
                  </a:extLst>
                </a:gridCol>
                <a:gridCol w="1520946">
                  <a:extLst>
                    <a:ext uri="{9D8B030D-6E8A-4147-A177-3AD203B41FA5}">
                      <a16:colId xmlns:a16="http://schemas.microsoft.com/office/drawing/2014/main" val="3620540080"/>
                    </a:ext>
                  </a:extLst>
                </a:gridCol>
                <a:gridCol w="1520946">
                  <a:extLst>
                    <a:ext uri="{9D8B030D-6E8A-4147-A177-3AD203B41FA5}">
                      <a16:colId xmlns:a16="http://schemas.microsoft.com/office/drawing/2014/main" val="930998757"/>
                    </a:ext>
                  </a:extLst>
                </a:gridCol>
                <a:gridCol w="1520946">
                  <a:extLst>
                    <a:ext uri="{9D8B030D-6E8A-4147-A177-3AD203B41FA5}">
                      <a16:colId xmlns:a16="http://schemas.microsoft.com/office/drawing/2014/main" val="1851329009"/>
                    </a:ext>
                  </a:extLst>
                </a:gridCol>
              </a:tblGrid>
              <a:tr h="343684">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A (Points: 3)</a:t>
                      </a:r>
                      <a:endParaRPr lang="en-US" sz="1000" b="1" i="0" u="none" strike="noStrike">
                        <a:solidFill>
                          <a:srgbClr val="000000"/>
                        </a:solidFill>
                        <a:effectLst/>
                        <a:highlight>
                          <a:srgbClr val="D0D0D0"/>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B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C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D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E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136059547"/>
                  </a:ext>
                </a:extLst>
              </a:tr>
              <a:tr h="1546814">
                <a:tc>
                  <a:txBody>
                    <a:bodyPr/>
                    <a:lstStyle/>
                    <a:p>
                      <a:pPr lvl="0" algn="l">
                        <a:buNone/>
                      </a:pPr>
                      <a:r>
                        <a:rPr lang="en-US" sz="1000" b="0" i="0" u="none" strike="noStrike" noProof="0" dirty="0">
                          <a:solidFill>
                            <a:srgbClr val="000000"/>
                          </a:solidFill>
                          <a:effectLst/>
                          <a:highlight>
                            <a:srgbClr val="FEF2CD"/>
                          </a:highlight>
                          <a:latin typeface="Calibri"/>
                        </a:rPr>
                        <a:t>The student should present final project and be able to answer the questions related to it during the presentation. The student submits a complete learning log, work log and self-assessment rubric. The student exhibits professional behavior during the </a:t>
                      </a:r>
                      <a:r>
                        <a:rPr lang="en-US" sz="1000" b="0" i="0" u="none" strike="noStrike" noProof="0" dirty="0" err="1">
                          <a:solidFill>
                            <a:srgbClr val="000000"/>
                          </a:solidFill>
                          <a:effectLst/>
                          <a:highlight>
                            <a:srgbClr val="FEF2CD"/>
                          </a:highlight>
                          <a:latin typeface="Calibri"/>
                        </a:rPr>
                        <a:t>DataLab</a:t>
                      </a:r>
                      <a:r>
                        <a:rPr lang="en-US" sz="1000" b="0" i="0" u="none" strike="noStrike" noProof="0" dirty="0">
                          <a:solidFill>
                            <a:srgbClr val="000000"/>
                          </a:solidFill>
                          <a:effectLst/>
                          <a:highlight>
                            <a:srgbClr val="FEF2CD"/>
                          </a:highlight>
                          <a:latin typeface="Calibri"/>
                        </a:rPr>
                        <a:t>.</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buNone/>
                      </a:pPr>
                      <a:r>
                        <a:rPr lang="en-US" sz="1000" b="0" i="0" u="none" strike="noStrike" noProof="0">
                          <a:solidFill>
                            <a:srgbClr val="000000"/>
                          </a:solidFill>
                          <a:effectLst/>
                          <a:highlight>
                            <a:srgbClr val="FFE1CC"/>
                          </a:highlight>
                          <a:latin typeface="Calibri"/>
                        </a:rPr>
                        <a:t>The student is able to define the sections (EDA, Regression, Classification, Clustering, Evaluation, Improvement) clearly based on implementations.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buNone/>
                      </a:pPr>
                      <a:r>
                        <a:rPr lang="en-US" sz="1000" b="0" i="0" u="none" strike="noStrike" noProof="0">
                          <a:solidFill>
                            <a:srgbClr val="000000"/>
                          </a:solidFill>
                          <a:effectLst/>
                          <a:highlight>
                            <a:srgbClr val="F7C7AC"/>
                          </a:highlight>
                          <a:latin typeface="Calibri"/>
                        </a:rPr>
                        <a:t>The students is able to demonstrate an advanced understanding of machine learning concepts.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buNone/>
                      </a:pPr>
                      <a:r>
                        <a:rPr lang="en-US" sz="1000" b="0" i="0" u="none" strike="noStrike" noProof="0">
                          <a:solidFill>
                            <a:srgbClr val="000000"/>
                          </a:solidFill>
                          <a:effectLst/>
                          <a:highlight>
                            <a:srgbClr val="FFE1CC"/>
                          </a:highlight>
                          <a:latin typeface="Calibri"/>
                        </a:rPr>
                        <a:t>The student is able to demonstrate understanding of different types of machine learning algorithms for data analysis and have implementation of baselines based on the defined project and dataset.</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buNone/>
                      </a:pPr>
                      <a:r>
                        <a:rPr lang="en-US" sz="1000" b="0" i="0" u="none" strike="noStrike" noProof="0">
                          <a:solidFill>
                            <a:srgbClr val="000000"/>
                          </a:solidFill>
                          <a:effectLst/>
                          <a:highlight>
                            <a:srgbClr val="F7C7AC"/>
                          </a:highlight>
                          <a:latin typeface="Calibri"/>
                        </a:rPr>
                        <a:t>The student is able to critically </a:t>
                      </a:r>
                      <a:r>
                        <a:rPr lang="en-US" sz="1000" b="0" i="0" u="none" strike="noStrike" noProof="0" err="1">
                          <a:solidFill>
                            <a:srgbClr val="000000"/>
                          </a:solidFill>
                          <a:effectLst/>
                          <a:highlight>
                            <a:srgbClr val="F7C7AC"/>
                          </a:highlight>
                          <a:latin typeface="Calibri"/>
                        </a:rPr>
                        <a:t>analyse</a:t>
                      </a:r>
                      <a:r>
                        <a:rPr lang="en-US" sz="1000" b="0" i="0" u="none" strike="noStrike" noProof="0">
                          <a:solidFill>
                            <a:srgbClr val="000000"/>
                          </a:solidFill>
                          <a:effectLst/>
                          <a:highlight>
                            <a:srgbClr val="F7C7AC"/>
                          </a:highlight>
                          <a:latin typeface="Calibri"/>
                        </a:rPr>
                        <a:t> and evaluate their proposed solutions based on its relevance for the business objectives. </a:t>
                      </a:r>
                      <a:r>
                        <a:rPr lang="en-US" sz="1000" b="0" i="0" u="none" strike="noStrike">
                          <a:solidFill>
                            <a:srgbClr val="000000"/>
                          </a:solidFill>
                          <a:effectLst/>
                          <a:highlight>
                            <a:srgbClr val="F7C7AC"/>
                          </a:highlight>
                          <a:latin typeface="Calibri"/>
                        </a:rPr>
                        <a:t>. </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buNone/>
                      </a:pPr>
                      <a:r>
                        <a:rPr lang="en-US" sz="1000" b="0" i="0" u="none" strike="noStrike" noProof="0">
                          <a:solidFill>
                            <a:srgbClr val="000000"/>
                          </a:solidFill>
                          <a:effectLst/>
                          <a:highlight>
                            <a:srgbClr val="FFE1CC"/>
                          </a:highlight>
                          <a:latin typeface="Calibri"/>
                        </a:rPr>
                        <a:t>The student has a clean and commented code and is able to identify the shortcomings of the current implementation and propose next steps for improving the quality of implementation.</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4009708987"/>
                  </a:ext>
                </a:extLst>
              </a:tr>
              <a:tr h="2199580">
                <a:tc>
                  <a:txBody>
                    <a:bodyPr/>
                    <a:lstStyle/>
                    <a:p>
                      <a:pPr algn="ctr" rtl="0" fontAlgn="t"/>
                      <a:endParaRPr lang="en-US" sz="1800" b="1" i="0" u="none" strike="noStrike" dirty="0">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dirty="0">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dirty="0">
                          <a:solidFill>
                            <a:schemeClr val="tx1">
                              <a:lumMod val="75000"/>
                            </a:schemeClr>
                          </a:solidFill>
                          <a:effectLst/>
                          <a:highlight>
                            <a:srgbClr val="FEF2CD"/>
                          </a:highlight>
                          <a:latin typeface="Calibri"/>
                          <a:hlinkClick r:id="rId3"/>
                        </a:rPr>
                        <a:t>Self assessment rubric</a:t>
                      </a:r>
                      <a:endParaRPr lang="en-US" sz="1800" b="1" i="0" u="none" strike="noStrike" noProof="0" dirty="0">
                        <a:solidFill>
                          <a:schemeClr val="tx1">
                            <a:lumMod val="75000"/>
                          </a:schemeClr>
                        </a:solidFill>
                        <a:effectLst/>
                        <a:highlight>
                          <a:srgbClr val="FEF2CD"/>
                        </a:highlight>
                        <a:latin typeface="Calibri"/>
                      </a:endParaRPr>
                    </a:p>
                    <a:p>
                      <a:pPr lvl="0" algn="ctr">
                        <a:buNone/>
                      </a:pPr>
                      <a:r>
                        <a:rPr lang="en-US" dirty="0">
                          <a:hlinkClick r:id="rId4"/>
                        </a:rPr>
                        <a:t>Worklog</a:t>
                      </a:r>
                      <a:endParaRPr lang="en-US" dirty="0"/>
                    </a:p>
                    <a:p>
                      <a:pPr lvl="0" algn="ctr">
                        <a:buNone/>
                      </a:pPr>
                      <a:r>
                        <a:rPr lang="en-US" dirty="0">
                          <a:hlinkClick r:id="rId5"/>
                        </a:rPr>
                        <a:t>presentation</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dirty="0">
                        <a:solidFill>
                          <a:schemeClr val="tx1">
                            <a:lumMod val="75000"/>
                          </a:schemeClr>
                        </a:solidFill>
                        <a:effectLst/>
                        <a:highlight>
                          <a:srgbClr val="FFE1CC"/>
                        </a:highlight>
                        <a:latin typeface="Calibri" panose="020F0502020204030204" pitchFamily="34" charset="0"/>
                      </a:endParaRPr>
                    </a:p>
                    <a:p>
                      <a:pPr algn="ctr" fontAlgn="t"/>
                      <a:r>
                        <a:rPr lang="en-US" sz="1000" b="1" i="0" u="none" strike="noStrike" dirty="0">
                          <a:solidFill>
                            <a:schemeClr val="tx1">
                              <a:lumMod val="75000"/>
                            </a:schemeClr>
                          </a:solidFill>
                          <a:effectLst/>
                          <a:highlight>
                            <a:srgbClr val="FFE1CC"/>
                          </a:highlight>
                          <a:latin typeface="Calibri" panose="020F0502020204030204" pitchFamily="34" charset="0"/>
                        </a:rPr>
                        <a:t>I was able to do EDA with SQL and Python in the first part of my report as you can see.</a:t>
                      </a:r>
                    </a:p>
                    <a:p>
                      <a:pPr algn="ctr" fontAlgn="t"/>
                      <a:endParaRPr lang="en-US" sz="1000" b="1" i="0" u="none" strike="noStrike" dirty="0">
                        <a:solidFill>
                          <a:schemeClr val="tx1">
                            <a:lumMod val="75000"/>
                          </a:schemeClr>
                        </a:solidFill>
                        <a:effectLst/>
                        <a:highlight>
                          <a:srgbClr val="FFE1CC"/>
                        </a:highlight>
                        <a:latin typeface="Calibri" panose="020F0502020204030204" pitchFamily="34" charset="0"/>
                      </a:endParaRPr>
                    </a:p>
                    <a:p>
                      <a:pPr algn="ctr" fontAlgn="t"/>
                      <a:r>
                        <a:rPr lang="en-US" sz="1000" b="1" i="0" u="none" strike="noStrike" dirty="0">
                          <a:solidFill>
                            <a:schemeClr val="tx1">
                              <a:lumMod val="75000"/>
                            </a:schemeClr>
                          </a:solidFill>
                          <a:effectLst/>
                          <a:highlight>
                            <a:srgbClr val="FFE1CC"/>
                          </a:highlight>
                          <a:latin typeface="Calibri" panose="020F0502020204030204" pitchFamily="34" charset="0"/>
                          <a:hlinkClick r:id="rId6"/>
                        </a:rPr>
                        <a:t>Report</a:t>
                      </a:r>
                      <a:endParaRPr lang="en-US" sz="1000" b="1" i="0" u="none" strike="noStrike" dirty="0">
                        <a:solidFill>
                          <a:schemeClr val="tx1">
                            <a:lumMod val="75000"/>
                          </a:schemeClr>
                        </a:solidFill>
                        <a:effectLst/>
                        <a:highlight>
                          <a:srgbClr val="FFE1CC"/>
                        </a:highlight>
                        <a:latin typeface="Calibri" panose="020F0502020204030204" pitchFamily="34" charset="0"/>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dirty="0">
                        <a:solidFill>
                          <a:schemeClr val="tx1">
                            <a:lumMod val="75000"/>
                          </a:schemeClr>
                        </a:solidFill>
                        <a:effectLst/>
                        <a:highlight>
                          <a:srgbClr val="FFE1CC"/>
                        </a:highlight>
                        <a:latin typeface="Calibri"/>
                      </a:endParaRPr>
                    </a:p>
                    <a:p>
                      <a:pPr lvl="0" algn="ctr">
                        <a:buNone/>
                      </a:pPr>
                      <a:r>
                        <a:rPr lang="en-US" sz="1000" b="0" i="0" u="none" strike="noStrike" dirty="0">
                          <a:solidFill>
                            <a:schemeClr val="tx1">
                              <a:lumMod val="75000"/>
                            </a:schemeClr>
                          </a:solidFill>
                          <a:effectLst/>
                          <a:latin typeface="Calibri"/>
                        </a:rPr>
                        <a:t>I was able to demonstrate my understanding of key machine learning concepts through detailed explanations and analysis presented in my report and creative brief, showcasing both technical knowledge and practical application.</a:t>
                      </a:r>
                    </a:p>
                    <a:p>
                      <a:pPr lvl="0" algn="ctr">
                        <a:buNone/>
                      </a:pPr>
                      <a:r>
                        <a:rPr lang="en-US" sz="1000" b="0" i="0" u="none" strike="noStrike" dirty="0">
                          <a:solidFill>
                            <a:schemeClr val="tx1">
                              <a:lumMod val="75000"/>
                            </a:schemeClr>
                          </a:solidFill>
                          <a:effectLst/>
                          <a:latin typeface="Calibri"/>
                          <a:hlinkClick r:id="rId6"/>
                        </a:rPr>
                        <a:t>Report</a:t>
                      </a:r>
                      <a:endParaRPr lang="en-US" sz="1000" b="0" i="0" u="none" strike="noStrike" dirty="0">
                        <a:solidFill>
                          <a:schemeClr val="tx1">
                            <a:lumMod val="75000"/>
                          </a:schemeClr>
                        </a:solidFill>
                        <a:effectLst/>
                        <a:latin typeface="Calibri"/>
                      </a:endParaRPr>
                    </a:p>
                    <a:p>
                      <a:pPr lvl="0" algn="ctr">
                        <a:buNone/>
                      </a:pPr>
                      <a:endParaRPr lang="en-US" sz="1000" b="0" i="0" u="none" strike="noStrike" dirty="0">
                        <a:solidFill>
                          <a:schemeClr val="tx1">
                            <a:lumMod val="75000"/>
                          </a:schemeClr>
                        </a:solidFill>
                        <a:effectLst/>
                        <a:highlight>
                          <a:srgbClr val="FFE1CC"/>
                        </a:highlight>
                        <a:latin typeface="Calibri"/>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dirty="0">
                        <a:solidFill>
                          <a:schemeClr val="tx1">
                            <a:lumMod val="75000"/>
                          </a:schemeClr>
                        </a:solidFill>
                        <a:effectLst/>
                        <a:highlight>
                          <a:srgbClr val="FFE1CC"/>
                        </a:highlight>
                        <a:latin typeface="Calibri"/>
                      </a:endParaRPr>
                    </a:p>
                    <a:p>
                      <a:pPr lvl="0" algn="ctr">
                        <a:buNone/>
                      </a:pPr>
                      <a:r>
                        <a:rPr lang="en-US" sz="1000" b="1" i="0" u="none" strike="noStrike" dirty="0">
                          <a:solidFill>
                            <a:schemeClr val="tx1">
                              <a:lumMod val="75000"/>
                            </a:schemeClr>
                          </a:solidFill>
                          <a:effectLst/>
                          <a:latin typeface="Calibri"/>
                        </a:rPr>
                        <a:t>I was able to demonstrate my understanding of various models and machine learning tasks for data analysis, as detailed in my report, where I thoroughly described and analyzed them.</a:t>
                      </a:r>
                    </a:p>
                    <a:p>
                      <a:pPr lvl="0" algn="ctr">
                        <a:buNone/>
                      </a:pPr>
                      <a:endParaRPr lang="en-US" sz="1000" b="1" i="0" u="none" strike="noStrike" dirty="0">
                        <a:solidFill>
                          <a:schemeClr val="tx1">
                            <a:lumMod val="75000"/>
                          </a:schemeClr>
                        </a:solidFill>
                        <a:effectLst/>
                        <a:latin typeface="Calibri"/>
                      </a:endParaRPr>
                    </a:p>
                    <a:p>
                      <a:pPr lvl="0" algn="ctr">
                        <a:buNone/>
                      </a:pPr>
                      <a:r>
                        <a:rPr lang="en-US" sz="1000" b="1" i="0" u="none" strike="noStrike" dirty="0">
                          <a:solidFill>
                            <a:schemeClr val="tx1">
                              <a:lumMod val="75000"/>
                            </a:schemeClr>
                          </a:solidFill>
                          <a:effectLst/>
                          <a:highlight>
                            <a:srgbClr val="FFE1CC"/>
                          </a:highlight>
                          <a:latin typeface="Calibri"/>
                          <a:hlinkClick r:id="rId6"/>
                        </a:rPr>
                        <a:t>Report</a:t>
                      </a:r>
                      <a:endParaRPr lang="en-US" sz="1000" b="1" i="0" u="none" strike="noStrike" dirty="0">
                        <a:solidFill>
                          <a:schemeClr val="tx1">
                            <a:lumMod val="75000"/>
                          </a:schemeClr>
                        </a:solidFill>
                        <a:effectLst/>
                        <a:highlight>
                          <a:srgbClr val="FFE1CC"/>
                        </a:highlight>
                        <a:latin typeface="Calibri"/>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dirty="0">
                        <a:solidFill>
                          <a:schemeClr val="tx1">
                            <a:lumMod val="75000"/>
                          </a:schemeClr>
                        </a:solidFill>
                        <a:effectLst/>
                        <a:highlight>
                          <a:srgbClr val="FFE1CC"/>
                        </a:highlight>
                        <a:latin typeface="Calibri"/>
                      </a:endParaRPr>
                    </a:p>
                    <a:p>
                      <a:pPr lvl="0" algn="ctr">
                        <a:buNone/>
                      </a:pPr>
                      <a:endParaRPr lang="en-US" sz="1800" b="1" i="0" u="none" strike="noStrike" dirty="0">
                        <a:solidFill>
                          <a:schemeClr val="tx1">
                            <a:lumMod val="75000"/>
                          </a:schemeClr>
                        </a:solidFill>
                        <a:effectLst/>
                        <a:highlight>
                          <a:srgbClr val="FFE1CC"/>
                        </a:highlight>
                        <a:latin typeface="Calibri"/>
                      </a:endParaRPr>
                    </a:p>
                    <a:p>
                      <a:pPr lvl="0" algn="ctr">
                        <a:buNone/>
                      </a:pPr>
                      <a:r>
                        <a:rPr lang="en-US" sz="1000" b="1" i="0" u="none" strike="noStrike" noProof="0" dirty="0">
                          <a:solidFill>
                            <a:schemeClr val="tx1">
                              <a:lumMod val="75000"/>
                            </a:schemeClr>
                          </a:solidFill>
                          <a:effectLst/>
                          <a:latin typeface="Calibri"/>
                        </a:rPr>
                        <a:t>If you review my report, you will see that I successfully described my data analysis, provided solutions, and answered my research questions.</a:t>
                      </a:r>
                    </a:p>
                    <a:p>
                      <a:pPr lvl="0" algn="ctr">
                        <a:buNone/>
                      </a:pPr>
                      <a:endParaRPr lang="en-US" sz="1000" b="1" i="0" u="none" strike="noStrike" noProof="0" dirty="0">
                        <a:solidFill>
                          <a:schemeClr val="tx1">
                            <a:lumMod val="75000"/>
                          </a:schemeClr>
                        </a:solidFill>
                        <a:effectLst/>
                        <a:latin typeface="Calibri"/>
                      </a:endParaRPr>
                    </a:p>
                    <a:p>
                      <a:pPr lvl="0" algn="ctr">
                        <a:buNone/>
                      </a:pPr>
                      <a:r>
                        <a:rPr lang="en-US" sz="1000" b="1" i="0" u="none" strike="noStrike" noProof="0" dirty="0">
                          <a:solidFill>
                            <a:schemeClr val="tx1">
                              <a:lumMod val="75000"/>
                            </a:schemeClr>
                          </a:solidFill>
                          <a:effectLst/>
                          <a:latin typeface="Calibri"/>
                          <a:hlinkClick r:id="rId6"/>
                        </a:rPr>
                        <a:t>Report</a:t>
                      </a:r>
                      <a:endParaRPr lang="en-US" sz="1000" b="1" i="0" u="none" strike="noStrike" noProof="0" dirty="0">
                        <a:solidFill>
                          <a:schemeClr val="tx1">
                            <a:lumMod val="75000"/>
                          </a:schemeClr>
                        </a:solidFill>
                        <a:effectLst/>
                        <a:latin typeface="Calibri"/>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r>
                        <a:rPr lang="en-US" sz="1000" b="1" i="0" u="none" strike="noStrike" dirty="0">
                          <a:solidFill>
                            <a:schemeClr val="tx1">
                              <a:lumMod val="75000"/>
                            </a:schemeClr>
                          </a:solidFill>
                          <a:effectLst/>
                          <a:latin typeface="Calibri"/>
                        </a:rPr>
                        <a:t>In my creative brief, I included comments, explained my code in the report, and outlined the next steps for my coding process.</a:t>
                      </a:r>
                      <a:endParaRPr lang="en-US" sz="1800" b="1" i="0" u="none" strike="noStrike" noProof="0" dirty="0">
                        <a:solidFill>
                          <a:schemeClr val="tx1">
                            <a:lumMod val="75000"/>
                          </a:schemeClr>
                        </a:solidFill>
                        <a:effectLst/>
                        <a:highlight>
                          <a:srgbClr val="FFE1CC"/>
                        </a:highlight>
                        <a:latin typeface="Calibri"/>
                      </a:endParaRPr>
                    </a:p>
                    <a:p>
                      <a:pPr lvl="0" algn="ctr">
                        <a:buNone/>
                      </a:pPr>
                      <a:r>
                        <a:rPr lang="en-US" sz="1800" b="1" i="0" u="none" strike="noStrike" noProof="0" dirty="0">
                          <a:solidFill>
                            <a:schemeClr val="tx1">
                              <a:lumMod val="75000"/>
                            </a:schemeClr>
                          </a:solidFill>
                          <a:effectLst/>
                          <a:highlight>
                            <a:srgbClr val="FEF2CD"/>
                          </a:highlight>
                          <a:latin typeface="Calibri"/>
                        </a:rPr>
                        <a:t> </a:t>
                      </a:r>
                      <a:r>
                        <a:rPr lang="en-US" sz="1800" b="1" i="0" u="none" strike="noStrike" noProof="0" dirty="0">
                          <a:solidFill>
                            <a:schemeClr val="tx1">
                              <a:lumMod val="75000"/>
                            </a:schemeClr>
                          </a:solidFill>
                          <a:effectLst/>
                          <a:highlight>
                            <a:srgbClr val="FEF2CD"/>
                          </a:highlight>
                          <a:latin typeface="Calibri"/>
                          <a:hlinkClick r:id="rId6"/>
                        </a:rPr>
                        <a:t>Report</a:t>
                      </a:r>
                      <a:endParaRPr lang="en-US" sz="1800" b="1" i="0" u="none" strike="noStrike" noProof="0" dirty="0">
                        <a:solidFill>
                          <a:schemeClr val="tx1">
                            <a:lumMod val="75000"/>
                          </a:schemeClr>
                        </a:solidFill>
                        <a:effectLst/>
                        <a:highlight>
                          <a:srgbClr val="FEF2CD"/>
                        </a:highlight>
                        <a:latin typeface="Calibri"/>
                      </a:endParaRPr>
                    </a:p>
                    <a:p>
                      <a:pPr lvl="0" algn="ctr">
                        <a:buNone/>
                      </a:pPr>
                      <a:r>
                        <a:rPr lang="en-US" dirty="0">
                          <a:hlinkClick r:id="rId7"/>
                        </a:rPr>
                        <a:t>Creativebrief</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1169269582"/>
                  </a:ext>
                </a:extLst>
              </a:tr>
            </a:tbl>
          </a:graphicData>
        </a:graphic>
      </p:graphicFrame>
    </p:spTree>
    <p:extLst>
      <p:ext uri="{BB962C8B-B14F-4D97-AF65-F5344CB8AC3E}">
        <p14:creationId xmlns:p14="http://schemas.microsoft.com/office/powerpoint/2010/main" val="33010341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t>
            </a:r>
            <a:r>
              <a:rPr lang="en-NL" err="1"/>
              <a:t>edal</a:t>
            </a:r>
            <a:r>
              <a:rPr lang="en-NL"/>
              <a:t> Challenges</a:t>
            </a:r>
            <a:endParaRPr/>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Going the extra mile!</a:t>
            </a:r>
            <a:endParaRPr/>
          </a:p>
        </p:txBody>
      </p:sp>
      <p:pic>
        <p:nvPicPr>
          <p:cNvPr id="7" name="Graphic 6" descr="Medal">
            <a:extLst>
              <a:ext uri="{FF2B5EF4-FFF2-40B4-BE49-F238E27FC236}">
                <a16:creationId xmlns:a16="http://schemas.microsoft.com/office/drawing/2014/main" id="{2C2C6876-7040-0594-5C65-F9EFF1B3B3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666" y="1379845"/>
            <a:ext cx="3492405" cy="3492405"/>
          </a:xfrm>
          <a:prstGeom prst="rect">
            <a:avLst/>
          </a:prstGeom>
        </p:spPr>
      </p:pic>
    </p:spTree>
    <p:extLst>
      <p:ext uri="{BB962C8B-B14F-4D97-AF65-F5344CB8AC3E}">
        <p14:creationId xmlns:p14="http://schemas.microsoft.com/office/powerpoint/2010/main" val="28329518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6" name="Google Shape;476;p50"/>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477" name="Google Shape;477;p50"/>
          <p:cNvSpPr txBox="1">
            <a:spLocks noGrp="1"/>
          </p:cNvSpPr>
          <p:nvPr>
            <p:ph type="body" idx="4294967295"/>
          </p:nvPr>
        </p:nvSpPr>
        <p:spPr>
          <a:xfrm>
            <a:off x="63194" y="1152000"/>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480" name="Google Shape;480;p50"/>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P</a:t>
            </a:r>
            <a:r>
              <a:rPr lang="en-NL" err="1"/>
              <a:t>ut</a:t>
            </a:r>
            <a:r>
              <a:rPr lang="en-NL"/>
              <a:t> your evidence down here to receive a medal!</a:t>
            </a:r>
            <a:endParaRPr lang="en-GB"/>
          </a:p>
        </p:txBody>
      </p:sp>
      <p:sp>
        <p:nvSpPr>
          <p:cNvPr id="7" name="Google Shape;459;p48">
            <a:extLst>
              <a:ext uri="{FF2B5EF4-FFF2-40B4-BE49-F238E27FC236}">
                <a16:creationId xmlns:a16="http://schemas.microsoft.com/office/drawing/2014/main" id="{5161B9CD-FD90-1846-8EE0-48554F0A839A}"/>
              </a:ext>
            </a:extLst>
          </p:cNvPr>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a:t>Going the extra mile!</a:t>
            </a:r>
            <a:endParaRPr lang="en-GB"/>
          </a:p>
        </p:txBody>
      </p:sp>
      <p:sp>
        <p:nvSpPr>
          <p:cNvPr id="2" name="Google Shape;462;p48">
            <a:extLst>
              <a:ext uri="{FF2B5EF4-FFF2-40B4-BE49-F238E27FC236}">
                <a16:creationId xmlns:a16="http://schemas.microsoft.com/office/drawing/2014/main" id="{504CBF35-FBEA-FA87-F016-E6278C3C94BB}"/>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a:t>Medal Challenges</a:t>
            </a:r>
            <a:endParaRPr lang="en-US"/>
          </a:p>
        </p:txBody>
      </p:sp>
      <p:pic>
        <p:nvPicPr>
          <p:cNvPr id="12" name="Graphic 11" descr="Medal">
            <a:extLst>
              <a:ext uri="{FF2B5EF4-FFF2-40B4-BE49-F238E27FC236}">
                <a16:creationId xmlns:a16="http://schemas.microsoft.com/office/drawing/2014/main" id="{DAEAD1FE-ADA8-7092-2C63-52D1D8722E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5771" y="58096"/>
            <a:ext cx="459808" cy="459808"/>
          </a:xfrm>
          <a:prstGeom prst="rect">
            <a:avLst/>
          </a:prstGeom>
        </p:spPr>
      </p:pic>
    </p:spTree>
    <p:extLst>
      <p:ext uri="{BB962C8B-B14F-4D97-AF65-F5344CB8AC3E}">
        <p14:creationId xmlns:p14="http://schemas.microsoft.com/office/powerpoint/2010/main" val="33184646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52"/>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NL" sz="6000"/>
              <a:t>D</a:t>
            </a:r>
            <a:endParaRPr sz="6000"/>
          </a:p>
        </p:txBody>
      </p:sp>
      <p:sp>
        <p:nvSpPr>
          <p:cNvPr id="498" name="Google Shape;498;p52"/>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Reflection</a:t>
            </a:r>
            <a:endParaRPr sz="3000"/>
          </a:p>
        </p:txBody>
      </p:sp>
      <p:sp>
        <p:nvSpPr>
          <p:cNvPr id="499" name="Google Shape;499;p52"/>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a:solidFill>
                  <a:srgbClr val="999999"/>
                </a:solidFill>
                <a:latin typeface="Roboto"/>
                <a:ea typeface="Roboto"/>
                <a:cs typeface="Roboto"/>
                <a:sym typeface="Roboto"/>
              </a:rPr>
              <a:t>D</a:t>
            </a:r>
            <a:endParaRPr sz="40000">
              <a:solidFill>
                <a:srgbClr val="999999"/>
              </a:solidFill>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3"/>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did I achieve this block?</a:t>
            </a:r>
            <a:endParaRPr/>
          </a:p>
        </p:txBody>
      </p:sp>
      <p:sp>
        <p:nvSpPr>
          <p:cNvPr id="505" name="Google Shape;505;p53"/>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1/2</a:t>
            </a:r>
            <a:endParaRPr/>
          </a:p>
        </p:txBody>
      </p:sp>
      <p:sp>
        <p:nvSpPr>
          <p:cNvPr id="506" name="Google Shape;506;p53"/>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My most significant achievements this block</a:t>
            </a:r>
            <a:endParaRPr/>
          </a:p>
        </p:txBody>
      </p:sp>
      <p:sp>
        <p:nvSpPr>
          <p:cNvPr id="507" name="Google Shape;507;p53"/>
          <p:cNvSpPr txBox="1">
            <a:spLocks noGrp="1"/>
          </p:cNvSpPr>
          <p:nvPr>
            <p:ph type="body" idx="3"/>
          </p:nvPr>
        </p:nvSpPr>
        <p:spPr>
          <a:xfrm>
            <a:off x="182880" y="1069848"/>
            <a:ext cx="8778300" cy="3895200"/>
          </a:xfrm>
          <a:prstGeom prst="rect">
            <a:avLst/>
          </a:prstGeom>
        </p:spPr>
        <p:txBody>
          <a:bodyPr spcFirstLastPara="1" wrap="square" lIns="91425" tIns="91425" rIns="91425" bIns="91425" anchor="t" anchorCtr="0">
            <a:noAutofit/>
          </a:bodyPr>
          <a:lstStyle/>
          <a:p>
            <a:pPr marL="0" lvl="0" indent="0" algn="just" rtl="0">
              <a:spcBef>
                <a:spcPts val="800"/>
              </a:spcBef>
              <a:spcAft>
                <a:spcPts val="0"/>
              </a:spcAft>
              <a:buNone/>
            </a:pPr>
            <a:r>
              <a:rPr lang="en-US" dirty="0"/>
              <a:t>In this block, I cleaned the dataset for the first time and applied three different machine learning tasks: classification, clustering, and regression. It was an enjoyable experience, and I’m very happy with the progress. I plan to continue preprocessing data and applying it to various machine learning models with different datasets to become more proficient. Although it was challenging initially, it became interesting after a few weeks of practice.</a:t>
            </a:r>
          </a:p>
          <a:p>
            <a:pPr marL="0" lvl="0" indent="0" algn="just" rtl="0">
              <a:spcBef>
                <a:spcPts val="800"/>
              </a:spcBef>
              <a:spcAft>
                <a:spcPts val="0"/>
              </a:spcAft>
              <a:buNone/>
            </a:pPr>
            <a:r>
              <a:rPr lang="en" sz="1400" b="1" dirty="0"/>
              <a:t>My most difficult challenges this block</a:t>
            </a:r>
            <a:endParaRPr sz="1400" b="1" dirty="0"/>
          </a:p>
          <a:p>
            <a:pPr marL="0" lvl="0" indent="0" algn="just" rtl="0">
              <a:spcBef>
                <a:spcPts val="800"/>
              </a:spcBef>
              <a:spcAft>
                <a:spcPts val="0"/>
              </a:spcAft>
              <a:buNone/>
            </a:pPr>
            <a:r>
              <a:rPr lang="en-US" dirty="0"/>
              <a:t>The biggest challenge for me was managing my time effectively to balance studying, achieving my personal goals, and working towards my professional goals. Additionally, the math aspect was particularly difficult and time-consuming, as I had to spend a significant amount of time understanding the concepts and solving mathematical templates. Despite these challenges, I continued to work through them and improve my skills.</a:t>
            </a:r>
          </a:p>
          <a:p>
            <a:pPr marL="0" lvl="0" indent="0" algn="just" rtl="0">
              <a:spcBef>
                <a:spcPts val="800"/>
              </a:spcBef>
              <a:spcAft>
                <a:spcPts val="0"/>
              </a:spcAft>
              <a:buNone/>
            </a:pPr>
            <a:endParaRPr lang="en-US" sz="1400" b="1" dirty="0"/>
          </a:p>
          <a:p>
            <a:pPr marL="0" lvl="0" indent="0" algn="just" rtl="0">
              <a:spcBef>
                <a:spcPts val="800"/>
              </a:spcBef>
              <a:spcAft>
                <a:spcPts val="0"/>
              </a:spcAft>
              <a:buNone/>
            </a:pPr>
            <a:r>
              <a:rPr lang="en" sz="1400" b="1" dirty="0"/>
              <a:t>The most important lessons I learned</a:t>
            </a:r>
            <a:endParaRPr sz="1400" b="1" dirty="0"/>
          </a:p>
          <a:p>
            <a:pPr marL="0" lvl="0" indent="0" algn="just" rtl="0">
              <a:spcBef>
                <a:spcPts val="800"/>
              </a:spcBef>
              <a:spcAft>
                <a:spcPts val="800"/>
              </a:spcAft>
              <a:buNone/>
            </a:pPr>
            <a:r>
              <a:rPr lang="en-US" dirty="0"/>
              <a:t>The most important lesson I learned about machine learning is that data preprocessing is far more critical than applying or tuning a model. Without clean and properly prepared data, the results can be inaccurate, leading to poor model performance. Another key takeaway is the importance of thoroughly understanding the dataset. Analyzing each column and its features is essential to ensure accurate predictions and achieve better scores.</a:t>
            </a:r>
            <a:endParaRPr dirty="0"/>
          </a:p>
        </p:txBody>
      </p:sp>
      <p:sp>
        <p:nvSpPr>
          <p:cNvPr id="508" name="Google Shape;508;p53"/>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How well am I progressing?</a:t>
            </a:r>
            <a:endParaRPr/>
          </a:p>
        </p:txBody>
      </p:sp>
      <p:sp>
        <p:nvSpPr>
          <p:cNvPr id="514" name="Google Shape;514;p54"/>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 sz="1400"/>
              <a:t>/</a:t>
            </a:r>
            <a:r>
              <a:rPr lang="en"/>
              <a:t>2</a:t>
            </a:r>
            <a:endParaRPr sz="1400"/>
          </a:p>
        </p:txBody>
      </p:sp>
      <p:sp>
        <p:nvSpPr>
          <p:cNvPr id="515" name="Google Shape;515;p54"/>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endParaRPr/>
          </a:p>
        </p:txBody>
      </p:sp>
      <p:sp>
        <p:nvSpPr>
          <p:cNvPr id="516" name="Google Shape;516;p54"/>
          <p:cNvSpPr txBox="1">
            <a:spLocks noGrp="1"/>
          </p:cNvSpPr>
          <p:nvPr>
            <p:ph type="subTitle" idx="1"/>
          </p:nvPr>
        </p:nvSpPr>
        <p:spPr>
          <a:xfrm>
            <a:off x="182880" y="667512"/>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Reflection on my self assessment				My self assessment grade is a</a:t>
            </a:r>
            <a:endParaRPr b="0" i="1" dirty="0"/>
          </a:p>
        </p:txBody>
      </p:sp>
      <p:sp>
        <p:nvSpPr>
          <p:cNvPr id="517" name="Google Shape;517;p54"/>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In this block, I believe I performed well as I worked hard on my dataset and creative brief, particularly in the machine learning section. Initially, I struggled with the SQL part of the creative brief, but I put in the effort to write the code and achieve the required results. For the EDA, I explored my data extensively, creating better visualizations to understand missing values and other patterns to improve my results. The math section was challenging, but I did my best to improve my understanding and skills. Studying the machine learning book was also difficult, but with the support of YouTube, the book itself, and the creative brief, I was able to grasp the concepts better and make good progress.</a:t>
            </a:r>
            <a:endParaRPr dirty="0"/>
          </a:p>
          <a:p>
            <a:pPr marL="0" lvl="0" indent="0" algn="just" rtl="0">
              <a:spcBef>
                <a:spcPts val="800"/>
              </a:spcBef>
              <a:spcAft>
                <a:spcPts val="0"/>
              </a:spcAft>
              <a:buNone/>
            </a:pPr>
            <a:r>
              <a:rPr lang="en" sz="1400" b="1" dirty="0"/>
              <a:t>How I plan to improve next block</a:t>
            </a:r>
            <a:endParaRPr sz="1400" b="1" dirty="0"/>
          </a:p>
          <a:p>
            <a:pPr marL="0" lvl="0" indent="0" algn="just" rtl="0">
              <a:spcBef>
                <a:spcPts val="800"/>
              </a:spcBef>
              <a:spcAft>
                <a:spcPts val="800"/>
              </a:spcAft>
              <a:buNone/>
            </a:pPr>
            <a:r>
              <a:rPr lang="en-US" dirty="0"/>
              <a:t>For the next block, I plan to focus more on practicing with datasets. At the beginning of this block, I was primarily focused on studying, but once I started coding, I realized I understood concepts much better. Moving forward, I want to test my data with models, analyze the results, and then refine my approach to achieve better outcomes. I believe this hands-on method will help me improve, especially in data analysis.</a:t>
            </a:r>
            <a:endParaRPr dirty="0"/>
          </a:p>
        </p:txBody>
      </p:sp>
      <p:sp>
        <p:nvSpPr>
          <p:cNvPr id="518" name="Google Shape;518;p54"/>
          <p:cNvSpPr txBox="1"/>
          <p:nvPr/>
        </p:nvSpPr>
        <p:spPr>
          <a:xfrm>
            <a:off x="7933066" y="749712"/>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b="1" dirty="0">
                <a:solidFill>
                  <a:srgbClr val="434343"/>
                </a:solidFill>
                <a:latin typeface="Roboto"/>
                <a:ea typeface="Roboto"/>
                <a:cs typeface="Roboto"/>
                <a:sym typeface="Roboto"/>
              </a:rPr>
              <a:t>95</a:t>
            </a:r>
            <a:endParaRPr sz="3600" b="1" dirty="0">
              <a:solidFill>
                <a:srgbClr val="434343"/>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BUAS 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3C78D8"/>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BADAD4AA324BF48804EF76FD903323C" ma:contentTypeVersion="15" ma:contentTypeDescription="Create a new document." ma:contentTypeScope="" ma:versionID="4ea0feda506421460444ca95554a0aab">
  <xsd:schema xmlns:xsd="http://www.w3.org/2001/XMLSchema" xmlns:xs="http://www.w3.org/2001/XMLSchema" xmlns:p="http://schemas.microsoft.com/office/2006/metadata/properties" xmlns:ns2="5ff92c65-ed86-4457-baee-ccd535c9ea21" xmlns:ns3="6c8d291c-a5bf-4049-930d-38db8e991d8e" targetNamespace="http://schemas.microsoft.com/office/2006/metadata/properties" ma:root="true" ma:fieldsID="0fc8cf7d0f5ee312899395875a30595e" ns2:_="" ns3:_="">
    <xsd:import namespace="5ff92c65-ed86-4457-baee-ccd535c9ea21"/>
    <xsd:import namespace="6c8d291c-a5bf-4049-930d-38db8e991d8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f92c65-ed86-4457-baee-ccd535c9ea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65a90ea-d0e7-4aae-8ef9-9f5dd1eb65e3"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c8d291c-a5bf-4049-930d-38db8e991d8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ad53588-c864-4711-ad43-fad96b40598a}" ma:internalName="TaxCatchAll" ma:showField="CatchAllData" ma:web="6c8d291c-a5bf-4049-930d-38db8e991d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6c8d291c-a5bf-4049-930d-38db8e991d8e">
      <UserInfo>
        <DisplayName/>
        <AccountId xsi:nil="true"/>
        <AccountType/>
      </UserInfo>
    </SharedWithUsers>
    <TaxCatchAll xmlns="6c8d291c-a5bf-4049-930d-38db8e991d8e" xsi:nil="true"/>
    <lcf76f155ced4ddcb4097134ff3c332f xmlns="5ff92c65-ed86-4457-baee-ccd535c9ea2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562638-1947-4789-9FBF-F833DB2C18A8}">
  <ds:schemaRefs>
    <ds:schemaRef ds:uri="5ff92c65-ed86-4457-baee-ccd535c9ea21"/>
    <ds:schemaRef ds:uri="6c8d291c-a5bf-4049-930d-38db8e991d8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067B86F-F5BB-4BE6-9A37-0E19E53CB68B}">
  <ds:schemaRefs>
    <ds:schemaRef ds:uri="6c8d291c-a5bf-4049-930d-38db8e991d8e"/>
    <ds:schemaRef ds:uri="http://schemas.microsoft.com/office/2006/documentManagement/types"/>
    <ds:schemaRef ds:uri="http://purl.org/dc/elements/1.1/"/>
    <ds:schemaRef ds:uri="http://purl.org/dc/dcmitype/"/>
    <ds:schemaRef ds:uri="5ff92c65-ed86-4457-baee-ccd535c9ea21"/>
    <ds:schemaRef ds:uri="http://schemas.microsoft.com/office/2006/metadata/properties"/>
    <ds:schemaRef ds:uri="http://purl.org/dc/term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8D9791E-52D0-4ABB-925A-4EAECF798D9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3984</TotalTime>
  <Words>13719</Words>
  <Application>Microsoft Office PowerPoint</Application>
  <PresentationFormat>On-screen Show (16:9)</PresentationFormat>
  <Paragraphs>774</Paragraphs>
  <Slides>51</Slides>
  <Notes>44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Roboto Light</vt:lpstr>
      <vt:lpstr>Arial</vt:lpstr>
      <vt:lpstr>Roboto</vt:lpstr>
      <vt:lpstr>Open Sans</vt:lpstr>
      <vt:lpstr>Calibri</vt:lpstr>
      <vt:lpstr>Roboto Thin</vt:lpstr>
      <vt:lpstr>Proxima Nova</vt:lpstr>
      <vt:lpstr>Helvetica Neue</vt:lpstr>
      <vt:lpstr>BUAS Gameday</vt:lpstr>
      <vt:lpstr>« Mohammadali Jaberi » « Jaberi » «creativebrief/projectname»</vt:lpstr>
      <vt:lpstr>How To Use This Template</vt:lpstr>
      <vt:lpstr>Learning Log Structure</vt:lpstr>
      <vt:lpstr>Section A</vt:lpstr>
      <vt:lpstr>Where am I starting?</vt:lpstr>
      <vt:lpstr>What is my plan?</vt:lpstr>
      <vt:lpstr>What are my goals?</vt:lpstr>
      <vt:lpstr>PowerPoint Presentation</vt:lpstr>
      <vt:lpstr>Week 2 This session It was about the overview of machine learning  supervised and unsupervised   Week 3 Gradian descent for linear regression  Week 4  Gradian descent for multiple linear regression  and Vectorization  week 5   Feature scaling    Week 6 Cost function for logistic regression   Week 7 Gradian descent for logistic regression  Problem overfitting </vt:lpstr>
      <vt:lpstr>Section B</vt:lpstr>
      <vt:lpstr>Week 1 - Log</vt:lpstr>
      <vt:lpstr>  </vt:lpstr>
      <vt:lpstr>Week 1 - Feedback</vt:lpstr>
      <vt:lpstr>Week 2 - Log</vt:lpstr>
      <vt:lpstr> </vt:lpstr>
      <vt:lpstr>Week 2 - Feedback</vt:lpstr>
      <vt:lpstr>Week 3 - Log</vt:lpstr>
      <vt:lpstr>PowerPoint Presentation</vt:lpstr>
      <vt:lpstr>Week 3 - Feedback</vt:lpstr>
      <vt:lpstr>Week 4 - Log</vt:lpstr>
      <vt:lpstr>PowerPoint Presentation</vt:lpstr>
      <vt:lpstr>Week 4 - Feedback</vt:lpstr>
      <vt:lpstr>Week 5 - Log</vt:lpstr>
      <vt:lpstr>PowerPoint Presentation</vt:lpstr>
      <vt:lpstr>Week 5 - Feedback</vt:lpstr>
      <vt:lpstr>Week 6 - Log</vt:lpstr>
      <vt:lpstr>Week 6 - Feedback</vt:lpstr>
      <vt:lpstr>Week 7 - Log</vt:lpstr>
      <vt:lpstr>Week 7 - Feedback</vt:lpstr>
      <vt:lpstr>Week 8 - Log</vt:lpstr>
      <vt:lpstr>Week 8 - Feedback</vt:lpstr>
      <vt:lpstr>Section C</vt:lpstr>
      <vt:lpstr>ILO 0.2</vt:lpstr>
      <vt:lpstr>ILO 0</vt:lpstr>
      <vt:lpstr>ILO 1.2</vt:lpstr>
      <vt:lpstr>ILO 1</vt:lpstr>
      <vt:lpstr>ILO 2.2</vt:lpstr>
      <vt:lpstr>ILO 2</vt:lpstr>
      <vt:lpstr>ILO 6.2</vt:lpstr>
      <vt:lpstr>ILO 6</vt:lpstr>
      <vt:lpstr>ILO 8.1</vt:lpstr>
      <vt:lpstr>ILO 8</vt:lpstr>
      <vt:lpstr>ILO 8.2</vt:lpstr>
      <vt:lpstr>ILO 8</vt:lpstr>
      <vt:lpstr>ILO 11.1</vt:lpstr>
      <vt:lpstr>ILO 11</vt:lpstr>
      <vt:lpstr>Medal Challenges</vt:lpstr>
      <vt:lpstr>1/1</vt:lpstr>
      <vt:lpstr>Section D</vt:lpstr>
      <vt:lpstr>What did I achieve this block?</vt:lpstr>
      <vt:lpstr>How well am I progressing?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«studentname» «studentid» «studentacademicproject»</dc:title>
  <dc:creator>Neggers, Margot</dc:creator>
  <cp:lastModifiedBy>m.jaberi14979@gmail.com</cp:lastModifiedBy>
  <cp:revision>27</cp:revision>
  <cp:lastPrinted>2024-11-19T21:18:05Z</cp:lastPrinted>
  <dcterms:modified xsi:type="dcterms:W3CDTF">2025-01-24T13:55:13Z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0x0101000BADAD4AA324BF48804EF76FD903323C</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