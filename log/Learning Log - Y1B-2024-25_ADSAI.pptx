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53"/>
  </p:notesMasterIdLst>
  <p:sldIdLst>
    <p:sldId id="256" r:id="rId5"/>
    <p:sldId id="257" r:id="rId6"/>
    <p:sldId id="258" r:id="rId7"/>
    <p:sldId id="263" r:id="rId8"/>
    <p:sldId id="260" r:id="rId9"/>
    <p:sldId id="261" r:id="rId10"/>
    <p:sldId id="262" r:id="rId11"/>
    <p:sldId id="364" r:id="rId12"/>
    <p:sldId id="305" r:id="rId13"/>
    <p:sldId id="264" r:id="rId14"/>
    <p:sldId id="361" r:id="rId15"/>
    <p:sldId id="265" r:id="rId16"/>
    <p:sldId id="268" r:id="rId17"/>
    <p:sldId id="362" r:id="rId18"/>
    <p:sldId id="269" r:id="rId19"/>
    <p:sldId id="270" r:id="rId20"/>
    <p:sldId id="363" r:id="rId21"/>
    <p:sldId id="271" r:id="rId22"/>
    <p:sldId id="324" r:id="rId23"/>
    <p:sldId id="325" r:id="rId24"/>
    <p:sldId id="308" r:id="rId25"/>
    <p:sldId id="326" r:id="rId26"/>
    <p:sldId id="327" r:id="rId27"/>
    <p:sldId id="311" r:id="rId28"/>
    <p:sldId id="328" r:id="rId29"/>
    <p:sldId id="329" r:id="rId30"/>
    <p:sldId id="331" r:id="rId31"/>
    <p:sldId id="332" r:id="rId32"/>
    <p:sldId id="282" r:id="rId33"/>
    <p:sldId id="283" r:id="rId34"/>
    <p:sldId id="343" r:id="rId35"/>
    <p:sldId id="345" r:id="rId36"/>
    <p:sldId id="352" r:id="rId37"/>
    <p:sldId id="346" r:id="rId38"/>
    <p:sldId id="353" r:id="rId39"/>
    <p:sldId id="347" r:id="rId40"/>
    <p:sldId id="354" r:id="rId41"/>
    <p:sldId id="348" r:id="rId42"/>
    <p:sldId id="355" r:id="rId43"/>
    <p:sldId id="360" r:id="rId44"/>
    <p:sldId id="359" r:id="rId45"/>
    <p:sldId id="350" r:id="rId46"/>
    <p:sldId id="357" r:id="rId47"/>
    <p:sldId id="333" r:id="rId48"/>
    <p:sldId id="334" r:id="rId49"/>
    <p:sldId id="296" r:id="rId50"/>
    <p:sldId id="297" r:id="rId51"/>
    <p:sldId id="298" r:id="rId52"/>
  </p:sldIdLst>
  <p:sldSz cx="9144000" cy="5143500" type="screen16x9"/>
  <p:notesSz cx="6858000" cy="9144000"/>
  <p:embeddedFontLst>
    <p:embeddedFont>
      <p:font typeface="Helvetica Neue" panose="020B0604020202020204" charset="0"/>
      <p:regular r:id="rId54"/>
      <p:bold r:id="rId55"/>
      <p:italic r:id="rId56"/>
      <p:boldItalic r:id="rId57"/>
    </p:embeddedFont>
    <p:embeddedFont>
      <p:font typeface="Open Sans" panose="020B0606030504020204" pitchFamily="34" charset="0"/>
      <p:regular r:id="rId58"/>
      <p:bold r:id="rId59"/>
      <p:italic r:id="rId60"/>
      <p:boldItalic r:id="rId61"/>
    </p:embeddedFont>
    <p:embeddedFont>
      <p:font typeface="Proxima Nova" panose="020B0604020202020204" charset="0"/>
      <p:regular r:id="rId62"/>
      <p:bold r:id="rId63"/>
      <p:italic r:id="rId64"/>
      <p:boldItalic r:id="rId65"/>
    </p:embeddedFont>
    <p:embeddedFont>
      <p:font typeface="Roboto" panose="02000000000000000000" pitchFamily="2" charset="0"/>
      <p:regular r:id="rId66"/>
      <p:bold r:id="rId67"/>
      <p:italic r:id="rId68"/>
      <p:boldItalic r:id="rId69"/>
    </p:embeddedFont>
    <p:embeddedFont>
      <p:font typeface="Roboto Light" panose="02000000000000000000" pitchFamily="2" charset="0"/>
      <p:regular r:id="rId70"/>
      <p:italic r:id="rId71"/>
    </p:embeddedFont>
    <p:embeddedFont>
      <p:font typeface="Roboto Thin" panose="02000000000000000000" pitchFamily="2" charset="0"/>
      <p:regular r:id="rId72"/>
      <p: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swas, Abhishek" initials="BA" lastIdx="1" clrIdx="0">
    <p:extLst>
      <p:ext uri="{19B8F6BF-5375-455C-9EA6-DF929625EA0E}">
        <p15:presenceInfo xmlns:p15="http://schemas.microsoft.com/office/powerpoint/2012/main" userId="S::biswas.a@buas.nl::fb8d240a-d551-4b24-ab9a-9862bbc79dd8" providerId="AD"/>
      </p:ext>
    </p:extLst>
  </p:cmAuthor>
  <p:cmAuthor id="2" name="Noyan, Alican" initials="NA" lastIdx="3" clrIdx="1">
    <p:extLst>
      <p:ext uri="{19B8F6BF-5375-455C-9EA6-DF929625EA0E}">
        <p15:presenceInfo xmlns:p15="http://schemas.microsoft.com/office/powerpoint/2012/main" userId="S::noyan.a@buas.nl::f2106684-872a-4b1d-b983-18c991c41330" providerId="AD"/>
      </p:ext>
    </p:extLst>
  </p:cmAuthor>
  <p:cmAuthor id="3" name="Heijligers, Bram" initials="HB" lastIdx="3" clrIdx="2">
    <p:extLst>
      <p:ext uri="{19B8F6BF-5375-455C-9EA6-DF929625EA0E}">
        <p15:presenceInfo xmlns:p15="http://schemas.microsoft.com/office/powerpoint/2012/main" userId="S::heijligers.b@buas.nl::5cef929d-ecf9-4fca-bf12-bc5ee065fc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DE4B18-C8E5-9083-0879-DA16C72BA878}" v="6" dt="2024-11-19T09:26:58.345"/>
    <p1510:client id="{18493BC5-0301-A393-696D-B1ACF87E9631}" v="10" dt="2024-11-19T10:13:31.259"/>
    <p1510:client id="{8EF9EFED-4EAA-8D6B-875A-87C751E43961}" v="4" dt="2024-11-19T10:20:50.873"/>
    <p1510:client id="{925896CF-2934-AE40-9346-8DAA55A656D1}" v="12" dt="2024-11-19T04:15:32.799"/>
    <p1510:client id="{9A3757C3-AD88-9D4C-7BCC-FA6E48DBB8C4}" v="5" dt="2024-11-19T10:18:20.738"/>
    <p1510:client id="{A7FBBC6F-7762-5F33-BE83-DB69F7694010}" v="148" dt="2024-11-19T08:19:17.950"/>
    <p1510:client id="{CD9E5212-1E66-6ED2-C9A9-E0B7D2519126}" v="883" dt="2024-11-18T15:45:56.763"/>
    <p1510:client id="{E4169D13-82C7-3490-4C71-8AEE22B0DBE0}" v="62" dt="2024-11-19T08:15:02.372"/>
    <p1510:client id="{FC8E8401-842F-4812-B2C8-459C3AC9E6C6}" v="17" dt="2024-11-19T10:26:41.705"/>
  </p1510:revLst>
</p1510:revInfo>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0.fntdata"/><Relationship Id="rId68" Type="http://schemas.openxmlformats.org/officeDocument/2006/relationships/font" Target="fonts/font15.fntdata"/><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font" Target="fonts/font13.fntdata"/><Relationship Id="rId74" Type="http://schemas.openxmlformats.org/officeDocument/2006/relationships/commentAuthors" Target="commentAuthors.xml"/><Relationship Id="rId79"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font" Target="fonts/font8.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19.fntdata"/><Relationship Id="rId80"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4.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font" Target="fonts/font20.fntdata"/><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font" Target="fonts/font2.fntdata"/><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font" Target="fonts/font18.fntdata"/><Relationship Id="rId2" Type="http://schemas.openxmlformats.org/officeDocument/2006/relationships/customXml" Target="../customXml/item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b602ea5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b602ea5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6b602ea5a7_1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6b602ea5a7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b602ea5a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extLst>
      <p:ext uri="{BB962C8B-B14F-4D97-AF65-F5344CB8AC3E}">
        <p14:creationId xmlns:p14="http://schemas.microsoft.com/office/powerpoint/2010/main" val="32673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241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60816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315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 BUT SHOULD BE UPDATED REGULARLY</a:t>
            </a:r>
            <a:endParaRPr/>
          </a:p>
          <a:p>
            <a:pPr marL="0" lvl="0" indent="0" algn="l" rtl="0">
              <a:spcBef>
                <a:spcPts val="0"/>
              </a:spcBef>
              <a:spcAft>
                <a:spcPts val="0"/>
              </a:spcAft>
              <a:buNone/>
            </a:pPr>
            <a:r>
              <a:rPr lang="en"/>
              <a:t>This is where you link your evidence to each of the Intended Learning Outcomes of this block.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7210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3843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4284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1638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334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9423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36045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626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1284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42176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5746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8919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5789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endParaRPr/>
          </a:p>
          <a:p>
            <a:pPr marL="0" lvl="0" indent="0" algn="l" rtl="0">
              <a:spcBef>
                <a:spcPts val="0"/>
              </a:spcBef>
              <a:spcAft>
                <a:spcPts val="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graphicFrame>
        <p:nvGraphicFramePr>
          <p:cNvPr id="4" name="Table 3">
            <a:extLst>
              <a:ext uri="{FF2B5EF4-FFF2-40B4-BE49-F238E27FC236}">
                <a16:creationId xmlns:a16="http://schemas.microsoft.com/office/drawing/2014/main" id="{9C37A2C8-F053-CFA5-72C7-D1B7AFD043D0}"/>
              </a:ext>
            </a:extLst>
          </p:cNvPr>
          <p:cNvGraphicFramePr>
            <a:graphicFrameLocks noGrp="1"/>
          </p:cNvGraphicFramePr>
          <p:nvPr userDrawn="1">
            <p:extLst>
              <p:ext uri="{D42A27DB-BD31-4B8C-83A1-F6EECF244321}">
                <p14:modId xmlns:p14="http://schemas.microsoft.com/office/powerpoint/2010/main" val="251012479"/>
              </p:ext>
            </p:extLst>
          </p:nvPr>
        </p:nvGraphicFramePr>
        <p:xfrm>
          <a:off x="1845398" y="4454995"/>
          <a:ext cx="7094899" cy="594360"/>
        </p:xfrm>
        <a:graphic>
          <a:graphicData uri="http://schemas.openxmlformats.org/drawingml/2006/table">
            <a:tbl>
              <a:tblPr firstRow="1" bandRow="1">
                <a:tableStyleId>{764D4AE7-FFBC-431D-9275-528F30A785D3}</a:tableStyleId>
              </a:tblPr>
              <a:tblGrid>
                <a:gridCol w="1189355">
                  <a:extLst>
                    <a:ext uri="{9D8B030D-6E8A-4147-A177-3AD203B41FA5}">
                      <a16:colId xmlns:a16="http://schemas.microsoft.com/office/drawing/2014/main" val="828907917"/>
                    </a:ext>
                  </a:extLst>
                </a:gridCol>
                <a:gridCol w="5905544">
                  <a:extLst>
                    <a:ext uri="{9D8B030D-6E8A-4147-A177-3AD203B41FA5}">
                      <a16:colId xmlns:a16="http://schemas.microsoft.com/office/drawing/2014/main" val="682174830"/>
                    </a:ext>
                  </a:extLst>
                </a:gridCol>
              </a:tblGrid>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a:solidFill>
                            <a:srgbClr val="999999"/>
                          </a:solidFill>
                          <a:latin typeface="Helvetica Neue"/>
                          <a:ea typeface="Helvetica Neue"/>
                          <a:cs typeface="Helvetica Neue"/>
                          <a:sym typeface="Helvetica Neue"/>
                        </a:rPr>
                        <a:t>Project Brief</a:t>
                      </a:r>
                      <a:r>
                        <a:rPr lang="en-NL" sz="700" b="1">
                          <a:solidFill>
                            <a:srgbClr val="999999"/>
                          </a:solidFill>
                          <a:latin typeface="Helvetica Neue"/>
                          <a:ea typeface="Helvetica Neue"/>
                          <a:cs typeface="Helvetica Neue"/>
                          <a:sym typeface="Helvetica Neue"/>
                        </a:rPr>
                        <a:t>:</a:t>
                      </a:r>
                      <a:r>
                        <a:rPr lang="en" sz="700" b="1">
                          <a:solidFill>
                            <a:srgbClr val="999999"/>
                          </a:solidFill>
                          <a:latin typeface="Helvetica Neue"/>
                          <a:ea typeface="Helvetica Neue"/>
                          <a:cs typeface="Helvetica Neue"/>
                          <a:sym typeface="Helvetica Neue"/>
                        </a:rPr>
                        <a:t> </a:t>
                      </a:r>
                      <a:endParaRPr lang="en-NL" sz="700" b="1">
                        <a:solidFill>
                          <a:srgbClr val="999999"/>
                        </a:solidFill>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000607423"/>
                  </a:ext>
                </a:extLst>
              </a:tr>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1">
                          <a:solidFill>
                            <a:srgbClr val="999999"/>
                          </a:solidFill>
                          <a:latin typeface="Helvetica Neue"/>
                          <a:ea typeface="Helvetica Neue"/>
                          <a:cs typeface="Helvetica Neue"/>
                          <a:sym typeface="Helvetica Neue"/>
                        </a:rPr>
                        <a:t>Assessment Assignment:</a:t>
                      </a:r>
                      <a:endParaRPr lang="en-US" sz="700" b="1">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233139930"/>
                  </a:ext>
                </a:extLst>
              </a:tr>
              <a:tr h="185420">
                <a:tc>
                  <a:txBody>
                    <a:bodyPr/>
                    <a:lstStyle/>
                    <a:p>
                      <a:r>
                        <a:rPr lang="en-NL" sz="700" b="1">
                          <a:solidFill>
                            <a:srgbClr val="999999"/>
                          </a:solidFill>
                          <a:latin typeface="Helvetica Neue"/>
                          <a:ea typeface="Helvetica Neue"/>
                          <a:cs typeface="Helvetica Neue"/>
                          <a:sym typeface="Helvetica Neue"/>
                        </a:rPr>
                        <a:t>Student </a:t>
                      </a:r>
                      <a:r>
                        <a:rPr lang="en" sz="700" b="1">
                          <a:solidFill>
                            <a:srgbClr val="999999"/>
                          </a:solidFill>
                          <a:latin typeface="Helvetica Neue"/>
                          <a:ea typeface="Helvetica Neue"/>
                          <a:cs typeface="Helvetica Neue"/>
                          <a:sym typeface="Helvetica Neue"/>
                        </a:rPr>
                        <a:t>GitHub Folder: </a:t>
                      </a:r>
                      <a:endParaRPr lang="en-GB" sz="700"/>
                    </a:p>
                  </a:txBody>
                  <a:tcPr/>
                </a:tc>
                <a:tc>
                  <a:txBody>
                    <a:bodyPr/>
                    <a:lstStyle/>
                    <a:p>
                      <a:endParaRPr lang="en-GB" sz="700"/>
                    </a:p>
                  </a:txBody>
                  <a:tcPr/>
                </a:tc>
                <a:extLst>
                  <a:ext uri="{0D108BD9-81ED-4DB2-BD59-A6C34878D82A}">
                    <a16:rowId xmlns:a16="http://schemas.microsoft.com/office/drawing/2014/main" val="1618248095"/>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userDrawn="1">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s">
  <p:cSld name="Weeks">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181183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Feedback Slides">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223738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eek 4 goals">
  <p:cSld name="Week 4 goals">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Tree>
    <p:extLst>
      <p:ext uri="{BB962C8B-B14F-4D97-AF65-F5344CB8AC3E}">
        <p14:creationId xmlns:p14="http://schemas.microsoft.com/office/powerpoint/2010/main" val="321291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7"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Graded%20Block%20A/244437_Mohammadali_Y1A_graded_rubrics_2024_2025.xlsx"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bcY2g2e4_6w&amp;t=4369s"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Evidence%20of%20coding%20bat/evidence%20of%20coding%20bat.png"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Week%203%20Saturday/Saturday%20evidencing%20coursera.png"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657600" y="548650"/>
            <a:ext cx="4937700" cy="3264300"/>
          </a:xfrm>
          <a:prstGeom prst="rect">
            <a:avLst/>
          </a:prstGeom>
        </p:spPr>
        <p:txBody>
          <a:bodyPr spcFirstLastPara="1" wrap="square" lIns="91425" tIns="91425" rIns="91425" bIns="91425" anchor="b" anchorCtr="0">
            <a:noAutofit/>
          </a:bodyPr>
          <a:lstStyle/>
          <a:p>
            <a:r>
              <a:rPr lang="en" dirty="0">
                <a:latin typeface="Roboto"/>
                <a:ea typeface="Roboto"/>
                <a:cs typeface="Roboto"/>
                <a:sym typeface="Roboto"/>
              </a:rPr>
              <a:t>« Mohammadali Jaberi »</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latin typeface="Roboto"/>
                <a:ea typeface="Roboto"/>
                <a:cs typeface="Roboto"/>
                <a:sym typeface="Roboto"/>
              </a:rPr>
              <a:t>« Jaberi »</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solidFill>
                  <a:srgbClr val="FFFFFF"/>
                </a:solidFill>
                <a:latin typeface="Roboto"/>
                <a:ea typeface="Roboto"/>
                <a:cs typeface="Roboto"/>
                <a:sym typeface="Roboto"/>
              </a:rPr>
              <a:t>«</a:t>
            </a:r>
            <a:r>
              <a:rPr lang="en-NL" dirty="0" err="1">
                <a:latin typeface="Roboto"/>
                <a:ea typeface="Roboto"/>
                <a:cs typeface="Roboto"/>
                <a:sym typeface="Roboto"/>
              </a:rPr>
              <a:t>creativebrief</a:t>
            </a:r>
            <a:r>
              <a:rPr lang="en-NL" dirty="0">
                <a:latin typeface="Roboto"/>
                <a:ea typeface="Roboto"/>
                <a:cs typeface="Roboto"/>
                <a:sym typeface="Roboto"/>
              </a:rPr>
              <a:t>/</a:t>
            </a:r>
            <a:r>
              <a:rPr lang="en-NL" dirty="0" err="1">
                <a:latin typeface="Roboto"/>
                <a:ea typeface="Roboto"/>
                <a:cs typeface="Roboto"/>
                <a:sym typeface="Roboto"/>
              </a:rPr>
              <a:t>projectname</a:t>
            </a:r>
            <a:r>
              <a:rPr lang="en" dirty="0">
                <a:solidFill>
                  <a:srgbClr val="FFFFFF"/>
                </a:solidFill>
                <a:latin typeface="Roboto"/>
                <a:ea typeface="Roboto"/>
                <a:cs typeface="Roboto"/>
                <a:sym typeface="Roboto"/>
              </a:rPr>
              <a:t>»</a:t>
            </a:r>
            <a:endParaRPr dirty="0">
              <a:solidFill>
                <a:srgbClr val="FFFFFF"/>
              </a:solidFill>
              <a:latin typeface="Roboto"/>
              <a:ea typeface="Roboto"/>
              <a:cs typeface="Roboto"/>
              <a:sym typeface="Roboto"/>
            </a:endParaRPr>
          </a:p>
        </p:txBody>
      </p:sp>
      <p:sp>
        <p:nvSpPr>
          <p:cNvPr id="94" name="Google Shape;94;p12" descr="Face" title="Face"/>
          <p:cNvSpPr/>
          <p:nvPr/>
        </p:nvSpPr>
        <p:spPr>
          <a:xfrm>
            <a:off x="3749050" y="640075"/>
            <a:ext cx="1371600" cy="13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[photo]</a:t>
            </a:r>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a:solidFill>
                  <a:srgbClr val="434343"/>
                </a:solidFill>
              </a:rPr>
              <a:t>Learning Log</a:t>
            </a:r>
            <a:r>
              <a:rPr lang="en">
                <a:solidFill>
                  <a:srgbClr val="434343"/>
                </a:solidFill>
              </a:rPr>
              <a:t> </a:t>
            </a:r>
            <a:endParaRPr sz="1800">
              <a:solidFill>
                <a:srgbClr val="434343"/>
              </a:solidFill>
            </a:endParaRPr>
          </a:p>
          <a:p>
            <a:pPr marL="0" indent="0">
              <a:lnSpc>
                <a:spcPct val="104000"/>
              </a:lnSpc>
              <a:spcBef>
                <a:spcPts val="800"/>
              </a:spcBef>
              <a:spcAft>
                <a:spcPts val="800"/>
              </a:spcAft>
            </a:pPr>
            <a:r>
              <a:rPr lang="en">
                <a:solidFill>
                  <a:srgbClr val="434343"/>
                </a:solidFill>
              </a:rPr>
              <a:t>Year  1</a:t>
            </a:r>
            <a:endParaRPr lang="en-US">
              <a:solidFill>
                <a:srgbClr val="434343"/>
              </a:solidFill>
            </a:endParaRPr>
          </a:p>
          <a:p>
            <a:pPr marL="0" indent="0">
              <a:lnSpc>
                <a:spcPct val="104000"/>
              </a:lnSpc>
              <a:spcBef>
                <a:spcPts val="800"/>
              </a:spcBef>
              <a:spcAft>
                <a:spcPts val="800"/>
              </a:spcAft>
            </a:pPr>
            <a:r>
              <a:rPr lang="en">
                <a:solidFill>
                  <a:srgbClr val="434343"/>
                </a:solidFill>
              </a:rPr>
              <a:t>Block  B</a:t>
            </a:r>
            <a:endParaRPr lang="en-US" sz="180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3036677" y="440831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5" name="Google Shape;16;p2">
            <a:extLst>
              <a:ext uri="{FF2B5EF4-FFF2-40B4-BE49-F238E27FC236}">
                <a16:creationId xmlns:a16="http://schemas.microsoft.com/office/drawing/2014/main" id="{91019EC5-1870-195F-7F9F-5AA97F189468}"/>
              </a:ext>
            </a:extLst>
          </p:cNvPr>
          <p:cNvSpPr txBox="1"/>
          <p:nvPr/>
        </p:nvSpPr>
        <p:spPr>
          <a:xfrm>
            <a:off x="3036676" y="462505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6" name="Google Shape;16;p2">
            <a:extLst>
              <a:ext uri="{FF2B5EF4-FFF2-40B4-BE49-F238E27FC236}">
                <a16:creationId xmlns:a16="http://schemas.microsoft.com/office/drawing/2014/main" id="{71C20FEA-7051-AFFA-02AF-093F08979088}"/>
              </a:ext>
            </a:extLst>
          </p:cNvPr>
          <p:cNvSpPr txBox="1"/>
          <p:nvPr/>
        </p:nvSpPr>
        <p:spPr>
          <a:xfrm>
            <a:off x="3036676" y="4798480"/>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As a student at Breda University of Applied Sciences studying to become a professional, you are required to provide evidence that demonstrates your professional learning and growth during the block. This template is intended to provide you with a well-structured and </a:t>
            </a:r>
            <a:r>
              <a:rPr lang="en" err="1"/>
              <a:t>organised</a:t>
            </a:r>
            <a:r>
              <a:rPr lang="en"/>
              <a:t> format for doing this effectively. Keep in mind that certain competencies may require you to update your evidence every week, and others may have only be relevant during a particular week or two.</a:t>
            </a:r>
            <a:endParaRPr/>
          </a:p>
          <a:p>
            <a:pPr marL="0" lvl="0" indent="0" algn="l" rtl="0">
              <a:spcBef>
                <a:spcPts val="800"/>
              </a:spcBef>
              <a:spcAft>
                <a:spcPts val="0"/>
              </a:spcAft>
              <a:buNone/>
            </a:pPr>
            <a:endParaRPr/>
          </a:p>
          <a:p>
            <a:pPr marL="0" lvl="0" indent="0" algn="l" rtl="0">
              <a:spcBef>
                <a:spcPts val="800"/>
              </a:spcBef>
              <a:spcAft>
                <a:spcPts val="0"/>
              </a:spcAft>
              <a:buNone/>
            </a:pPr>
            <a:r>
              <a:rPr lang="en"/>
              <a:t>With the evidence you present here teachers should get a clear and comprehensive overview of your progress, how you’ve engaged with feedback, as well as your general attitude and performance as a student and as an aspiring professional developer.</a:t>
            </a:r>
            <a:endParaRPr/>
          </a:p>
          <a:p>
            <a:pPr marL="0" lvl="0" indent="0" algn="l" rtl="0">
              <a:spcBef>
                <a:spcPts val="800"/>
              </a:spcBef>
              <a:spcAft>
                <a:spcPts val="0"/>
              </a:spcAft>
              <a:buNone/>
            </a:pPr>
            <a:endParaRPr/>
          </a:p>
          <a:p>
            <a:pPr marL="0" lvl="0" indent="0" algn="l" rtl="0">
              <a:spcBef>
                <a:spcPts val="800"/>
              </a:spcBef>
              <a:spcAft>
                <a:spcPts val="0"/>
              </a:spcAft>
              <a:buNone/>
            </a:pPr>
            <a:r>
              <a:rPr lang="en"/>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a:p>
          <a:p>
            <a:pPr marL="0" lvl="0" indent="0" algn="l" rtl="0">
              <a:spcBef>
                <a:spcPts val="800"/>
              </a:spcBef>
              <a:spcAft>
                <a:spcPts val="0"/>
              </a:spcAft>
              <a:buNone/>
            </a:pPr>
            <a:endParaRPr/>
          </a:p>
          <a:p>
            <a:pPr marL="0" lvl="0" indent="0" algn="l" rtl="0">
              <a:spcBef>
                <a:spcPts val="800"/>
              </a:spcBef>
              <a:spcAft>
                <a:spcPts val="800"/>
              </a:spcAft>
              <a:buNone/>
            </a:pPr>
            <a:r>
              <a:rPr lang="en"/>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a:t>Section A - My Plan		</a:t>
            </a:r>
            <a:r>
              <a:rPr lang="en" i="1"/>
              <a:t>Must be completed in </a:t>
            </a:r>
            <a:r>
              <a:rPr lang="en" i="1" u="sng"/>
              <a:t>week 1</a:t>
            </a:r>
            <a:endParaRPr i="1" u="sng"/>
          </a:p>
          <a:p>
            <a:pPr marL="0" lvl="0" indent="0" algn="l" rtl="0">
              <a:spcBef>
                <a:spcPts val="800"/>
              </a:spcBef>
              <a:spcAft>
                <a:spcPts val="0"/>
              </a:spcAft>
              <a:buNone/>
            </a:pPr>
            <a:r>
              <a:rPr lang="en"/>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a:p>
          <a:p>
            <a:pPr marL="0" lvl="0" indent="0" algn="l" rtl="0">
              <a:spcBef>
                <a:spcPts val="800"/>
              </a:spcBef>
              <a:spcAft>
                <a:spcPts val="0"/>
              </a:spcAft>
              <a:buNone/>
            </a:pPr>
            <a:r>
              <a:rPr lang="en" sz="1200" b="1" u="sng"/>
              <a:t>Section B - ILO’s		</a:t>
            </a:r>
            <a:r>
              <a:rPr lang="en" i="1"/>
              <a:t>Must be completed in </a:t>
            </a:r>
            <a:r>
              <a:rPr lang="en" i="1" u="sng"/>
              <a:t>week 8</a:t>
            </a:r>
            <a:r>
              <a:rPr lang="en" i="1"/>
              <a:t>, but should be updated </a:t>
            </a:r>
            <a:r>
              <a:rPr lang="en" i="1" u="sng"/>
              <a:t>regularly</a:t>
            </a:r>
            <a:endParaRPr i="1" u="sng"/>
          </a:p>
          <a:p>
            <a:pPr marL="0" lvl="0" indent="0" algn="l" rtl="0">
              <a:spcBef>
                <a:spcPts val="800"/>
              </a:spcBef>
              <a:spcAft>
                <a:spcPts val="0"/>
              </a:spcAft>
              <a:buNone/>
            </a:pPr>
            <a:r>
              <a:rPr lang="en"/>
              <a:t>This is where you link your evidence to each of the Intended Learning Outcomes of this block.</a:t>
            </a:r>
            <a:endParaRPr/>
          </a:p>
          <a:p>
            <a:pPr marL="0" lvl="0" indent="0" algn="l" rtl="0">
              <a:spcBef>
                <a:spcPts val="800"/>
              </a:spcBef>
              <a:spcAft>
                <a:spcPts val="0"/>
              </a:spcAft>
              <a:buNone/>
            </a:pPr>
            <a:r>
              <a:rPr lang="en" sz="1200" b="1" u="sng"/>
              <a:t>Section C - Weekly Log	</a:t>
            </a:r>
            <a:r>
              <a:rPr lang="en" i="1"/>
              <a:t>Must be updated </a:t>
            </a:r>
            <a:r>
              <a:rPr lang="en" i="1" u="sng"/>
              <a:t>every week</a:t>
            </a:r>
            <a:endParaRPr i="1" u="sng"/>
          </a:p>
          <a:p>
            <a:pPr marL="0" lvl="0" indent="0" algn="l" rtl="0">
              <a:spcBef>
                <a:spcPts val="80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80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800"/>
              </a:spcBef>
              <a:spcAft>
                <a:spcPts val="0"/>
              </a:spcAft>
              <a:buNone/>
            </a:pPr>
            <a:r>
              <a:rPr lang="en"/>
              <a:t>(Some reflection is almost always a good idea as it provides the foundation for Section C.)</a:t>
            </a:r>
            <a:endParaRPr/>
          </a:p>
          <a:p>
            <a:pPr marL="0" lvl="0" indent="0" algn="l" rtl="0">
              <a:spcBef>
                <a:spcPts val="800"/>
              </a:spcBef>
              <a:spcAft>
                <a:spcPts val="0"/>
              </a:spcAft>
              <a:buNone/>
            </a:pPr>
            <a:r>
              <a:rPr lang="en" sz="1200" b="1" u="sng"/>
              <a:t>Section D - Reflection	</a:t>
            </a:r>
            <a:r>
              <a:rPr lang="en" i="1"/>
              <a:t>Must be completed in </a:t>
            </a:r>
            <a:r>
              <a:rPr lang="en" i="1" u="sng"/>
              <a:t>week 8</a:t>
            </a:r>
            <a:endParaRPr i="1" u="sng"/>
          </a:p>
          <a:p>
            <a:pPr marL="0" lvl="0" indent="0" algn="l" rtl="0">
              <a:spcBef>
                <a:spcPts val="800"/>
              </a:spcBef>
              <a:spcAft>
                <a:spcPts val="80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L" b="1">
                <a:latin typeface="Open Sans" panose="020B0606030504020204" pitchFamily="34" charset="0"/>
                <a:ea typeface="Open Sans" panose="020B0606030504020204" pitchFamily="34" charset="0"/>
                <a:cs typeface="Times New Roman" panose="02020603050405020304" pitchFamily="18" charset="0"/>
              </a:rPr>
              <a:t>In the first week</a:t>
            </a:r>
            <a:r>
              <a:rPr lang="en-NL">
                <a:latin typeface="Open Sans" panose="020B0606030504020204" pitchFamily="34" charset="0"/>
                <a:ea typeface="Open Sans" panose="020B0606030504020204" pitchFamily="34" charset="0"/>
                <a:cs typeface="Times New Roman" panose="02020603050405020304" pitchFamily="18" charset="0"/>
              </a:rPr>
              <a:t>, t</a:t>
            </a:r>
            <a:r>
              <a:rPr lang="en-GB">
                <a:effectLst/>
                <a:latin typeface="Open Sans" panose="020B0606030504020204" pitchFamily="34" charset="0"/>
                <a:ea typeface="Open Sans" panose="020B0606030504020204" pitchFamily="34" charset="0"/>
                <a:cs typeface="Times New Roman" panose="02020603050405020304" pitchFamily="18" charset="0"/>
              </a:rPr>
              <a:t>he student sets ambitious, S.M.A.R.T.</a:t>
            </a:r>
            <a:r>
              <a:rPr lang="en-NL">
                <a:effectLst/>
                <a:latin typeface="Open Sans" panose="020B0606030504020204" pitchFamily="34" charset="0"/>
                <a:ea typeface="Open Sans" panose="020B0606030504020204" pitchFamily="34" charset="0"/>
                <a:cs typeface="Times New Roman" panose="02020603050405020304" pitchFamily="18" charset="0"/>
              </a:rPr>
              <a:t> </a:t>
            </a:r>
            <a:r>
              <a:rPr lang="en-GB">
                <a:effectLst/>
                <a:latin typeface="Open Sans" panose="020B0606030504020204" pitchFamily="34" charset="0"/>
                <a:ea typeface="Open Sans" panose="020B0606030504020204" pitchFamily="34" charset="0"/>
                <a:cs typeface="Times New Roman" panose="02020603050405020304" pitchFamily="18" charset="0"/>
              </a:rPr>
              <a:t>goals in alignment with the project brief, their chosen role(s), content of the assessment rubric and their personal long-term goals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Where am I starting?</a:t>
            </a:r>
            <a:endParaRPr/>
          </a:p>
        </p:txBody>
      </p:sp>
      <p:sp>
        <p:nvSpPr>
          <p:cNvPr id="123" name="Google Shape;123;p16"/>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400"/>
              <a:t>1/</a:t>
            </a:r>
            <a:r>
              <a:rPr lang="en"/>
              <a:t>2</a:t>
            </a:r>
            <a:endParaRPr sz="1400"/>
          </a:p>
        </p:txBody>
      </p:sp>
      <p:sp>
        <p:nvSpPr>
          <p:cNvPr id="124" name="Google Shape;124;p16"/>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25" name="Google Shape;125;p16"/>
          <p:cNvSpPr txBox="1">
            <a:spLocks noGrp="1"/>
          </p:cNvSpPr>
          <p:nvPr>
            <p:ph type="subTitle" idx="1"/>
          </p:nvPr>
        </p:nvSpPr>
        <p:spPr>
          <a:xfrm>
            <a:off x="182880" y="68238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Feedback from previous assessment -							</a:t>
            </a:r>
            <a:endParaRPr b="0" i="1"/>
          </a:p>
        </p:txBody>
      </p:sp>
      <p:sp>
        <p:nvSpPr>
          <p:cNvPr id="126" name="Google Shape;126;p16"/>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165100" indent="0">
              <a:buNone/>
            </a:pPr>
            <a:r>
              <a:rPr lang="en-US" dirty="0"/>
              <a:t>I will maintain a daily learning log and work log to track my progress and ensure consistency. I will avoid postponing tasks and assignments until the last week, ensuring timely completion.</a:t>
            </a:r>
          </a:p>
          <a:p>
            <a:pPr marL="165100" indent="0">
              <a:buNone/>
            </a:pPr>
            <a:r>
              <a:rPr lang="en-US" dirty="0"/>
              <a:t>Every day, I will update my knowledge by reviewing course materials and focusing on the Data Lab content. I will strive to understand the Data Lab topics more thoroughly and work on improving my comprehension through regular practice.</a:t>
            </a:r>
          </a:p>
          <a:p>
            <a:pPr marL="165100" indent="0">
              <a:buNone/>
            </a:pPr>
            <a:r>
              <a:rPr lang="en-US" dirty="0"/>
              <a:t>To prepare for my exams, I will dedicate time daily to practicing math and Python, rather than leaving everything to the last moment. Consistent effort will help me build confidence and perform better during exams.</a:t>
            </a:r>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interpretation / key takeaways</a:t>
            </a:r>
          </a:p>
          <a:p>
            <a:pPr marL="0" lvl="0" indent="0" algn="just" rtl="0">
              <a:spcBef>
                <a:spcPts val="800"/>
              </a:spcBef>
              <a:spcAft>
                <a:spcPts val="0"/>
              </a:spcAft>
              <a:buNone/>
            </a:pPr>
            <a:endParaRPr lang="en" sz="1400" b="1" dirty="0"/>
          </a:p>
          <a:p>
            <a:pPr marL="165100" indent="0">
              <a:buNone/>
            </a:pPr>
            <a:r>
              <a:rPr lang="en-US" dirty="0"/>
              <a:t>I will manage my time effectively to make steady progress in my </a:t>
            </a:r>
            <a:r>
              <a:rPr lang="en-US" dirty="0" err="1"/>
              <a:t>DataCamp</a:t>
            </a:r>
            <a:r>
              <a:rPr lang="en-US" dirty="0"/>
              <a:t> course. It’s important to stay on track with the course content and avoid falling behind. To ensure accountability, I will fill out my work log and learning log daily, documenting my progress and areas of improvement.</a:t>
            </a:r>
          </a:p>
          <a:p>
            <a:pPr marL="165100" indent="0">
              <a:buNone/>
            </a:pPr>
            <a:r>
              <a:rPr lang="en-US" dirty="0"/>
              <a:t>During each Data Lab session, I will aim to seek feedback to better understand the material and improve my performance. Feedback will help me identify my strengths and areas where I need to improve.</a:t>
            </a:r>
          </a:p>
          <a:p>
            <a:pPr marL="165100" indent="0">
              <a:buNone/>
            </a:pPr>
            <a:r>
              <a:rPr lang="en-US" dirty="0"/>
              <a:t>I will minimize distractions, especially by reducing the time I spend on my phone, and focus more on my studies. Maintaining discipline and concentration will help me achieve my learning goals more efficiently.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is my plan?</a:t>
            </a:r>
            <a:endParaRPr/>
          </a:p>
        </p:txBody>
      </p:sp>
      <p:sp>
        <p:nvSpPr>
          <p:cNvPr id="133" name="Google Shape;133;p17"/>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34" name="Google Shape;134;p17"/>
          <p:cNvSpPr txBox="1">
            <a:spLocks noGrp="1"/>
          </p:cNvSpPr>
          <p:nvPr>
            <p:ph type="subTitle" idx="1"/>
          </p:nvPr>
        </p:nvSpPr>
        <p:spPr>
          <a:xfrm>
            <a:off x="182873" y="66750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What I learned last block -													     Previous block’s grade</a:t>
            </a:r>
            <a:endParaRPr dirty="0"/>
          </a:p>
        </p:txBody>
      </p:sp>
      <p:sp>
        <p:nvSpPr>
          <p:cNvPr id="135" name="Google Shape;135;p17"/>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165100" indent="0">
              <a:buNone/>
            </a:pPr>
            <a:r>
              <a:rPr lang="en-US" dirty="0"/>
              <a:t>I learned how to work with Power BI and really enjoyed it. I know it will be very useful in the future as a data analyst. One of the most interesting features for me in Power BI is how much easier it is to clean data compared to Excel. Additionally, you can easily create bar charts and add new columns.</a:t>
            </a:r>
          </a:p>
          <a:p>
            <a:pPr marL="165100" indent="0">
              <a:buNone/>
            </a:pPr>
            <a:r>
              <a:rPr lang="en-US" dirty="0"/>
              <a:t>I’ve also been practicing math, reviewing Python, and working on improving my presentation skills. In Python, we’ve covered topics such as files, strings, dictionaries, and lists. I believe the skills from Block B will be extremely useful, especially since we will be learning how to import data into VS Code and replicate the tasks we did in Power BI, but with coding.</a:t>
            </a:r>
          </a:p>
          <a:p>
            <a:pPr marL="165100" indent="0">
              <a:buNone/>
            </a:pPr>
            <a:r>
              <a:rPr lang="en-US" dirty="0"/>
              <a:t>In math, we learned various topics to build a stronger foundation, which will help us better understand what we will cover in this block and the upcoming ones.</a:t>
            </a:r>
          </a:p>
          <a:p>
            <a:pPr marL="0" lvl="0" indent="0" algn="just" rtl="0">
              <a:spcBef>
                <a:spcPts val="0"/>
              </a:spcBef>
              <a:spcAft>
                <a:spcPts val="0"/>
              </a:spcAft>
              <a:buNone/>
            </a:pP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current level of progress</a:t>
            </a:r>
            <a:endParaRPr sz="1400" b="1" dirty="0"/>
          </a:p>
          <a:p>
            <a:pPr marL="165100" indent="0">
              <a:buNone/>
            </a:pPr>
            <a:r>
              <a:rPr lang="en-US" dirty="0"/>
              <a:t>During these two weeks off, I also practiced Python, and now I feel ready to retake the Python exam. I’m more comfortable with the material and confident in my abilities. Additionally, I want to retake the Power BI exam because my mentor mentioned that I couldn’t clearly explain my work in my learning log.</a:t>
            </a:r>
          </a:p>
          <a:p>
            <a:pPr marL="165100" indent="0">
              <a:buNone/>
            </a:pPr>
            <a:r>
              <a:rPr lang="en-US" dirty="0"/>
              <a:t>Overall, I believe I did well in the previous block. Initially, I was quite confused about how to proceed, but as I progressed, things became much clearer.</a:t>
            </a:r>
          </a:p>
        </p:txBody>
      </p:sp>
      <p:sp>
        <p:nvSpPr>
          <p:cNvPr id="136" name="Google Shape;136;p17"/>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37" name="Google Shape;137;p17"/>
          <p:cNvSpPr txBox="1"/>
          <p:nvPr/>
        </p:nvSpPr>
        <p:spPr>
          <a:xfrm>
            <a:off x="6217920" y="3593592"/>
            <a:ext cx="2743200" cy="13710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lnSpc>
                <a:spcPct val="104000"/>
              </a:lnSpc>
              <a:spcBef>
                <a:spcPts val="0"/>
              </a:spcBef>
              <a:spcAft>
                <a:spcPts val="0"/>
              </a:spcAft>
              <a:buNone/>
            </a:pPr>
            <a:r>
              <a:rPr lang="en" b="1" dirty="0">
                <a:solidFill>
                  <a:srgbClr val="434343"/>
                </a:solidFill>
                <a:latin typeface="Roboto"/>
                <a:ea typeface="Roboto"/>
                <a:cs typeface="Roboto"/>
                <a:sym typeface="Roboto"/>
              </a:rPr>
              <a:t>Links</a:t>
            </a:r>
            <a:endParaRPr dirty="0">
              <a:solidFill>
                <a:srgbClr val="434343"/>
              </a:solidFill>
              <a:latin typeface="Roboto"/>
              <a:ea typeface="Roboto"/>
              <a:cs typeface="Roboto"/>
              <a:sym typeface="Roboto"/>
            </a:endParaRPr>
          </a:p>
          <a:p>
            <a:pPr marL="0" lvl="0" indent="0" algn="l" rtl="0">
              <a:lnSpc>
                <a:spcPct val="104000"/>
              </a:lnSpc>
              <a:spcBef>
                <a:spcPts val="800"/>
              </a:spcBef>
              <a:spcAft>
                <a:spcPts val="800"/>
              </a:spcAft>
              <a:buNone/>
            </a:pPr>
            <a:r>
              <a:rPr lang="en-US" sz="1000" dirty="0">
                <a:solidFill>
                  <a:srgbClr val="434343"/>
                </a:solidFill>
                <a:latin typeface="Roboto"/>
                <a:ea typeface="Roboto"/>
                <a:cs typeface="Roboto"/>
                <a:sym typeface="Roboto"/>
                <a:hlinkClick r:id="rId3"/>
              </a:rPr>
              <a:t>First Block Grade</a:t>
            </a:r>
            <a:endParaRPr sz="1000" dirty="0">
              <a:solidFill>
                <a:srgbClr val="434343"/>
              </a:solidFill>
              <a:latin typeface="Roboto"/>
              <a:ea typeface="Roboto"/>
              <a:cs typeface="Roboto"/>
              <a:sym typeface="Roboto"/>
            </a:endParaRPr>
          </a:p>
        </p:txBody>
      </p:sp>
      <p:sp>
        <p:nvSpPr>
          <p:cNvPr id="138" name="Google Shape;138;p17"/>
          <p:cNvSpPr txBox="1"/>
          <p:nvPr/>
        </p:nvSpPr>
        <p:spPr>
          <a:xfrm>
            <a:off x="8046720" y="749724"/>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solidFill>
                  <a:srgbClr val="434343"/>
                </a:solidFill>
                <a:latin typeface="Roboto"/>
                <a:ea typeface="Roboto"/>
                <a:cs typeface="Roboto"/>
                <a:sym typeface="Roboto"/>
              </a:rPr>
              <a:t>62,3</a:t>
            </a:r>
            <a:endParaRPr sz="2800" b="1" dirty="0">
              <a:solidFill>
                <a:srgbClr val="434343"/>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body" idx="3"/>
          </p:nvPr>
        </p:nvSpPr>
        <p:spPr>
          <a:xfrm>
            <a:off x="3108950" y="2646556"/>
            <a:ext cx="5852100" cy="230945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800"/>
              </a:spcBef>
              <a:spcAft>
                <a:spcPts val="0"/>
              </a:spcAft>
              <a:buNone/>
            </a:pPr>
            <a:endParaRPr sz="1400" b="1" dirty="0"/>
          </a:p>
        </p:txBody>
      </p:sp>
      <p:sp>
        <p:nvSpPr>
          <p:cNvPr id="144" name="Google Shape;144;p1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my goals?</a:t>
            </a:r>
            <a:endParaRPr/>
          </a:p>
        </p:txBody>
      </p:sp>
      <p:sp>
        <p:nvSpPr>
          <p:cNvPr id="145" name="Google Shape;145;p18"/>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6" name="Google Shape;146;p18"/>
          <p:cNvSpPr txBox="1">
            <a:spLocks noGrp="1"/>
          </p:cNvSpPr>
          <p:nvPr>
            <p:ph type="subTitle" idx="1"/>
          </p:nvPr>
        </p:nvSpPr>
        <p:spPr>
          <a:xfrm>
            <a:off x="3108960" y="667512"/>
            <a:ext cx="5852100" cy="44759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 am taking responsibility for</a:t>
            </a:r>
            <a:r>
              <a:rPr lang="en" b="0" i="1" dirty="0"/>
              <a:t> (if multiple add in percentages)</a:t>
            </a:r>
          </a:p>
          <a:p>
            <a:pPr marL="0" lvl="0" indent="0" algn="l" rtl="0">
              <a:spcBef>
                <a:spcPts val="0"/>
              </a:spcBef>
              <a:spcAft>
                <a:spcPts val="0"/>
              </a:spcAft>
              <a:buNone/>
            </a:pPr>
            <a:r>
              <a:rPr lang="en-US" sz="1400" b="1" dirty="0"/>
              <a:t>Personal and professional development goals</a:t>
            </a:r>
            <a:br>
              <a:rPr lang="en-US" sz="1400" b="1" dirty="0"/>
            </a:br>
            <a:r>
              <a:rPr lang="en-US" sz="900" dirty="0"/>
              <a:t>For Machine Learning, I plan to review individual Persian resources before the </a:t>
            </a:r>
            <a:r>
              <a:rPr lang="en-US" sz="900" dirty="0" err="1"/>
              <a:t>DataCamp</a:t>
            </a:r>
            <a:r>
              <a:rPr lang="en-US" sz="900" dirty="0"/>
              <a:t> course begins, which will help me feel more confident during Data Lab sessions and give me extra time for practice. My goal is to complete at least one general Machine Learning course by the end of the first week. Additionally, I plan to complete a Coursera course on Machine Learning to gain a deeper understanding, enhance my resume, and earn a separate certification in this field outside of university. I will dedicate at least one hour daily to studying Machine Learning, aiming to become more comfortable and proficient with the subject while balancing practical application and theoretical learning.</a:t>
            </a:r>
          </a:p>
          <a:p>
            <a:pPr marL="0" lvl="0" indent="0" algn="l" rtl="0">
              <a:spcBef>
                <a:spcPts val="0"/>
              </a:spcBef>
              <a:spcAft>
                <a:spcPts val="0"/>
              </a:spcAft>
              <a:buNone/>
            </a:pPr>
            <a:endParaRPr lang="en-US" sz="900" dirty="0"/>
          </a:p>
          <a:p>
            <a:pPr marL="0" lvl="0" indent="0" algn="l" rtl="0">
              <a:spcBef>
                <a:spcPts val="0"/>
              </a:spcBef>
              <a:spcAft>
                <a:spcPts val="0"/>
              </a:spcAft>
              <a:buNone/>
            </a:pPr>
            <a:endParaRPr lang="en-US" sz="900" dirty="0"/>
          </a:p>
          <a:p>
            <a:r>
              <a:rPr lang="en-US" sz="900" dirty="0"/>
              <a:t>S = </a:t>
            </a:r>
            <a:r>
              <a:rPr lang="en-US" sz="800" dirty="0"/>
              <a:t>to improve my ability to code independently and to prepare my data for machine learning. I want to fully understand the process without relying on ChatGPT or any external tools.</a:t>
            </a:r>
          </a:p>
          <a:p>
            <a:r>
              <a:rPr lang="en-US" sz="900" dirty="0"/>
              <a:t>M = </a:t>
            </a:r>
            <a:r>
              <a:rPr lang="en-US" sz="800" dirty="0"/>
              <a:t>I’ve started a course on Coursera to deepen my understanding and to push myself to code and study consistently every week. It’s a measurable goal since the course spans five weeks, and I can track and showcase my progress each week.</a:t>
            </a:r>
          </a:p>
          <a:p>
            <a:r>
              <a:rPr lang="en-US" sz="900" dirty="0"/>
              <a:t>A = </a:t>
            </a:r>
            <a:r>
              <a:rPr lang="en-US" sz="800" dirty="0"/>
              <a:t>As I mentioned, this goal is achievable because it’s a course that many others have successfully completed. I believe I’m capable of finishing it by the end of the block and earning an additional certification alongside my university studies.</a:t>
            </a:r>
          </a:p>
          <a:p>
            <a:r>
              <a:rPr lang="en-US" sz="900" dirty="0"/>
              <a:t>R = </a:t>
            </a:r>
            <a:r>
              <a:rPr lang="en-US" sz="800" dirty="0"/>
              <a:t>This course is completely relevant to our current block. The main task for this block is learning how to prepare data for machine learning and train a model, which aligns perfectly with what the course teaches.</a:t>
            </a:r>
          </a:p>
          <a:p>
            <a:r>
              <a:rPr lang="en-US" sz="900" dirty="0"/>
              <a:t>T = </a:t>
            </a:r>
            <a:r>
              <a:rPr lang="en-US" sz="800" dirty="0"/>
              <a:t>The course has a well-defined time frame, as it includes weekly activities that I need to complete in sequence to stay on track.</a:t>
            </a:r>
          </a:p>
        </p:txBody>
      </p:sp>
      <p:sp>
        <p:nvSpPr>
          <p:cNvPr id="147" name="Google Shape;147;p18"/>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p:cNvGraphicFramePr/>
          <p:nvPr>
            <p:extLst>
              <p:ext uri="{D42A27DB-BD31-4B8C-83A1-F6EECF244321}">
                <p14:modId xmlns:p14="http://schemas.microsoft.com/office/powerpoint/2010/main" val="2727034024"/>
              </p:ext>
            </p:extLst>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Specific:</a:t>
                      </a:r>
                      <a:r>
                        <a:rPr lang="en" sz="600" dirty="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Measurable:</a:t>
                      </a:r>
                      <a:r>
                        <a:rPr lang="en" sz="600" dirty="0">
                          <a:latin typeface="Roboto"/>
                          <a:ea typeface="Roboto"/>
                          <a:cs typeface="Roboto"/>
                          <a:sym typeface="Roboto"/>
                        </a:rPr>
                        <a:t> This where you define a measurable and meaningful goal. It’s important to be able to track your progress. Without meaningful and measurable goals which you can track it’s easy to lose heart and focus.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Achievable:</a:t>
                      </a:r>
                      <a:r>
                        <a:rPr lang="en" sz="600" dirty="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Relevant:</a:t>
                      </a:r>
                      <a:r>
                        <a:rPr lang="en" sz="600" dirty="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Time-Bound:</a:t>
                      </a:r>
                      <a:r>
                        <a:rPr lang="en" sz="600" dirty="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Evaluate:</a:t>
                      </a:r>
                      <a:r>
                        <a:rPr lang="en" sz="600" dirty="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Readjust:</a:t>
                      </a:r>
                      <a:r>
                        <a:rPr lang="en" sz="600" dirty="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67DB9DEB-AE43-B21F-7163-690B88441A76}"/>
              </a:ext>
            </a:extLst>
          </p:cNvPr>
          <p:cNvSpPr>
            <a:spLocks noChangeArrowheads="1"/>
          </p:cNvSpPr>
          <p:nvPr/>
        </p:nvSpPr>
        <p:spPr bwMode="auto">
          <a:xfrm>
            <a:off x="0" y="503"/>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804CAAD-3264-2991-300D-0A2A5D52A814}"/>
              </a:ext>
            </a:extLst>
          </p:cNvPr>
          <p:cNvSpPr>
            <a:spLocks noGrp="1"/>
          </p:cNvSpPr>
          <p:nvPr>
            <p:ph type="body" idx="3"/>
          </p:nvPr>
        </p:nvSpPr>
        <p:spPr>
          <a:xfrm>
            <a:off x="182879" y="1069848"/>
            <a:ext cx="8284613" cy="3895200"/>
          </a:xfrm>
        </p:spPr>
        <p:txBody>
          <a:bodyPr/>
          <a:lstStyle/>
          <a:p>
            <a:pPr marL="165100" indent="0">
              <a:buNone/>
            </a:pPr>
            <a:endParaRPr lang="en-US" sz="1000" dirty="0"/>
          </a:p>
          <a:p>
            <a:pPr marL="165100" indent="0">
              <a:buNone/>
            </a:pPr>
            <a:r>
              <a:rPr lang="en-US" sz="1000" dirty="0"/>
              <a:t>My personal and professional development goals include improving my physical and mental well-being while maintaining focus on my studies. I plan to take going to the gym more seriously and make it a regular part of my routine to enhance my fitness and overall health. Alongside this, I will stick to a healthy diet to support my physical and mental performance.</a:t>
            </a:r>
          </a:p>
          <a:p>
            <a:pPr marL="165100" indent="0">
              <a:buNone/>
            </a:pPr>
            <a:r>
              <a:rPr lang="en-US" sz="1000" dirty="0"/>
              <a:t>To improve my study habits, I will work on minimizing distractions, especially from my phone, which often disrupts my focus. I aim to create a more disciplined study environment to stay fully engaged and make the most of my study sessions. Balancing fitness, nutrition, and focus will help me achieve my goals and maintain a healthier, more productive lifestyle.</a:t>
            </a:r>
          </a:p>
          <a:p>
            <a:pPr marL="165100" indent="0">
              <a:buNone/>
            </a:pPr>
            <a:endParaRPr lang="en-US" dirty="0"/>
          </a:p>
        </p:txBody>
      </p:sp>
    </p:spTree>
    <p:extLst>
      <p:ext uri="{BB962C8B-B14F-4D97-AF65-F5344CB8AC3E}">
        <p14:creationId xmlns:p14="http://schemas.microsoft.com/office/powerpoint/2010/main" val="998577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0033" y="620296"/>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US" dirty="0"/>
              <a:t> </a:t>
            </a:r>
            <a:endParaRPr dirty="0"/>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What did you do?</a:t>
            </a:r>
            <a:endParaRPr dirty="0"/>
          </a:p>
        </p:txBody>
      </p:sp>
      <p:sp>
        <p:nvSpPr>
          <p:cNvPr id="163" name="Google Shape;163;p20"/>
          <p:cNvSpPr txBox="1">
            <a:spLocks noGrp="1"/>
          </p:cNvSpPr>
          <p:nvPr>
            <p:ph type="body" idx="2"/>
          </p:nvPr>
        </p:nvSpPr>
        <p:spPr>
          <a:xfrm>
            <a:off x="186166" y="1152852"/>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182880" lvl="0" indent="-154940" algn="l" rtl="0">
              <a:spcBef>
                <a:spcPts val="0"/>
              </a:spcBef>
              <a:spcAft>
                <a:spcPts val="0"/>
              </a:spcAft>
              <a:buSzPts val="1000"/>
              <a:buChar char="●"/>
            </a:pPr>
            <a:endParaRPr lang="en" dirty="0"/>
          </a:p>
          <a:p>
            <a:pPr marL="165100" indent="0">
              <a:buNone/>
            </a:pPr>
            <a:r>
              <a:rPr lang="en-US" dirty="0"/>
              <a:t>This week, I aim to focus on consistent progress in my studies and preparation. My plan includes watching courses on Machine Learning to deepen my understanding and practicing Python daily to prepare for my retake exam. Additionally, I will dedicate time to working on SQL to improve my skills and feel more confident in the subject.</a:t>
            </a:r>
          </a:p>
          <a:p>
            <a:pPr marL="165100" indent="0">
              <a:buNone/>
            </a:pPr>
            <a:r>
              <a:rPr lang="en-US" dirty="0"/>
              <a:t>By maintaining a disciplined schedule and balancing these tasks, I hope to make significant progress in all areas and move closer to achieving my academic and professional goals.</a:t>
            </a:r>
          </a:p>
          <a:p>
            <a:pPr marL="165100" indent="0">
              <a:buNone/>
            </a:pPr>
            <a:endParaRPr lang="en-US" dirty="0"/>
          </a:p>
          <a:p>
            <a:pPr marL="165100" indent="0">
              <a:buNone/>
            </a:pPr>
            <a:endParaRPr lang="en-US" dirty="0"/>
          </a:p>
        </p:txBody>
      </p:sp>
      <p:sp>
        <p:nvSpPr>
          <p:cNvPr id="164" name="Google Shape;164;p20"/>
          <p:cNvSpPr txBox="1">
            <a:spLocks noGrp="1"/>
          </p:cNvSpPr>
          <p:nvPr>
            <p:ph type="body" idx="3"/>
          </p:nvPr>
        </p:nvSpPr>
        <p:spPr>
          <a:xfrm>
            <a:off x="4660033" y="667572"/>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  </a:t>
            </a:r>
            <a:r>
              <a:rPr lang="en-US" dirty="0"/>
              <a:t>What have you actually been able to do? </a:t>
            </a:r>
          </a:p>
          <a:p>
            <a:pPr marL="182880" lvl="0" indent="-154940" algn="l" rtl="0">
              <a:spcBef>
                <a:spcPts val="0"/>
              </a:spcBef>
              <a:spcAft>
                <a:spcPts val="0"/>
              </a:spcAft>
              <a:buSzPts val="1000"/>
              <a:buChar char="●"/>
            </a:pPr>
            <a:endParaRPr lang="en-US" dirty="0"/>
          </a:p>
          <a:p>
            <a:pPr marL="165100" indent="0">
              <a:buNone/>
            </a:pPr>
            <a:r>
              <a:rPr lang="en-US" sz="800" dirty="0"/>
              <a:t>This week, I made progress in working with Python, but I recognize the need for more practice to build greater confidence, especially in key areas like importing data into SQL and working efficiently with VS Code. These are essential skills I need to master for my coursework and future applications. To further support my learning, I dedicated time to watching YouTube videos on Machine Learning, which helped me gain a clearer understanding of the concepts and their practical applications.</a:t>
            </a:r>
          </a:p>
          <a:p>
            <a:pPr marL="165100" indent="0">
              <a:buNone/>
            </a:pPr>
            <a:r>
              <a:rPr lang="en-US" sz="800" dirty="0"/>
              <a:t>Additionally, I focused on improving my knowledge of PostgreSQL by watching videos and exploring resources that explained its functions and usage in more detail. This has started to improve my comfort level with SQL databases and how they integrate with Python, which is crucial for data science and development projects.</a:t>
            </a:r>
          </a:p>
          <a:p>
            <a:pPr marL="165100" indent="0">
              <a:buNone/>
            </a:pPr>
            <a:r>
              <a:rPr lang="en-US" sz="800" dirty="0"/>
              <a:t>Moving forward, I plan to continue regular Python practice, focusing specifically on bridging these tools and concepts together. I will also allocate time to study Machine Learning and SQL more deeply, using both hands-on practice and structured courses to ensure I can confidently apply my skills in real-world scenarios. This combination of consistent effort and diverse learning methods will help me achieve my goals.</a:t>
            </a:r>
          </a:p>
          <a:p>
            <a:pPr marL="165100" indent="0">
              <a:buNone/>
            </a:pPr>
            <a:endParaRPr lang="en-US" sz="800" dirty="0"/>
          </a:p>
          <a:p>
            <a:pPr marL="165100" indent="0">
              <a:buNone/>
            </a:pPr>
            <a:endParaRPr lang="en-US" sz="800" dirty="0"/>
          </a:p>
          <a:p>
            <a:pPr marL="182880" lvl="0" indent="-154940" algn="l" rtl="0">
              <a:spcBef>
                <a:spcPts val="0"/>
              </a:spcBef>
              <a:spcAft>
                <a:spcPts val="0"/>
              </a:spcAft>
              <a:buSzPts val="1000"/>
              <a:buChar char="●"/>
            </a:pPr>
            <a:r>
              <a:rPr lang="en-US" sz="800" dirty="0"/>
              <a:t>Showcase the evidence of your progress (production artifacts, short descriptions-links-pictures animated gifs, etc.)</a:t>
            </a:r>
          </a:p>
          <a:p>
            <a:pPr marL="182880" lvl="0" indent="-154940" algn="l" rtl="0">
              <a:spcBef>
                <a:spcPts val="0"/>
              </a:spcBef>
              <a:spcAft>
                <a:spcPts val="0"/>
              </a:spcAft>
              <a:buSzPts val="1000"/>
              <a:buChar char="●"/>
            </a:pPr>
            <a:endParaRPr lang="en-US" sz="800" dirty="0"/>
          </a:p>
          <a:p>
            <a:pPr marL="27940" lvl="0" indent="0" algn="l" rtl="0">
              <a:spcBef>
                <a:spcPts val="0"/>
              </a:spcBef>
              <a:spcAft>
                <a:spcPts val="0"/>
              </a:spcAft>
              <a:buSzPts val="1000"/>
              <a:buNone/>
            </a:pPr>
            <a:r>
              <a:rPr lang="en-US" sz="800" dirty="0">
                <a:highlight>
                  <a:srgbClr val="FFFF00"/>
                </a:highlight>
                <a:hlinkClick r:id="rId3"/>
              </a:rPr>
              <a:t>Machine Learning course in Persian</a:t>
            </a:r>
            <a:endParaRPr lang="en-US" sz="800" dirty="0"/>
          </a:p>
          <a:p>
            <a:pPr marL="27940" lvl="0" indent="0" algn="l" rtl="0">
              <a:spcBef>
                <a:spcPts val="0"/>
              </a:spcBef>
              <a:spcAft>
                <a:spcPts val="0"/>
              </a:spcAft>
              <a:buSzPts val="1000"/>
              <a:buNone/>
            </a:pPr>
            <a:r>
              <a:rPr lang="en-US" sz="800" dirty="0"/>
              <a:t>I created evidence of this link because Machine Learning is a key topic that I need to feel more confident about. By highlighting this evidence, I aim to demonstrate that I am actively working on improving my knowledge and skills in this area. It reflects my commitment to consistently learning and taking steps to build a stronger foundation in Machine Learning, which is critical for my academic and professional goals.  </a:t>
            </a:r>
          </a:p>
          <a:p>
            <a:pPr marL="27940" lvl="0" indent="0" algn="l" rtl="0">
              <a:spcBef>
                <a:spcPts val="0"/>
              </a:spcBef>
              <a:spcAft>
                <a:spcPts val="0"/>
              </a:spcAft>
              <a:buSzPts val="1000"/>
              <a:buNone/>
            </a:pPr>
            <a:endParaRPr lang="en-US" sz="800" dirty="0"/>
          </a:p>
          <a:p>
            <a:pPr marL="27940" lvl="0" indent="0" algn="l" rtl="0">
              <a:spcBef>
                <a:spcPts val="0"/>
              </a:spcBef>
              <a:spcAft>
                <a:spcPts val="0"/>
              </a:spcAft>
              <a:buSzPts val="1000"/>
              <a:buNone/>
            </a:pPr>
            <a:r>
              <a:rPr lang="en-US" sz="800" dirty="0"/>
              <a:t>Moving forward, I will continue to document my progress and efforts, ensuring I stay accountable and focused on mastering this essential subject. </a:t>
            </a:r>
            <a:endParaRPr lang="en" sz="800" dirty="0"/>
          </a:p>
          <a:p>
            <a:pPr marL="165100" indent="0">
              <a:buNone/>
            </a:pPr>
            <a:endParaRPr lang="en-US" sz="800" dirty="0"/>
          </a:p>
          <a:p>
            <a:pPr marL="27940" lvl="0" indent="0" algn="l" rtl="0">
              <a:spcBef>
                <a:spcPts val="0"/>
              </a:spcBef>
              <a:spcAft>
                <a:spcPts val="0"/>
              </a:spcAft>
              <a:buSzPts val="1000"/>
              <a:buNone/>
            </a:pPr>
            <a:endParaRPr lang="en-US"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6D7938A-97FF-904D-FD58-5FDC3CD773CA}"/>
              </a:ext>
            </a:extLst>
          </p:cNvPr>
          <p:cNvSpPr>
            <a:spLocks noGrp="1"/>
          </p:cNvSpPr>
          <p:nvPr>
            <p:ph type="subTitle" idx="1"/>
          </p:nvPr>
        </p:nvSpPr>
        <p:spPr>
          <a:xfrm flipV="1">
            <a:off x="4402232" y="1628077"/>
            <a:ext cx="4294500" cy="2965363"/>
          </a:xfrm>
        </p:spPr>
        <p:txBody>
          <a:bodyPr/>
          <a:lstStyle/>
          <a:p>
            <a:r>
              <a:rPr lang="en-US" dirty="0"/>
              <a:t> </a:t>
            </a:r>
          </a:p>
        </p:txBody>
      </p:sp>
      <p:sp>
        <p:nvSpPr>
          <p:cNvPr id="3" name="Text Placeholder 2">
            <a:extLst>
              <a:ext uri="{FF2B5EF4-FFF2-40B4-BE49-F238E27FC236}">
                <a16:creationId xmlns:a16="http://schemas.microsoft.com/office/drawing/2014/main" id="{56B17FD8-D76F-A092-07EA-B5EEDAEF8165}"/>
              </a:ext>
            </a:extLst>
          </p:cNvPr>
          <p:cNvSpPr>
            <a:spLocks noGrp="1"/>
          </p:cNvSpPr>
          <p:nvPr>
            <p:ph type="body" idx="2"/>
          </p:nvPr>
        </p:nvSpPr>
        <p:spPr>
          <a:xfrm>
            <a:off x="182874" y="631902"/>
            <a:ext cx="8961125" cy="4333195"/>
          </a:xfrm>
        </p:spPr>
        <p:txBody>
          <a:bodyPr/>
          <a:lstStyle/>
          <a:p>
            <a:r>
              <a:rPr lang="en-US" dirty="0"/>
              <a:t>Reflections</a:t>
            </a:r>
          </a:p>
          <a:p>
            <a:pPr marL="182880" lvl="0" indent="-154940" algn="l" rtl="0">
              <a:spcBef>
                <a:spcPts val="0"/>
              </a:spcBef>
              <a:spcAft>
                <a:spcPts val="0"/>
              </a:spcAft>
              <a:buSzPts val="1000"/>
              <a:buChar char="●"/>
            </a:pPr>
            <a:r>
              <a:rPr lang="en" sz="800" dirty="0"/>
              <a:t>How did the week go? </a:t>
            </a:r>
          </a:p>
          <a:p>
            <a:pPr marL="165100" indent="0">
              <a:buNone/>
            </a:pPr>
            <a:r>
              <a:rPr lang="en-US" sz="800" dirty="0"/>
              <a:t>I recognize that there is still a lot of work to be done in SQL, Python, and Machine Learning to reach the level of proficiency I aim for. However, I believe I made solid progress during the first week and laid a strong foundation for further learning. I am satisfied with the effort I put in so far and feel motivated to continue on this path, staying consistent and focused on my goals.</a:t>
            </a:r>
          </a:p>
          <a:p>
            <a:pPr marL="165100" indent="0">
              <a:buNone/>
            </a:pPr>
            <a:r>
              <a:rPr lang="en-US" sz="800" dirty="0"/>
              <a:t>By maintaining this momentum and improving my practice, I am confident that I can achieve significant progress in these areas over time.</a:t>
            </a:r>
          </a:p>
          <a:p>
            <a:pPr marL="27940" lvl="0" indent="0" algn="l" rtl="0">
              <a:spcBef>
                <a:spcPts val="0"/>
              </a:spcBef>
              <a:spcAft>
                <a:spcPts val="0"/>
              </a:spcAft>
              <a:buSzPts val="1000"/>
              <a:buNone/>
            </a:pPr>
            <a:endParaRPr lang="en" sz="800" dirty="0"/>
          </a:p>
          <a:p>
            <a:pPr marL="27940" lvl="0" indent="0" algn="l" rtl="0">
              <a:spcBef>
                <a:spcPts val="0"/>
              </a:spcBef>
              <a:spcAft>
                <a:spcPts val="0"/>
              </a:spcAft>
              <a:buSzPts val="1000"/>
              <a:buNone/>
            </a:pPr>
            <a:r>
              <a:rPr lang="en" sz="800" dirty="0"/>
              <a:t>What went well? </a:t>
            </a:r>
          </a:p>
          <a:p>
            <a:pPr marL="27940" lvl="0" indent="0" algn="l" rtl="0">
              <a:spcBef>
                <a:spcPts val="0"/>
              </a:spcBef>
              <a:spcAft>
                <a:spcPts val="0"/>
              </a:spcAft>
              <a:buSzPts val="1000"/>
              <a:buNone/>
            </a:pPr>
            <a:endParaRPr lang="en" sz="800" dirty="0"/>
          </a:p>
          <a:p>
            <a:pPr marL="27940" lvl="0" indent="0" algn="l" rtl="0">
              <a:spcBef>
                <a:spcPts val="0"/>
              </a:spcBef>
              <a:spcAft>
                <a:spcPts val="0"/>
              </a:spcAft>
              <a:buSzPts val="1000"/>
              <a:buNone/>
            </a:pPr>
            <a:r>
              <a:rPr lang="en-US" sz="800" dirty="0"/>
              <a:t>I found several Persian resources on Machine Learning and PostgreSQL, and after studying them, I felt more confident about these two important topics. These resources provided valuable insights and helped me better understand the concepts, which boosted my confidence in both areas.</a:t>
            </a:r>
          </a:p>
          <a:p>
            <a:pPr marL="27940" lvl="0" indent="0" algn="l" rtl="0">
              <a:spcBef>
                <a:spcPts val="0"/>
              </a:spcBef>
              <a:spcAft>
                <a:spcPts val="0"/>
              </a:spcAft>
              <a:buSzPts val="1000"/>
              <a:buNone/>
            </a:pPr>
            <a:endParaRPr lang="en-US" sz="800" dirty="0"/>
          </a:p>
          <a:p>
            <a:pPr marL="27940" lvl="0" indent="0" algn="l" rtl="0">
              <a:spcBef>
                <a:spcPts val="0"/>
              </a:spcBef>
              <a:spcAft>
                <a:spcPts val="0"/>
              </a:spcAft>
              <a:buSzPts val="1000"/>
              <a:buNone/>
            </a:pPr>
            <a:r>
              <a:rPr lang="en-US" sz="800" dirty="0"/>
              <a:t>What didn’t go so well?</a:t>
            </a:r>
          </a:p>
          <a:p>
            <a:pPr marL="27940" lvl="0" indent="0" algn="l" rtl="0">
              <a:spcBef>
                <a:spcPts val="0"/>
              </a:spcBef>
              <a:spcAft>
                <a:spcPts val="0"/>
              </a:spcAft>
              <a:buSzPts val="1000"/>
              <a:buNone/>
            </a:pPr>
            <a:br>
              <a:rPr lang="en-US" sz="800" dirty="0"/>
            </a:br>
            <a:r>
              <a:rPr lang="en-US" sz="800" dirty="0"/>
              <a:t>During the first week, I had planned to dedicate more time to practicing PostgreSQL, but unfortunately, I couldn’t allocate enough time to it due to other priorities. I realize this is an area I need to focus on more in the coming weeks to achieve my goals. Moving forward, I’ll work on better time management to ensure consistent practice in PostgreSQL alongside my other studies.</a:t>
            </a:r>
          </a:p>
          <a:p>
            <a:pPr marL="27940" lvl="0" indent="0" algn="l" rtl="0">
              <a:spcBef>
                <a:spcPts val="0"/>
              </a:spcBef>
              <a:spcAft>
                <a:spcPts val="0"/>
              </a:spcAft>
              <a:buSzPts val="1000"/>
              <a:buNone/>
            </a:pPr>
            <a:endParaRPr lang="en" sz="800" dirty="0"/>
          </a:p>
          <a:p>
            <a:pPr marL="27940" lvl="0" indent="0" algn="l" rtl="0">
              <a:spcBef>
                <a:spcPts val="0"/>
              </a:spcBef>
              <a:spcAft>
                <a:spcPts val="0"/>
              </a:spcAft>
              <a:buSzPts val="1000"/>
              <a:buNone/>
            </a:pPr>
            <a:r>
              <a:rPr lang="en" sz="800" dirty="0"/>
              <a:t>What did you learn? </a:t>
            </a:r>
          </a:p>
          <a:p>
            <a:pPr marL="165100" indent="0">
              <a:buNone/>
            </a:pPr>
            <a:endParaRPr lang="en" sz="800" dirty="0"/>
          </a:p>
          <a:p>
            <a:pPr marL="165100" indent="0">
              <a:buNone/>
            </a:pPr>
            <a:r>
              <a:rPr lang="en-US" sz="800" dirty="0"/>
              <a:t>This week, I learned how to import data into </a:t>
            </a:r>
            <a:r>
              <a:rPr lang="en-US" sz="800" dirty="0" err="1"/>
              <a:t>DBeaver</a:t>
            </a:r>
            <a:r>
              <a:rPr lang="en-US" sz="800" dirty="0"/>
              <a:t>, a powerful tool for database management, which significantly improved my understanding of handling databases. I also explored how to read a CSV file in Python using libraries like </a:t>
            </a:r>
            <a:r>
              <a:rPr lang="en-US" sz="800" b="1" dirty="0"/>
              <a:t>pandas</a:t>
            </a:r>
            <a:r>
              <a:rPr lang="en-US" sz="800" dirty="0"/>
              <a:t>, an essential tool for efficient data handling and analysis. Additionally, I familiarized myself with key Python libraries commonly used for data reading and processing, such as </a:t>
            </a:r>
            <a:r>
              <a:rPr lang="en-US" sz="800" b="1" dirty="0" err="1"/>
              <a:t>numpy</a:t>
            </a:r>
            <a:r>
              <a:rPr lang="en-US" sz="800" dirty="0"/>
              <a:t> and </a:t>
            </a:r>
            <a:r>
              <a:rPr lang="en-US" sz="800" b="1" dirty="0"/>
              <a:t>csv</a:t>
            </a:r>
            <a:r>
              <a:rPr lang="en-US" sz="800" dirty="0"/>
              <a:t>, which are invaluable for working with structured data.</a:t>
            </a:r>
          </a:p>
          <a:p>
            <a:pPr marL="165100" indent="0">
              <a:buNone/>
            </a:pPr>
            <a:r>
              <a:rPr lang="en-US" sz="800" dirty="0"/>
              <a:t>Furthermore, I was introduced to the fundamentals of Machine Learning, gaining insights into its basic concepts, types, and real-world applications. These initial steps have helped me build a foundation in data management and Machine Learning, both of which are critical for my academic and professional development. Moving forward, I aim to deepen my understanding and practice these skills further to confidently apply them in practical scenarios.</a:t>
            </a:r>
          </a:p>
          <a:p>
            <a:pPr marL="165100" indent="0">
              <a:buNone/>
            </a:pPr>
            <a:endParaRPr lang="en-US" sz="800" dirty="0"/>
          </a:p>
          <a:p>
            <a:pPr marL="27940" lvl="0" indent="0" algn="l" rtl="0">
              <a:spcBef>
                <a:spcPts val="0"/>
              </a:spcBef>
              <a:spcAft>
                <a:spcPts val="0"/>
              </a:spcAft>
              <a:buSzPts val="1000"/>
              <a:buNone/>
            </a:pPr>
            <a:r>
              <a:rPr lang="en" sz="800" dirty="0"/>
              <a:t>What could be added as an Action point looking forward to next week?</a:t>
            </a:r>
          </a:p>
          <a:p>
            <a:pPr marL="27940" lvl="0" indent="0" algn="l" rtl="0">
              <a:spcBef>
                <a:spcPts val="0"/>
              </a:spcBef>
              <a:spcAft>
                <a:spcPts val="0"/>
              </a:spcAft>
              <a:buSzPts val="1000"/>
              <a:buNone/>
            </a:pPr>
            <a:endParaRPr lang="en" sz="800" dirty="0"/>
          </a:p>
          <a:p>
            <a:pPr marL="165100" indent="0">
              <a:buNone/>
            </a:pPr>
            <a:r>
              <a:rPr lang="en-US" sz="800" dirty="0"/>
              <a:t>I plan to spend more time on Python by practicing consistently and working on small projects to reinforce my skills. To prepare for the retake exams, I will also focus on solving coding challenges on platforms like </a:t>
            </a:r>
            <a:r>
              <a:rPr lang="en-US" sz="800" dirty="0" err="1"/>
              <a:t>CodingBat</a:t>
            </a:r>
            <a:r>
              <a:rPr lang="en-US" sz="800" dirty="0"/>
              <a:t> or </a:t>
            </a:r>
            <a:r>
              <a:rPr lang="en-US" sz="800" dirty="0" err="1"/>
              <a:t>HackerRank</a:t>
            </a:r>
            <a:r>
              <a:rPr lang="en-US" sz="800" dirty="0"/>
              <a:t>, which will help me improve problem-solving and coding efficiency.</a:t>
            </a:r>
          </a:p>
          <a:p>
            <a:pPr marL="165100" indent="0">
              <a:buNone/>
            </a:pPr>
            <a:r>
              <a:rPr lang="en-US" sz="800" dirty="0"/>
              <a:t>In addition, I will dedicate time each week to practicing math to ensure I retain my skills and stay sharp in this area. By balancing Python practice, coding challenges, and regular math revision, I aim to be well-prepared for my exams and build a strong foundation for future learning.</a:t>
            </a:r>
          </a:p>
          <a:p>
            <a:pPr marL="165100" indent="0">
              <a:buNone/>
            </a:pPr>
            <a:endParaRPr lang="en-US" dirty="0"/>
          </a:p>
        </p:txBody>
      </p:sp>
      <p:sp>
        <p:nvSpPr>
          <p:cNvPr id="4" name="Text Placeholder 3">
            <a:extLst>
              <a:ext uri="{FF2B5EF4-FFF2-40B4-BE49-F238E27FC236}">
                <a16:creationId xmlns:a16="http://schemas.microsoft.com/office/drawing/2014/main" id="{40EB937A-38C0-F116-9514-158B1738A3D9}"/>
              </a:ext>
            </a:extLst>
          </p:cNvPr>
          <p:cNvSpPr>
            <a:spLocks noGrp="1"/>
          </p:cNvSpPr>
          <p:nvPr>
            <p:ph type="body" idx="3"/>
          </p:nvPr>
        </p:nvSpPr>
        <p:spPr>
          <a:xfrm>
            <a:off x="6549482" y="2037514"/>
            <a:ext cx="2411768" cy="740883"/>
          </a:xfrm>
        </p:spPr>
        <p:txBody>
          <a:bodyPr/>
          <a:lstStyle/>
          <a:p>
            <a:pPr marL="165100" indent="0">
              <a:buNone/>
            </a:pPr>
            <a:r>
              <a:rPr lang="en-US" dirty="0"/>
              <a:t> </a:t>
            </a:r>
          </a:p>
        </p:txBody>
      </p:sp>
      <p:sp>
        <p:nvSpPr>
          <p:cNvPr id="5" name="Subtitle 4">
            <a:extLst>
              <a:ext uri="{FF2B5EF4-FFF2-40B4-BE49-F238E27FC236}">
                <a16:creationId xmlns:a16="http://schemas.microsoft.com/office/drawing/2014/main" id="{C19D62D9-2C32-F3A8-D53E-AB40F7858074}"/>
              </a:ext>
            </a:extLst>
          </p:cNvPr>
          <p:cNvSpPr>
            <a:spLocks noGrp="1"/>
          </p:cNvSpPr>
          <p:nvPr>
            <p:ph type="subTitle" idx="4"/>
          </p:nvPr>
        </p:nvSpPr>
        <p:spPr/>
        <p:txBody>
          <a:bodyPr/>
          <a:lstStyle/>
          <a:p>
            <a:r>
              <a:rPr lang="en-US" dirty="0"/>
              <a:t>  </a:t>
            </a:r>
          </a:p>
        </p:txBody>
      </p:sp>
      <p:sp>
        <p:nvSpPr>
          <p:cNvPr id="8" name="Title 7">
            <a:extLst>
              <a:ext uri="{FF2B5EF4-FFF2-40B4-BE49-F238E27FC236}">
                <a16:creationId xmlns:a16="http://schemas.microsoft.com/office/drawing/2014/main" id="{2B230CE0-D057-7C96-BE9F-B5E55154C990}"/>
              </a:ext>
            </a:extLst>
          </p:cNvPr>
          <p:cNvSpPr>
            <a:spLocks noGrp="1"/>
          </p:cNvSpPr>
          <p:nvPr>
            <p:ph type="title" idx="6"/>
          </p:nvPr>
        </p:nvSpPr>
        <p:spPr/>
        <p:txBody>
          <a:bodyPr/>
          <a:lstStyle/>
          <a:p>
            <a:r>
              <a:rPr lang="en-US" dirty="0"/>
              <a:t>  </a:t>
            </a:r>
          </a:p>
        </p:txBody>
      </p:sp>
      <p:sp>
        <p:nvSpPr>
          <p:cNvPr id="10" name="Title 9">
            <a:extLst>
              <a:ext uri="{FF2B5EF4-FFF2-40B4-BE49-F238E27FC236}">
                <a16:creationId xmlns:a16="http://schemas.microsoft.com/office/drawing/2014/main" id="{7C09CF4A-4A59-088D-D950-952E54745E78}"/>
              </a:ext>
            </a:extLst>
          </p:cNvPr>
          <p:cNvSpPr>
            <a:spLocks noGrp="1"/>
          </p:cNvSpPr>
          <p:nvPr>
            <p:ph type="title" idx="5"/>
          </p:nvPr>
        </p:nvSpPr>
        <p:spPr>
          <a:xfrm>
            <a:off x="-1" y="0"/>
            <a:ext cx="6549483" cy="572700"/>
          </a:xfrm>
        </p:spPr>
        <p:txBody>
          <a:bodyPr/>
          <a:lstStyle/>
          <a:p>
            <a:r>
              <a:rPr lang="en-US" dirty="0"/>
              <a:t> </a:t>
            </a:r>
          </a:p>
        </p:txBody>
      </p:sp>
    </p:spTree>
    <p:extLst>
      <p:ext uri="{BB962C8B-B14F-4D97-AF65-F5344CB8AC3E}">
        <p14:creationId xmlns:p14="http://schemas.microsoft.com/office/powerpoint/2010/main" val="437338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I am Asma </a:t>
            </a:r>
            <a:r>
              <a:rPr lang="en-US" dirty="0" err="1"/>
              <a:t>Moghimi</a:t>
            </a:r>
            <a:r>
              <a:rPr lang="en-US" dirty="0"/>
              <a:t>, from Group 3, student ID: 240791.</a:t>
            </a:r>
          </a:p>
          <a:p>
            <a:pPr marL="27940" lvl="0" indent="0" algn="l" rtl="0">
              <a:spcBef>
                <a:spcPts val="0"/>
              </a:spcBef>
              <a:spcAft>
                <a:spcPts val="0"/>
              </a:spcAft>
              <a:buSzPts val="1000"/>
              <a:buNone/>
            </a:pPr>
            <a:r>
              <a:rPr lang="en-US" dirty="0"/>
              <a:t>Ali demonstrated a solid start in Week 1 by setting clear and ambitious goals, including improving Python skills, exploring Machine Learning, and understanding PostgreSQL. His proactive approach to learning through Persian resources and YouTube tutorials shows his commitment and resourcefulness. Ali effectively explored essential Python libraries like pandas and </a:t>
            </a:r>
            <a:r>
              <a:rPr lang="en-US" dirty="0" err="1"/>
              <a:t>numpy</a:t>
            </a:r>
            <a:r>
              <a:rPr lang="en-US" dirty="0"/>
              <a:t>, gaining a good understanding of data processing, and learned to import data into </a:t>
            </a:r>
            <a:r>
              <a:rPr lang="en-US" dirty="0" err="1"/>
              <a:t>DBeaver</a:t>
            </a:r>
            <a:r>
              <a:rPr lang="en-US" dirty="0"/>
              <a:t>, demonstrating practical application of his </a:t>
            </a:r>
            <a:r>
              <a:rPr lang="en-US" dirty="0" err="1"/>
              <a:t>skills.However</a:t>
            </a:r>
            <a:r>
              <a:rPr lang="en-US" dirty="0"/>
              <a:t>, time constraints limited his progress with PostgreSQL. To improve, Ali could allocate specific time blocks for focused practice and start small, manageable projects, such as building a basic database or experimenting with simple Machine Learning models, to apply his learning. His thoughtful reflection highlights a good awareness of his strengths and areas for improvement, providing a strong foundation for continued growth. By balancing theory with hands-on practice, Ali is well-positioned to make significant progress in the coming weeks.</a:t>
            </a:r>
            <a:endParaRPr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 name="TextBox 1">
            <a:extLst>
              <a:ext uri="{FF2B5EF4-FFF2-40B4-BE49-F238E27FC236}">
                <a16:creationId xmlns:a16="http://schemas.microsoft.com/office/drawing/2014/main" id="{7D431F1F-F634-7FA5-06F3-E9A2BA1F45DE}"/>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875" y="1152697"/>
            <a:ext cx="8774958"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165100" indent="0">
              <a:buNone/>
            </a:pPr>
            <a:r>
              <a:rPr lang="en-US" sz="900" dirty="0"/>
              <a:t>This week, I initially planned to finish a Persian course on Machine Learning, but after discussing with Arash during our appointment, he suggested focusing on English courses instead. Following his advice, I decided to stop watching the Persian course and plan to start an English course on Machine Learning on Coursera as soon as possible. This shift will help me improve both my technical understanding and English skills, making the learning experience more effective.</a:t>
            </a:r>
          </a:p>
          <a:p>
            <a:pPr marL="165100" indent="0">
              <a:buNone/>
            </a:pPr>
            <a:r>
              <a:rPr lang="en-US" sz="900" dirty="0"/>
              <a:t>Another goal for the week was to practice math, specifically focusing on vectors and matrices. However, due to a busy weekday schedule, I couldn’t find time to work on it. I plan to dedicate time over the weekend to catch up and ensure I stay on track with my to-do list for the second week.</a:t>
            </a:r>
          </a:p>
          <a:p>
            <a:pPr marL="165100" indent="0">
              <a:buNone/>
            </a:pPr>
            <a:r>
              <a:rPr lang="en-US" sz="900" dirty="0"/>
              <a:t>I also set a goal to practice programming daily, focusing on coding challenges on </a:t>
            </a:r>
            <a:r>
              <a:rPr lang="en-US" sz="900" dirty="0" err="1"/>
              <a:t>CodingBat</a:t>
            </a:r>
            <a:r>
              <a:rPr lang="en-US" sz="900" dirty="0"/>
              <a:t>. I am happy to say that I was successful in consistently practicing and improving my coding skills this week. Moving forward, I aim to maintain this momentum while also addressing the areas where I fell short.</a:t>
            </a:r>
          </a:p>
          <a:p>
            <a:pPr marL="165100" indent="0">
              <a:buNone/>
            </a:pPr>
            <a:endParaRPr lang="en-US" sz="800" dirty="0"/>
          </a:p>
          <a:p>
            <a:pPr marL="182880" lvl="0" indent="-154940" algn="l" rtl="0">
              <a:spcBef>
                <a:spcPts val="0"/>
              </a:spcBef>
              <a:spcAft>
                <a:spcPts val="0"/>
              </a:spcAft>
              <a:buSzPts val="1000"/>
              <a:buChar char="●"/>
            </a:pPr>
            <a:r>
              <a:rPr lang="en" dirty="0"/>
              <a:t>What have you actually been able to do? </a:t>
            </a:r>
          </a:p>
          <a:p>
            <a:pPr marL="182880" lvl="0" indent="-154940" algn="l" rtl="0">
              <a:spcBef>
                <a:spcPts val="0"/>
              </a:spcBef>
              <a:spcAft>
                <a:spcPts val="0"/>
              </a:spcAft>
              <a:buSzPts val="1000"/>
              <a:buChar char="●"/>
            </a:pPr>
            <a:endParaRPr lang="en" dirty="0"/>
          </a:p>
          <a:p>
            <a:pPr marL="165100" indent="0">
              <a:buNone/>
            </a:pPr>
            <a:r>
              <a:rPr lang="en-US" sz="900" dirty="0"/>
              <a:t>This week, I successfully completed the math quiz on vectors and, fortunately, achieved a 100% score, which boosted my confidence in this area. For Machine Learning, I also managed to complete the quiz for Chapter 2. However, to be honest, I initially struggled to fully understand the content of Chapter 2.</a:t>
            </a:r>
          </a:p>
          <a:p>
            <a:pPr marL="165100" indent="0">
              <a:buNone/>
            </a:pPr>
            <a:r>
              <a:rPr lang="en-US" sz="900" dirty="0"/>
              <a:t>To address this, I have planned to revisit and review the material over the weekend to ensure I gain a clearer understanding. This will help me feel more confident moving forward and strengthen my foundation in Machine Learning.</a:t>
            </a:r>
          </a:p>
          <a:p>
            <a:pPr marL="165100" indent="0">
              <a:buNone/>
            </a:pPr>
            <a:endParaRPr lang="en-US" sz="900"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err="1">
                <a:highlight>
                  <a:srgbClr val="FFFF00"/>
                </a:highlight>
                <a:hlinkClick r:id="rId3"/>
              </a:rPr>
              <a:t>Codingbat</a:t>
            </a:r>
            <a:endParaRPr lang="en-US" dirty="0">
              <a:highlight>
                <a:srgbClr val="FFFF00"/>
              </a:highlight>
            </a:endParaRPr>
          </a:p>
          <a:p>
            <a:pPr marL="27940" lvl="0" indent="0" algn="l" rtl="0">
              <a:spcBef>
                <a:spcPts val="0"/>
              </a:spcBef>
              <a:spcAft>
                <a:spcPts val="0"/>
              </a:spcAft>
              <a:buSzPts val="1000"/>
              <a:buNone/>
            </a:pPr>
            <a:endParaRPr lang="en-US" dirty="0">
              <a:highlight>
                <a:srgbClr val="FFFF00"/>
              </a:highlight>
            </a:endParaRPr>
          </a:p>
          <a:p>
            <a:pPr marL="165100" indent="0">
              <a:buNone/>
            </a:pPr>
            <a:r>
              <a:rPr lang="en-US" dirty="0"/>
              <a:t>I created evidence of my progress on </a:t>
            </a:r>
            <a:r>
              <a:rPr lang="en-US" dirty="0" err="1"/>
              <a:t>CodingBat</a:t>
            </a:r>
            <a:r>
              <a:rPr lang="en-US" dirty="0"/>
              <a:t> to demonstrate that I am following the SMART goals I set on the first day. Last week, my focus was on Machine Learning, and now it has shifted to Python coding practice. By consistently working on coding challenges and improving my skills, I am staying aligned with the goals I outlined in the first slide.</a:t>
            </a:r>
          </a:p>
          <a:p>
            <a:pPr marL="165100" indent="0">
              <a:buNone/>
            </a:pPr>
            <a:r>
              <a:rPr lang="en-US" dirty="0"/>
              <a:t>I will continue practicing diligently to achieve these SMART goals, ensuring steady progress and building a solid foundation in Python and other key areas.</a:t>
            </a:r>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A5BBF98-0E75-D06B-5166-AE56E19732C3}"/>
              </a:ext>
            </a:extLst>
          </p:cNvPr>
          <p:cNvSpPr>
            <a:spLocks noGrp="1"/>
          </p:cNvSpPr>
          <p:nvPr>
            <p:ph type="subTitle" idx="1"/>
          </p:nvPr>
        </p:nvSpPr>
        <p:spPr/>
        <p:txBody>
          <a:bodyPr/>
          <a:lstStyle/>
          <a:p>
            <a:r>
              <a:rPr lang="en-US" dirty="0"/>
              <a:t> </a:t>
            </a:r>
          </a:p>
        </p:txBody>
      </p:sp>
      <p:sp>
        <p:nvSpPr>
          <p:cNvPr id="3" name="Text Placeholder 2">
            <a:extLst>
              <a:ext uri="{FF2B5EF4-FFF2-40B4-BE49-F238E27FC236}">
                <a16:creationId xmlns:a16="http://schemas.microsoft.com/office/drawing/2014/main" id="{85CF28C5-4BE6-0247-AF2A-78268652207E}"/>
              </a:ext>
            </a:extLst>
          </p:cNvPr>
          <p:cNvSpPr>
            <a:spLocks noGrp="1"/>
          </p:cNvSpPr>
          <p:nvPr>
            <p:ph type="body" idx="2"/>
          </p:nvPr>
        </p:nvSpPr>
        <p:spPr>
          <a:xfrm>
            <a:off x="118946" y="683941"/>
            <a:ext cx="8933553" cy="4281311"/>
          </a:xfrm>
        </p:spPr>
        <p:txBody>
          <a:bodyPr/>
          <a:lstStyle/>
          <a:p>
            <a:r>
              <a:rPr lang="en-US" dirty="0"/>
              <a:t>Reflection</a:t>
            </a:r>
          </a:p>
          <a:p>
            <a:pPr marL="165100" indent="0">
              <a:buNone/>
            </a:pPr>
            <a:endParaRPr lang="en-US" dirty="0"/>
          </a:p>
          <a:p>
            <a:pPr marL="182880" lvl="0" indent="-154940" algn="l" rtl="0">
              <a:spcBef>
                <a:spcPts val="0"/>
              </a:spcBef>
              <a:spcAft>
                <a:spcPts val="0"/>
              </a:spcAft>
              <a:buSzPts val="1000"/>
              <a:buChar char="●"/>
            </a:pPr>
            <a:r>
              <a:rPr lang="en-US" dirty="0"/>
              <a:t>How did the week go? </a:t>
            </a:r>
          </a:p>
          <a:p>
            <a:pPr marL="165100" indent="0">
              <a:buNone/>
            </a:pPr>
            <a:r>
              <a:rPr lang="en-US" sz="900" dirty="0"/>
              <a:t>The second week was a challenging one for me. It felt confusing because we had to work on two projects involving concepts we hadn’t yet fully learned. On Thursday, in the </a:t>
            </a:r>
            <a:r>
              <a:rPr lang="en-US" sz="900" dirty="0" err="1"/>
              <a:t>DataCamp</a:t>
            </a:r>
            <a:r>
              <a:rPr lang="en-US" sz="900" dirty="0"/>
              <a:t> course, we were introduced to using VS Code and Python for importing and cleaning data, which was helpful but still left me feeling like there’s so much more to grasp.</a:t>
            </a:r>
          </a:p>
          <a:p>
            <a:pPr marL="165100" indent="0">
              <a:buNone/>
            </a:pPr>
            <a:r>
              <a:rPr lang="en-US" sz="900" dirty="0"/>
              <a:t>Regarding the book </a:t>
            </a:r>
            <a:r>
              <a:rPr lang="en-US" sz="900" i="1" dirty="0"/>
              <a:t>Hands-On Machine Learning</a:t>
            </a:r>
            <a:r>
              <a:rPr lang="en-US" sz="900" dirty="0"/>
              <a:t>, Chapter 2 was particularly difficult for me. It contained a lot of content, and I struggled to understand it fully, which made it more time-consuming to go through. I plan to revisit it to gain a better understanding.</a:t>
            </a:r>
          </a:p>
          <a:p>
            <a:pPr marL="165100" indent="0">
              <a:buNone/>
            </a:pPr>
            <a:r>
              <a:rPr lang="en-US" sz="900" dirty="0"/>
              <a:t>Adding to the difficulty of the week, I received devastating news about one of my friends who tragically took his own life. It has been incredibly hard for me to process and accept this loss, and it has deeply affected me. Despite the challenges, I am trying to stay focused and continue moving forward, but it hasn’t been easy.</a:t>
            </a:r>
          </a:p>
          <a:p>
            <a:pPr marL="182880" lvl="0" indent="-154940" algn="l" rtl="0">
              <a:spcBef>
                <a:spcPts val="0"/>
              </a:spcBef>
              <a:spcAft>
                <a:spcPts val="0"/>
              </a:spcAft>
              <a:buSzPts val="1000"/>
              <a:buChar char="●"/>
            </a:pPr>
            <a:r>
              <a:rPr lang="en-US" dirty="0"/>
              <a:t>What went well? </a:t>
            </a:r>
          </a:p>
          <a:p>
            <a:pPr marL="27940" lvl="0" indent="0" algn="l" rtl="0">
              <a:spcBef>
                <a:spcPts val="0"/>
              </a:spcBef>
              <a:spcAft>
                <a:spcPts val="0"/>
              </a:spcAft>
              <a:buSzPts val="1000"/>
              <a:buNone/>
            </a:pPr>
            <a:r>
              <a:rPr lang="en-US" sz="900" dirty="0"/>
              <a:t>Fortunately, I have been working on my Python skills daily, and I am feeling more confident about my progress. I hope to achieve a good grade in the retake exams, but I know I still need to dedicate more time to practice and deepen my understanding. In addition to improving my general Python skills, I plan to focus more on the content covered in the </a:t>
            </a:r>
            <a:r>
              <a:rPr lang="en-US" sz="900" dirty="0" err="1"/>
              <a:t>DataCamp</a:t>
            </a:r>
            <a:r>
              <a:rPr lang="en-US" sz="900" dirty="0"/>
              <a:t> course. Practicing these concepts regularly will help solidify my knowledge and prepare me for both the exams and real-world applications. With consistent effort, I am determined to meet my goals.</a:t>
            </a:r>
          </a:p>
          <a:p>
            <a:pPr marL="27940" lvl="0" indent="0" algn="l" rtl="0">
              <a:spcBef>
                <a:spcPts val="0"/>
              </a:spcBef>
              <a:spcAft>
                <a:spcPts val="0"/>
              </a:spcAft>
              <a:buSzPts val="1000"/>
              <a:buNone/>
            </a:pPr>
            <a:r>
              <a:rPr lang="en-US" dirty="0"/>
              <a:t>What didn’t go so well? </a:t>
            </a:r>
          </a:p>
          <a:p>
            <a:pPr marL="27940" lvl="0" indent="0" algn="l" rtl="0">
              <a:spcBef>
                <a:spcPts val="0"/>
              </a:spcBef>
              <a:spcAft>
                <a:spcPts val="0"/>
              </a:spcAft>
              <a:buSzPts val="1000"/>
              <a:buNone/>
            </a:pPr>
            <a:r>
              <a:rPr lang="en-US" sz="900" dirty="0"/>
              <a:t>As I mentioned earlier, the second chapter of Hands-On Machine Learning wasn’t easy for me. It had a lot of complex content that I struggled to fully grasp. To improve my understanding, I plan to dedicate time over the weekend to thoroughly review and work through </a:t>
            </a:r>
            <a:r>
              <a:rPr lang="en-US" sz="900" dirty="0" err="1"/>
              <a:t>it.By</a:t>
            </a:r>
            <a:r>
              <a:rPr lang="en-US" sz="900" dirty="0"/>
              <a:t> focusing on Chapter 2 this weekend, I aim to build a stronger foundation so that I feel more prepared and confident to tackle Chapter 3 in the coming week. This approach will help me stay on track and continue progressing in my learning journey.</a:t>
            </a:r>
          </a:p>
          <a:p>
            <a:pPr marL="27940" lvl="0" indent="0" algn="l" rtl="0">
              <a:spcBef>
                <a:spcPts val="0"/>
              </a:spcBef>
              <a:spcAft>
                <a:spcPts val="0"/>
              </a:spcAft>
              <a:buSzPts val="1000"/>
              <a:buNone/>
            </a:pPr>
            <a:r>
              <a:rPr lang="en-US" dirty="0"/>
              <a:t>What did you learn? </a:t>
            </a:r>
          </a:p>
          <a:p>
            <a:pPr marL="27940" lvl="0" indent="0" algn="l" rtl="0">
              <a:spcBef>
                <a:spcPts val="0"/>
              </a:spcBef>
              <a:spcAft>
                <a:spcPts val="0"/>
              </a:spcAft>
              <a:buSzPts val="1000"/>
              <a:buNone/>
            </a:pPr>
            <a:r>
              <a:rPr lang="en-US" sz="900" dirty="0"/>
              <a:t>Fortunately, after completing the two projects and attending the </a:t>
            </a:r>
            <a:r>
              <a:rPr lang="en-US" sz="900" dirty="0" err="1"/>
              <a:t>DataCamp</a:t>
            </a:r>
            <a:r>
              <a:rPr lang="en-US" sz="900" dirty="0"/>
              <a:t> course, I have learned how to use Python and VS Code effectively to clean data. This has been a valuable skill to acquire, and it has boosted my confidence in handling data more </a:t>
            </a:r>
            <a:r>
              <a:rPr lang="en-US" sz="900" dirty="0" err="1"/>
              <a:t>efficiently.With</a:t>
            </a:r>
            <a:r>
              <a:rPr lang="en-US" sz="900" dirty="0"/>
              <a:t> these new skills, I feel more equipped to apply them in future projects and continue improving my understanding of data cleaning and preprocessing.</a:t>
            </a:r>
          </a:p>
          <a:p>
            <a:pPr marL="27940" lvl="0" indent="0" algn="l" rtl="0">
              <a:spcBef>
                <a:spcPts val="0"/>
              </a:spcBef>
              <a:spcAft>
                <a:spcPts val="0"/>
              </a:spcAft>
              <a:buSzPts val="1000"/>
              <a:buNone/>
            </a:pPr>
            <a:r>
              <a:rPr lang="en-US" dirty="0"/>
              <a:t>What could be added as an Action point looking forward to next week?</a:t>
            </a:r>
          </a:p>
          <a:p>
            <a:pPr marL="27940" lvl="0" indent="0" algn="l" rtl="0">
              <a:spcBef>
                <a:spcPts val="0"/>
              </a:spcBef>
              <a:spcAft>
                <a:spcPts val="0"/>
              </a:spcAft>
              <a:buSzPts val="1000"/>
              <a:buNone/>
            </a:pPr>
            <a:r>
              <a:rPr lang="en-US" sz="900" dirty="0"/>
              <a:t>For the next week, I hope to improve my focus during study sessions by minimizing distractions, especially avoiding using my phone. By staying more disciplined, I aim to manage my time better and dedicate more of it to practicing math </a:t>
            </a:r>
            <a:r>
              <a:rPr lang="en-US" sz="900" dirty="0" err="1"/>
              <a:t>regularly.I</a:t>
            </a:r>
            <a:r>
              <a:rPr lang="en-US" sz="900" dirty="0"/>
              <a:t> also plan to read the Hands-On Machine Learning book daily, splitting each chapter into manageable sections to complete over two to three weeks. This approach will help me stay consistent and ensure I thoroughly understand the material. With better focus and a structured plan, I hope to make steady progress toward my goals.</a:t>
            </a:r>
          </a:p>
          <a:p>
            <a:pPr marL="165100" indent="0">
              <a:buNone/>
            </a:pPr>
            <a:endParaRPr lang="en-US" dirty="0"/>
          </a:p>
        </p:txBody>
      </p:sp>
      <p:sp>
        <p:nvSpPr>
          <p:cNvPr id="7" name="Title 6">
            <a:extLst>
              <a:ext uri="{FF2B5EF4-FFF2-40B4-BE49-F238E27FC236}">
                <a16:creationId xmlns:a16="http://schemas.microsoft.com/office/drawing/2014/main" id="{D4FD671F-8A82-3CA4-83B0-EAA6605446B3}"/>
              </a:ext>
            </a:extLst>
          </p:cNvPr>
          <p:cNvSpPr>
            <a:spLocks noGrp="1"/>
          </p:cNvSpPr>
          <p:nvPr>
            <p:ph type="title" idx="5"/>
          </p:nvPr>
        </p:nvSpPr>
        <p:spPr>
          <a:xfrm>
            <a:off x="1754125" y="1457092"/>
            <a:ext cx="2446168" cy="572700"/>
          </a:xfrm>
        </p:spPr>
        <p:txBody>
          <a:bodyPr/>
          <a:lstStyle/>
          <a:p>
            <a:r>
              <a:rPr lang="en-US" dirty="0"/>
              <a:t> </a:t>
            </a:r>
          </a:p>
        </p:txBody>
      </p:sp>
      <p:sp>
        <p:nvSpPr>
          <p:cNvPr id="8" name="Title 7">
            <a:extLst>
              <a:ext uri="{FF2B5EF4-FFF2-40B4-BE49-F238E27FC236}">
                <a16:creationId xmlns:a16="http://schemas.microsoft.com/office/drawing/2014/main" id="{678A4FCE-C117-CFF2-37A3-294D1D07F434}"/>
              </a:ext>
            </a:extLst>
          </p:cNvPr>
          <p:cNvSpPr>
            <a:spLocks noGrp="1"/>
          </p:cNvSpPr>
          <p:nvPr>
            <p:ph type="title" idx="6"/>
          </p:nvPr>
        </p:nvSpPr>
        <p:spPr/>
        <p:txBody>
          <a:bodyPr/>
          <a:lstStyle/>
          <a:p>
            <a:r>
              <a:rPr lang="en-US" dirty="0"/>
              <a:t> </a:t>
            </a:r>
          </a:p>
        </p:txBody>
      </p:sp>
    </p:spTree>
    <p:extLst>
      <p:ext uri="{BB962C8B-B14F-4D97-AF65-F5344CB8AC3E}">
        <p14:creationId xmlns:p14="http://schemas.microsoft.com/office/powerpoint/2010/main" val="4147779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16" name="Google Shape;216;p25"/>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165100" indent="0">
              <a:buNone/>
            </a:pPr>
            <a:r>
              <a:rPr lang="en-US" dirty="0"/>
              <a:t>In week two, I received feedback from my mentor, which provided valuable insights for improvement:</a:t>
            </a:r>
          </a:p>
          <a:p>
            <a:pPr>
              <a:buFont typeface="Arial" panose="020B0604020202020204" pitchFamily="34" charset="0"/>
              <a:buChar char="•"/>
            </a:pPr>
            <a:r>
              <a:rPr lang="en-US" b="1" dirty="0"/>
              <a:t>Work Log</a:t>
            </a:r>
            <a:r>
              <a:rPr lang="en-US" dirty="0"/>
              <a:t>: She mentioned that I should write more detailed descriptions of my tasks. Additionally, if there is a difference between the estimated hours and the actual hours spent on a task, I need to explain why this happened in the reflection section.</a:t>
            </a:r>
          </a:p>
          <a:p>
            <a:pPr>
              <a:buFont typeface="Arial" panose="020B0604020202020204" pitchFamily="34" charset="0"/>
              <a:buChar char="•"/>
            </a:pPr>
            <a:r>
              <a:rPr lang="en-US" b="1" dirty="0"/>
              <a:t>Learning Log</a:t>
            </a:r>
            <a:r>
              <a:rPr lang="en-US" dirty="0"/>
              <a:t>: Regarding the SMART goals, she suggested that I be more specific about the content I need to focus on. For example, if I am working on Python, I should clearly identify which areas or topics I need to improve on and estimate how long it will take.</a:t>
            </a:r>
          </a:p>
          <a:p>
            <a:pPr>
              <a:buFont typeface="Arial" panose="020B0604020202020204" pitchFamily="34" charset="0"/>
              <a:buChar char="•"/>
            </a:pPr>
            <a:r>
              <a:rPr lang="en-US" b="1" dirty="0"/>
              <a:t>Reflection and Process</a:t>
            </a:r>
            <a:r>
              <a:rPr lang="en-US" dirty="0"/>
              <a:t>: She pointed out that I need to write more in-depth reflections, explaining what I have done in detail and how I progressed during the week.</a:t>
            </a:r>
          </a:p>
          <a:p>
            <a:pPr>
              <a:buFont typeface="Arial" panose="020B0604020202020204" pitchFamily="34" charset="0"/>
              <a:buChar char="•"/>
            </a:pPr>
            <a:r>
              <a:rPr lang="en-US" b="1" dirty="0"/>
              <a:t>Evidencing</a:t>
            </a:r>
            <a:r>
              <a:rPr lang="en-US" dirty="0"/>
              <a:t>: She emphasized that the evidence I provide should be directly related to the SMART goals I set at the beginning of Block B to demonstrate alignment with my objectives.</a:t>
            </a:r>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3" name="TextBox 2">
            <a:extLst>
              <a:ext uri="{FF2B5EF4-FFF2-40B4-BE49-F238E27FC236}">
                <a16:creationId xmlns:a16="http://schemas.microsoft.com/office/drawing/2014/main" id="{7D5AE459-3211-19C1-863E-F7D4FCF34B4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4" name="TextBox 3">
            <a:extLst>
              <a:ext uri="{FF2B5EF4-FFF2-40B4-BE49-F238E27FC236}">
                <a16:creationId xmlns:a16="http://schemas.microsoft.com/office/drawing/2014/main" id="{E01BC073-D974-E981-5500-136B3DB8B883}"/>
              </a:ext>
            </a:extLst>
          </p:cNvPr>
          <p:cNvSpPr txBox="1"/>
          <p:nvPr/>
        </p:nvSpPr>
        <p:spPr>
          <a:xfrm>
            <a:off x="5122128" y="1152697"/>
            <a:ext cx="3709638" cy="2031325"/>
          </a:xfrm>
          <a:prstGeom prst="rect">
            <a:avLst/>
          </a:prstGeom>
          <a:noFill/>
        </p:spPr>
        <p:txBody>
          <a:bodyPr wrap="square" rtlCol="0">
            <a:spAutoFit/>
          </a:bodyPr>
          <a:lstStyle/>
          <a:p>
            <a:r>
              <a:rPr lang="en-US" dirty="0">
                <a:solidFill>
                  <a:schemeClr val="bg1"/>
                </a:solidFill>
              </a:rPr>
              <a:t>Response:</a:t>
            </a:r>
            <a:br>
              <a:rPr lang="en-US" dirty="0">
                <a:solidFill>
                  <a:schemeClr val="bg1"/>
                </a:solidFill>
              </a:rPr>
            </a:br>
            <a:r>
              <a:rPr lang="en-US" dirty="0">
                <a:solidFill>
                  <a:schemeClr val="bg1"/>
                </a:solidFill>
              </a:rPr>
              <a:t>This feedback has helped me better understand how to improve my logs and reflections, ensuring they are more meaningful and aligned with my goals. Moving forward, I will focus on implementing these suggestions to enhance my documentation and progress tracking.</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endParaRPr lang="en" dirty="0"/>
          </a:p>
          <a:p>
            <a:pPr marL="27940" indent="0">
              <a:buNone/>
            </a:pPr>
            <a:r>
              <a:rPr lang="en-US" dirty="0"/>
              <a:t>This week, in line with the SMART goals I set for myself, my focus is on practicing coding exercises on </a:t>
            </a:r>
            <a:r>
              <a:rPr lang="en-US" dirty="0" err="1"/>
              <a:t>CodingBat</a:t>
            </a:r>
            <a:r>
              <a:rPr lang="en-US" dirty="0"/>
              <a:t> to prepare for the upcoming quiz retake. Additionally, I aim to delve deeper into machine learning by watching more courses on the subject and applying the concepts through hands-on coding practice. My goal is to enhance my ability to work with data, improve data preparation techniques, and develop better models effectively.</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have you actually been able to do?</a:t>
            </a:r>
            <a:br>
              <a:rPr lang="en" dirty="0"/>
            </a:br>
            <a:r>
              <a:rPr lang="en-US" dirty="0"/>
              <a:t>This week, I felt that I wasn’t in the right mindset to study. I’m not sure if it was due to being tired or something else, but overall, I wasn’t satisfied with my progress. However, I did manage to do some coding practice and watched a Coursera course to deepen my understanding of the material.</a:t>
            </a:r>
            <a:endParaRPr lang="en" dirty="0"/>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t>This is the link to the Coursera course I’ve been working on, which demonstrates my progress in this area. The course also includes numerous quizzes to help me improve my coding skills and prepare for in this field</a:t>
            </a:r>
            <a:r>
              <a:rPr lang="en-US" dirty="0">
                <a:highlight>
                  <a:srgbClr val="FFFF00"/>
                </a:highlight>
              </a:rPr>
              <a:t>.  </a:t>
            </a:r>
            <a:r>
              <a:rPr lang="en-US" dirty="0">
                <a:highlight>
                  <a:srgbClr val="FFFF00"/>
                </a:highlight>
                <a:hlinkClick r:id="rId3"/>
              </a:rPr>
              <a:t>Smart Goals on Machine learning</a:t>
            </a:r>
            <a:r>
              <a:rPr lang="en-US" dirty="0">
                <a:highlight>
                  <a:srgbClr val="FFFF00"/>
                </a:highlight>
              </a:rPr>
              <a:t>.</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As I mentioned, this week didn’t go as well as I had hoped. I wasn’t in the right mindset to study, and I struggled to focus on my tasks. As a result, I couldn’t prepare myself as much as I had expected or set out to achieve.</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US" dirty="0"/>
              <a:t>I think the machine learning part went well this week, and I was able to continue studying in a productive way. However, the coding aspect didn’t go as smoothly. Working with </a:t>
            </a:r>
            <a:r>
              <a:rPr lang="en-US" dirty="0" err="1"/>
              <a:t>Jupyter</a:t>
            </a:r>
            <a:r>
              <a:rPr lang="en-US" dirty="0"/>
              <a:t> Notebook has been quite challenging for me, and I want to focus on coding everything completely on my own, without relying on any AI assistance.</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US" dirty="0"/>
              <a:t>The coding aspect of machine learning, along with the math matrices part, didn’t go well for me this week. I struggled to understand these concepts fully. I hope to address my difficulties with math matrices and improve my coding skills in Week 4.</a:t>
            </a:r>
            <a:endParaRPr dirty="0"/>
          </a:p>
          <a:p>
            <a:pPr marL="182880" lvl="0" indent="-154940" algn="l" rtl="0">
              <a:spcBef>
                <a:spcPts val="0"/>
              </a:spcBef>
              <a:spcAft>
                <a:spcPts val="0"/>
              </a:spcAft>
              <a:buSzPts val="1000"/>
              <a:buChar char="●"/>
            </a:pPr>
            <a:r>
              <a:rPr lang="en" dirty="0"/>
              <a:t>What did you learn? </a:t>
            </a:r>
          </a:p>
          <a:p>
            <a:pPr marL="27940" indent="0">
              <a:buNone/>
            </a:pPr>
            <a:r>
              <a:rPr lang="en-US" dirty="0"/>
              <a:t>To be honest, the lecture we had at the end of the week on Friday was incredibly helpful for me. I realized that I already knew the concepts, but I was struggling to apply them to solve problems or work independently on </a:t>
            </a:r>
            <a:r>
              <a:rPr lang="en-US" dirty="0" err="1"/>
              <a:t>Jupyter</a:t>
            </a:r>
            <a:r>
              <a:rPr lang="en-US" dirty="0"/>
              <a:t> Notebook.</a:t>
            </a:r>
          </a:p>
          <a:p>
            <a:pPr marL="27940" lvl="0" indent="0" algn="l" rtl="0">
              <a:spcBef>
                <a:spcPts val="0"/>
              </a:spcBef>
              <a:spcAft>
                <a:spcPts val="0"/>
              </a:spcAft>
              <a:buSzPts val="1000"/>
              <a:buNone/>
            </a:pP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4BC00F0-EA8F-9CEB-FF88-973D60743AB6}"/>
              </a:ext>
            </a:extLst>
          </p:cNvPr>
          <p:cNvSpPr>
            <a:spLocks noGrp="1"/>
          </p:cNvSpPr>
          <p:nvPr>
            <p:ph type="subTitle" idx="1"/>
          </p:nvPr>
        </p:nvSpPr>
        <p:spPr/>
        <p:txBody>
          <a:bodyPr/>
          <a:lstStyle/>
          <a:p>
            <a:r>
              <a:rPr lang="en-US" dirty="0"/>
              <a:t>What could be added as an Action point looking forward to next week?</a:t>
            </a:r>
          </a:p>
          <a:p>
            <a:endParaRPr lang="en-US" dirty="0"/>
          </a:p>
        </p:txBody>
      </p:sp>
      <p:sp>
        <p:nvSpPr>
          <p:cNvPr id="3" name="Text Placeholder 2">
            <a:extLst>
              <a:ext uri="{FF2B5EF4-FFF2-40B4-BE49-F238E27FC236}">
                <a16:creationId xmlns:a16="http://schemas.microsoft.com/office/drawing/2014/main" id="{B5FFAC60-804D-8045-2732-F45A67FFD0D2}"/>
              </a:ext>
            </a:extLst>
          </p:cNvPr>
          <p:cNvSpPr>
            <a:spLocks noGrp="1"/>
          </p:cNvSpPr>
          <p:nvPr>
            <p:ph type="body" idx="2"/>
          </p:nvPr>
        </p:nvSpPr>
        <p:spPr>
          <a:xfrm>
            <a:off x="182875" y="1529255"/>
            <a:ext cx="4294500" cy="3435842"/>
          </a:xfrm>
        </p:spPr>
        <p:txBody>
          <a:bodyPr/>
          <a:lstStyle/>
          <a:p>
            <a:pPr marL="165100" indent="0">
              <a:buNone/>
            </a:pPr>
            <a:r>
              <a:rPr lang="en-US" dirty="0"/>
              <a:t>For the next week, I hope to be in a better mindset to study more effectively and stay focused on both my studies and my ideas. I have a solid plan in place, and I’m confident that I can execute it successfully.</a:t>
            </a:r>
          </a:p>
        </p:txBody>
      </p:sp>
    </p:spTree>
    <p:extLst>
      <p:ext uri="{BB962C8B-B14F-4D97-AF65-F5344CB8AC3E}">
        <p14:creationId xmlns:p14="http://schemas.microsoft.com/office/powerpoint/2010/main" val="863386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4" name="TextBox 3">
            <a:extLst>
              <a:ext uri="{FF2B5EF4-FFF2-40B4-BE49-F238E27FC236}">
                <a16:creationId xmlns:a16="http://schemas.microsoft.com/office/drawing/2014/main" id="{B57E298E-ACB0-12CF-E259-08EB25F8A491}"/>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4" name="TextBox 3">
            <a:extLst>
              <a:ext uri="{FF2B5EF4-FFF2-40B4-BE49-F238E27FC236}">
                <a16:creationId xmlns:a16="http://schemas.microsoft.com/office/drawing/2014/main" id="{341C5D24-F975-BDE2-7D7B-0ECA5573EF8A}"/>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3366952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4" name="TextBox 3">
            <a:extLst>
              <a:ext uri="{FF2B5EF4-FFF2-40B4-BE49-F238E27FC236}">
                <a16:creationId xmlns:a16="http://schemas.microsoft.com/office/drawing/2014/main" id="{99718CE5-D4B9-5703-2F5D-70C535C4D7E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1600689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4" name="TextBox 3">
            <a:extLst>
              <a:ext uri="{FF2B5EF4-FFF2-40B4-BE49-F238E27FC236}">
                <a16:creationId xmlns:a16="http://schemas.microsoft.com/office/drawing/2014/main" id="{4AB08CE0-9533-DFE2-D89E-D9E289BD7CD8}"/>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2397875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4" name="TextBox 3">
            <a:extLst>
              <a:ext uri="{FF2B5EF4-FFF2-40B4-BE49-F238E27FC236}">
                <a16:creationId xmlns:a16="http://schemas.microsoft.com/office/drawing/2014/main" id="{8058A61B-E4F8-64BA-11B4-82E7C0FE3D5C}"/>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6282947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202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4" name="TextBox 3">
            <a:extLst>
              <a:ext uri="{FF2B5EF4-FFF2-40B4-BE49-F238E27FC236}">
                <a16:creationId xmlns:a16="http://schemas.microsoft.com/office/drawing/2014/main" id="{E4C397CE-AA8E-75FA-B537-08E4745DD9B7}"/>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3657977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C</a:t>
            </a:r>
            <a:endParaRPr sz="600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C</a:t>
            </a:r>
            <a:endParaRPr sz="40000">
              <a:solidFill>
                <a:srgbClr val="999999"/>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0.2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Foundational skills</a:t>
            </a:r>
            <a:endParaRP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a:t>The student masters the foundational skills and knowledge that form the basis of Data Science and Artificial Intelligence.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0</a:t>
            </a:r>
            <a:endParaRPr sz="40000">
              <a:solidFill>
                <a:srgbClr val="999999"/>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0</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indent="0"/>
            <a:r>
              <a:rPr lang="en-US" sz="1050"/>
              <a:t>The student masters the foundational skills and knowledge that form the basis of Data Science and Artificial Intelligence.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0.2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demonstrate an advanced understanding of python programming concepts and basics of SQL.</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Foundational skills</a:t>
            </a:r>
            <a:endParaRPr sz="900"/>
          </a:p>
        </p:txBody>
      </p:sp>
      <p:graphicFrame>
        <p:nvGraphicFramePr>
          <p:cNvPr id="4" name="Table 3">
            <a:extLst>
              <a:ext uri="{FF2B5EF4-FFF2-40B4-BE49-F238E27FC236}">
                <a16:creationId xmlns:a16="http://schemas.microsoft.com/office/drawing/2014/main" id="{88237E1D-86A5-F036-5877-8DE06B55CF72}"/>
              </a:ext>
            </a:extLst>
          </p:cNvPr>
          <p:cNvGraphicFramePr>
            <a:graphicFrameLocks noGrp="1"/>
          </p:cNvGraphicFramePr>
          <p:nvPr>
            <p:extLst>
              <p:ext uri="{D42A27DB-BD31-4B8C-83A1-F6EECF244321}">
                <p14:modId xmlns:p14="http://schemas.microsoft.com/office/powerpoint/2010/main" val="4185191198"/>
              </p:ext>
            </p:extLst>
          </p:nvPr>
        </p:nvGraphicFramePr>
        <p:xfrm>
          <a:off x="0" y="1069800"/>
          <a:ext cx="9139639" cy="4872981"/>
        </p:xfrm>
        <a:graphic>
          <a:graphicData uri="http://schemas.openxmlformats.org/drawingml/2006/table">
            <a:tbl>
              <a:tblPr/>
              <a:tblGrid>
                <a:gridCol w="1827039">
                  <a:extLst>
                    <a:ext uri="{9D8B030D-6E8A-4147-A177-3AD203B41FA5}">
                      <a16:colId xmlns:a16="http://schemas.microsoft.com/office/drawing/2014/main" val="155233656"/>
                    </a:ext>
                  </a:extLst>
                </a:gridCol>
                <a:gridCol w="1462520">
                  <a:extLst>
                    <a:ext uri="{9D8B030D-6E8A-4147-A177-3AD203B41FA5}">
                      <a16:colId xmlns:a16="http://schemas.microsoft.com/office/drawing/2014/main" val="2278356070"/>
                    </a:ext>
                  </a:extLst>
                </a:gridCol>
                <a:gridCol w="1462520">
                  <a:extLst>
                    <a:ext uri="{9D8B030D-6E8A-4147-A177-3AD203B41FA5}">
                      <a16:colId xmlns:a16="http://schemas.microsoft.com/office/drawing/2014/main" val="1234828313"/>
                    </a:ext>
                  </a:extLst>
                </a:gridCol>
                <a:gridCol w="1462520">
                  <a:extLst>
                    <a:ext uri="{9D8B030D-6E8A-4147-A177-3AD203B41FA5}">
                      <a16:colId xmlns:a16="http://schemas.microsoft.com/office/drawing/2014/main" val="2890251847"/>
                    </a:ext>
                  </a:extLst>
                </a:gridCol>
                <a:gridCol w="1462520">
                  <a:extLst>
                    <a:ext uri="{9D8B030D-6E8A-4147-A177-3AD203B41FA5}">
                      <a16:colId xmlns:a16="http://schemas.microsoft.com/office/drawing/2014/main" val="2105771382"/>
                    </a:ext>
                  </a:extLst>
                </a:gridCol>
                <a:gridCol w="1462520">
                  <a:extLst>
                    <a:ext uri="{9D8B030D-6E8A-4147-A177-3AD203B41FA5}">
                      <a16:colId xmlns:a16="http://schemas.microsoft.com/office/drawing/2014/main" val="1029514408"/>
                    </a:ext>
                  </a:extLst>
                </a:gridCol>
              </a:tblGrid>
              <a:tr h="407371">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extLst>
                  <a:ext uri="{0D108BD9-81ED-4DB2-BD59-A6C34878D82A}">
                    <a16:rowId xmlns:a16="http://schemas.microsoft.com/office/drawing/2014/main" val="537700777"/>
                  </a:ext>
                </a:extLst>
              </a:tr>
              <a:tr h="1101977">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endParaRPr lang="en-US" sz="1000" b="0" i="0" u="none" strike="noStrike">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demonstrate an understanding of the concept of working directory, file types and file structures in Python.</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perform basic data cleansing activities in Python with or without using packages. Additionally, the student is able to demonstrate significant understanding of </a:t>
                      </a:r>
                      <a:r>
                        <a:rPr lang="en-US" sz="1000" b="0" i="0" u="none" strike="noStrike" noProof="0" err="1">
                          <a:solidFill>
                            <a:srgbClr val="000000"/>
                          </a:solidFill>
                          <a:effectLst/>
                          <a:highlight>
                            <a:srgbClr val="FFE1CC"/>
                          </a:highlight>
                          <a:latin typeface="Calibri"/>
                        </a:rPr>
                        <a:t>Numpy</a:t>
                      </a:r>
                      <a:r>
                        <a:rPr lang="en-US" sz="1000" b="0" i="0" u="none" strike="noStrike" noProof="0">
                          <a:solidFill>
                            <a:srgbClr val="000000"/>
                          </a:solidFill>
                          <a:effectLst/>
                          <a:highlight>
                            <a:srgbClr val="FFE1CC"/>
                          </a:highlight>
                          <a:latin typeface="Calibri"/>
                        </a:rPr>
                        <a: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design reports and visuals (e.g., using matplotlib, </a:t>
                      </a:r>
                      <a:r>
                        <a:rPr lang="en-US" sz="1000" b="0" i="0" u="none" strike="noStrike" noProof="0" err="1">
                          <a:solidFill>
                            <a:srgbClr val="000000"/>
                          </a:solidFill>
                          <a:effectLst/>
                          <a:highlight>
                            <a:srgbClr val="FFE1CC"/>
                          </a:highlight>
                          <a:latin typeface="Calibri"/>
                        </a:rPr>
                        <a:t>Streamlit</a:t>
                      </a:r>
                      <a:r>
                        <a:rPr lang="en-US" sz="1000" b="0" i="0" u="none" strike="noStrike" noProof="0">
                          <a:solidFill>
                            <a:srgbClr val="000000"/>
                          </a:solidFill>
                          <a:effectLst/>
                          <a:highlight>
                            <a:srgbClr val="FFE1CC"/>
                          </a:highlight>
                          <a:latin typeface="Calibri"/>
                        </a:rPr>
                        <a:t> ) based on the merged datasets which help providing valuable and actionable insights.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demonstrates the capability to establish a connection between Python and a database,  perform basic ETL operations such as read/write.</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join two different tables using SQL and uses this to fulfill the requirements of creative brief.</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1364420496"/>
                  </a:ext>
                </a:extLst>
              </a:tr>
              <a:tr h="2631687">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r>
                        <a:rPr lang="en-US" sz="1800" b="1" i="0" u="none" strike="noStrike">
                          <a:solidFill>
                            <a:schemeClr val="tx1">
                              <a:lumMod val="75000"/>
                            </a:schemeClr>
                          </a:solidFill>
                          <a:effectLst/>
                          <a:highlight>
                            <a:srgbClr val="FEF2CD"/>
                          </a:highlight>
                          <a:latin typeface="Calibri"/>
                        </a:rPr>
                        <a:t>Justification +Links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lnSpc>
                          <a:spcPct val="100000"/>
                        </a:lnSpc>
                        <a:spcBef>
                          <a:spcPts val="0"/>
                        </a:spcBef>
                        <a:spcAft>
                          <a:spcPts val="0"/>
                        </a:spcAft>
                        <a:buNone/>
                      </a:pPr>
                      <a:endParaRPr lang="en-US" sz="1800" b="1" i="0" u="none" strike="noStrike" noProof="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977052830"/>
                  </a:ext>
                </a:extLst>
              </a:tr>
            </a:tbl>
          </a:graphicData>
        </a:graphic>
      </p:graphicFrame>
    </p:spTree>
    <p:extLst>
      <p:ext uri="{BB962C8B-B14F-4D97-AF65-F5344CB8AC3E}">
        <p14:creationId xmlns:p14="http://schemas.microsoft.com/office/powerpoint/2010/main" val="3132603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Professional practice</a:t>
            </a:r>
            <a:endParaRPr/>
          </a:p>
        </p:txBody>
      </p:sp>
      <p:sp>
        <p:nvSpPr>
          <p:cNvPr id="365" name="Google Shape;365;p39"/>
          <p:cNvSpPr txBox="1">
            <a:spLocks noGrp="1"/>
          </p:cNvSpPr>
          <p:nvPr>
            <p:ph type="subTitle" idx="2"/>
          </p:nvPr>
        </p:nvSpPr>
        <p:spPr>
          <a:xfrm>
            <a:off x="2735580" y="3353563"/>
            <a:ext cx="5951220" cy="685800"/>
          </a:xfrm>
          <a:prstGeom prst="rect">
            <a:avLst/>
          </a:prstGeom>
        </p:spPr>
        <p:txBody>
          <a:bodyPr spcFirstLastPara="1" wrap="square" lIns="91425" tIns="91425" rIns="91425" bIns="91425" anchor="ctr" anchorCtr="0">
            <a:noAutofit/>
          </a:bodyPr>
          <a:lstStyle/>
          <a:p>
            <a:pPr marL="0" indent="0"/>
            <a:r>
              <a:rPr lang="en-US"/>
              <a:t> 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8110380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755326" cy="576000"/>
          </a:xfrm>
          <a:prstGeom prst="rect">
            <a:avLst/>
          </a:prstGeom>
        </p:spPr>
        <p:txBody>
          <a:bodyPr spcFirstLastPara="1" wrap="square" lIns="91425" tIns="91425" rIns="91425" bIns="91425" anchor="ctr" anchorCtr="0">
            <a:noAutofit/>
          </a:bodyPr>
          <a:lstStyle/>
          <a:p>
            <a:pPr marL="0" indent="0"/>
            <a:r>
              <a:rPr lang="en-US"/>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1.2</a:t>
            </a: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 accurately tracks time spent on planned and unplanned work, noting reasons for and consequences of deviations from the planned objectives. </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Professional practice</a:t>
            </a:r>
            <a:endParaRPr sz="900"/>
          </a:p>
        </p:txBody>
      </p:sp>
      <p:graphicFrame>
        <p:nvGraphicFramePr>
          <p:cNvPr id="3" name="Table 2">
            <a:extLst>
              <a:ext uri="{FF2B5EF4-FFF2-40B4-BE49-F238E27FC236}">
                <a16:creationId xmlns:a16="http://schemas.microsoft.com/office/drawing/2014/main" id="{5A5D76DD-780A-47E4-7E54-A7A840FD7EAC}"/>
              </a:ext>
            </a:extLst>
          </p:cNvPr>
          <p:cNvGraphicFramePr>
            <a:graphicFrameLocks noGrp="1"/>
          </p:cNvGraphicFramePr>
          <p:nvPr>
            <p:extLst>
              <p:ext uri="{D42A27DB-BD31-4B8C-83A1-F6EECF244321}">
                <p14:modId xmlns:p14="http://schemas.microsoft.com/office/powerpoint/2010/main" val="3440348285"/>
              </p:ext>
            </p:extLst>
          </p:nvPr>
        </p:nvGraphicFramePr>
        <p:xfrm>
          <a:off x="0" y="1069800"/>
          <a:ext cx="9144001" cy="4073700"/>
        </p:xfrm>
        <a:graphic>
          <a:graphicData uri="http://schemas.openxmlformats.org/drawingml/2006/table">
            <a:tbl>
              <a:tblPr/>
              <a:tblGrid>
                <a:gridCol w="1520946">
                  <a:extLst>
                    <a:ext uri="{9D8B030D-6E8A-4147-A177-3AD203B41FA5}">
                      <a16:colId xmlns:a16="http://schemas.microsoft.com/office/drawing/2014/main" val="2828626719"/>
                    </a:ext>
                  </a:extLst>
                </a:gridCol>
                <a:gridCol w="1502622">
                  <a:extLst>
                    <a:ext uri="{9D8B030D-6E8A-4147-A177-3AD203B41FA5}">
                      <a16:colId xmlns:a16="http://schemas.microsoft.com/office/drawing/2014/main" val="2163814410"/>
                    </a:ext>
                  </a:extLst>
                </a:gridCol>
                <a:gridCol w="1557595">
                  <a:extLst>
                    <a:ext uri="{9D8B030D-6E8A-4147-A177-3AD203B41FA5}">
                      <a16:colId xmlns:a16="http://schemas.microsoft.com/office/drawing/2014/main" val="1982883818"/>
                    </a:ext>
                  </a:extLst>
                </a:gridCol>
                <a:gridCol w="1520946">
                  <a:extLst>
                    <a:ext uri="{9D8B030D-6E8A-4147-A177-3AD203B41FA5}">
                      <a16:colId xmlns:a16="http://schemas.microsoft.com/office/drawing/2014/main" val="288988014"/>
                    </a:ext>
                  </a:extLst>
                </a:gridCol>
                <a:gridCol w="1520946">
                  <a:extLst>
                    <a:ext uri="{9D8B030D-6E8A-4147-A177-3AD203B41FA5}">
                      <a16:colId xmlns:a16="http://schemas.microsoft.com/office/drawing/2014/main" val="1128064345"/>
                    </a:ext>
                  </a:extLst>
                </a:gridCol>
                <a:gridCol w="1520946">
                  <a:extLst>
                    <a:ext uri="{9D8B030D-6E8A-4147-A177-3AD203B41FA5}">
                      <a16:colId xmlns:a16="http://schemas.microsoft.com/office/drawing/2014/main" val="1683564814"/>
                    </a:ext>
                  </a:extLst>
                </a:gridCol>
              </a:tblGrid>
              <a:tr h="192777">
                <a:tc>
                  <a:txBody>
                    <a:bodyPr/>
                    <a:lstStyle/>
                    <a:p>
                      <a:pPr algn="ctr" fontAlgn="ctr"/>
                      <a:r>
                        <a:rPr lang="en-US" sz="1000" b="1" i="0" u="none" strike="noStrike">
                          <a:solidFill>
                            <a:srgbClr val="000000"/>
                          </a:solidFill>
                          <a:effectLst/>
                          <a:highlight>
                            <a:srgbClr val="D0D0D0"/>
                          </a:highlight>
                          <a:latin typeface="Calibri"/>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2091709">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outlines the completed tasks in the worklog, with detailed comments provided where necessary.</a:t>
                      </a: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writes professional and critical reflections with time-tracking and identifying key lessons.</a:t>
                      </a:r>
                      <a:endParaRPr lang="en-US" sz="1000" noProof="0">
                        <a:latin typeface="Calibri"/>
                      </a:endParaRPr>
                    </a:p>
                    <a:p>
                      <a:pPr lvl="0" algn="l">
                        <a:buNone/>
                      </a:pPr>
                      <a:endParaRPr lang="en-US" sz="1000" b="0" i="0" u="none" strike="noStrike">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fills out the worklog for each of the weeks.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includes all references to important resources in the worklog for the listed tasks. </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student's writing style in worklog is professional and free of spelling and grammar mistakes. The student comprehends what was completed and why individual and project feedback was given. </a:t>
                      </a:r>
                      <a:endParaRPr lang="en-US" sz="1000" noProof="0">
                        <a:latin typeface="Calibri"/>
                      </a:endParaRPr>
                    </a:p>
                    <a:p>
                      <a:pPr lvl="0" algn="l">
                        <a:buNone/>
                      </a:pP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789214">
                <a:tc>
                  <a:txBody>
                    <a:bodyPr/>
                    <a:lstStyle/>
                    <a:p>
                      <a:pPr lvl="0" algn="ctr" rtl="0">
                        <a:buNone/>
                      </a:pPr>
                      <a:endParaRPr lang="en-US" sz="1800" b="1" i="0" u="none" strike="noStrike">
                        <a:solidFill>
                          <a:schemeClr val="tx1">
                            <a:lumMod val="75000"/>
                          </a:schemeClr>
                        </a:solidFill>
                        <a:effectLst/>
                        <a:highlight>
                          <a:srgbClr val="FEF2CD"/>
                        </a:highlight>
                        <a:latin typeface="Calibri"/>
                      </a:endParaRPr>
                    </a:p>
                    <a:p>
                      <a:pPr lvl="0" algn="ctr" rtl="0">
                        <a:buNone/>
                      </a:pPr>
                      <a:endParaRPr lang="en-US" sz="1800" b="1" i="0" u="none" strike="noStrike">
                        <a:solidFill>
                          <a:schemeClr val="tx1">
                            <a:lumMod val="75000"/>
                          </a:schemeClr>
                        </a:solidFill>
                        <a:effectLst/>
                        <a:highlight>
                          <a:srgbClr val="FEF2CD"/>
                        </a:highlight>
                        <a:latin typeface="Calibri"/>
                      </a:endParaRPr>
                    </a:p>
                    <a:p>
                      <a:pPr lvl="0" algn="ctr" rtl="0">
                        <a:buNone/>
                      </a:pPr>
                      <a:r>
                        <a:rPr lang="en-US" sz="1800" b="1" i="0" u="none" strike="noStrike">
                          <a:solidFill>
                            <a:schemeClr val="tx1">
                              <a:lumMod val="75000"/>
                            </a:schemeClr>
                          </a:solidFill>
                          <a:effectLst/>
                          <a:highlight>
                            <a:srgbClr val="FEF2CD"/>
                          </a:highlight>
                          <a:latin typeface="Calibri"/>
                        </a:rPr>
                        <a:t>Justification +Links</a:t>
                      </a:r>
                      <a:endParaRPr lang="en-US"/>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lnSpc>
                          <a:spcPct val="100000"/>
                        </a:lnSpc>
                        <a:spcBef>
                          <a:spcPts val="0"/>
                        </a:spcBef>
                        <a:spcAft>
                          <a:spcPts val="0"/>
                        </a:spcAft>
                        <a:buNone/>
                      </a:pPr>
                      <a:endParaRPr lang="en-US" sz="1800" b="1" i="0" u="none" strike="noStrike" noProof="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843461618"/>
                  </a:ext>
                </a:extLst>
              </a:tr>
            </a:tbl>
          </a:graphicData>
        </a:graphic>
      </p:graphicFrame>
    </p:spTree>
    <p:extLst>
      <p:ext uri="{BB962C8B-B14F-4D97-AF65-F5344CB8AC3E}">
        <p14:creationId xmlns:p14="http://schemas.microsoft.com/office/powerpoint/2010/main" val="2837328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2.2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Personal development &amp; </a:t>
            </a:r>
            <a:br>
              <a:rPr lang="en-US"/>
            </a:br>
            <a:r>
              <a:rPr lang="en-US"/>
              <a:t>Academic practice</a:t>
            </a:r>
            <a:endParaRPr/>
          </a:p>
        </p:txBody>
      </p:sp>
      <p:sp>
        <p:nvSpPr>
          <p:cNvPr id="365" name="Google Shape;365;p39"/>
          <p:cNvSpPr txBox="1">
            <a:spLocks noGrp="1"/>
          </p:cNvSpPr>
          <p:nvPr>
            <p:ph type="subTitle" idx="2"/>
          </p:nvPr>
        </p:nvSpPr>
        <p:spPr>
          <a:xfrm>
            <a:off x="2827020" y="3353563"/>
            <a:ext cx="5859780" cy="6858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2</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393416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2</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615216" cy="5760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2.2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a:t>The student shows knowledge of leadership skills by taking on the role of a leader and supporting others in being a leader. </a:t>
            </a:r>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Personal development</a:t>
            </a:r>
            <a:endParaRPr sz="900"/>
          </a:p>
        </p:txBody>
      </p:sp>
      <p:graphicFrame>
        <p:nvGraphicFramePr>
          <p:cNvPr id="2" name="Table 1">
            <a:extLst>
              <a:ext uri="{FF2B5EF4-FFF2-40B4-BE49-F238E27FC236}">
                <a16:creationId xmlns:a16="http://schemas.microsoft.com/office/drawing/2014/main" id="{B094636A-55BA-DD52-9038-48FB62682D6F}"/>
              </a:ext>
            </a:extLst>
          </p:cNvPr>
          <p:cNvGraphicFramePr>
            <a:graphicFrameLocks noGrp="1"/>
          </p:cNvGraphicFramePr>
          <p:nvPr>
            <p:extLst>
              <p:ext uri="{D42A27DB-BD31-4B8C-83A1-F6EECF244321}">
                <p14:modId xmlns:p14="http://schemas.microsoft.com/office/powerpoint/2010/main" val="3214073086"/>
              </p:ext>
            </p:extLst>
          </p:nvPr>
        </p:nvGraphicFramePr>
        <p:xfrm>
          <a:off x="0" y="1069800"/>
          <a:ext cx="9143997" cy="4073700"/>
        </p:xfrm>
        <a:graphic>
          <a:graphicData uri="http://schemas.openxmlformats.org/drawingml/2006/table">
            <a:tbl>
              <a:tblPr/>
              <a:tblGrid>
                <a:gridCol w="1758054">
                  <a:extLst>
                    <a:ext uri="{9D8B030D-6E8A-4147-A177-3AD203B41FA5}">
                      <a16:colId xmlns:a16="http://schemas.microsoft.com/office/drawing/2014/main" val="2101514686"/>
                    </a:ext>
                  </a:extLst>
                </a:gridCol>
                <a:gridCol w="3394880">
                  <a:extLst>
                    <a:ext uri="{9D8B030D-6E8A-4147-A177-3AD203B41FA5}">
                      <a16:colId xmlns:a16="http://schemas.microsoft.com/office/drawing/2014/main" val="3182331326"/>
                    </a:ext>
                  </a:extLst>
                </a:gridCol>
                <a:gridCol w="3991063">
                  <a:extLst>
                    <a:ext uri="{9D8B030D-6E8A-4147-A177-3AD203B41FA5}">
                      <a16:colId xmlns:a16="http://schemas.microsoft.com/office/drawing/2014/main" val="2156090830"/>
                    </a:ext>
                  </a:extLst>
                </a:gridCol>
              </a:tblGrid>
              <a:tr h="251194">
                <a:tc>
                  <a:txBody>
                    <a:bodyPr/>
                    <a:lstStyle/>
                    <a:p>
                      <a:pPr algn="ctr" fontAlgn="ctr"/>
                      <a:r>
                        <a:rPr lang="en-US" sz="1000" b="1" i="0" u="none" strike="noStrike">
                          <a:solidFill>
                            <a:srgbClr val="000000"/>
                          </a:solidFill>
                          <a:effectLst/>
                          <a:highlight>
                            <a:srgbClr val="D0D0D0"/>
                          </a:highlight>
                          <a:latin typeface="Calibri"/>
                        </a:rPr>
                        <a:t>pre-requisites</a:t>
                      </a: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90195127"/>
                  </a:ext>
                </a:extLst>
              </a:tr>
              <a:tr h="93133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endParaRPr lang="en-US" sz="1000" b="0" i="0" u="none" strike="noStrike">
                        <a:solidFill>
                          <a:srgbClr val="000000"/>
                        </a:solidFill>
                        <a:effectLst/>
                        <a:highlight>
                          <a:srgbClr val="FEF2CD"/>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written with a </a:t>
                      </a:r>
                      <a:r>
                        <a:rPr lang="en-US" sz="1000" b="1" i="0" u="none" strike="noStrike" noProof="0">
                          <a:solidFill>
                            <a:srgbClr val="000000"/>
                          </a:solidFill>
                          <a:effectLst/>
                          <a:latin typeface="Calibri"/>
                        </a:rPr>
                        <a:t>SMARTER</a:t>
                      </a:r>
                      <a:r>
                        <a:rPr lang="en-US" sz="1000" b="0" i="0" u="none" strike="noStrike" noProof="0">
                          <a:solidFill>
                            <a:srgbClr val="000000"/>
                          </a:solidFill>
                          <a:effectLst/>
                          <a:latin typeface="Calibri"/>
                        </a:rPr>
                        <a:t> method. The goals are shown to be Specific, Measurable, Achievable, Relevant, Time-bound, Evaluated and Readjusted. Project goals and self-development goals detailed.</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are aligned with project, personal, and professional development objectives. A detailed evaluation of the goals has been conducted throughout the block. The goals may have been re-adjusted as well. </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06371534"/>
                  </a:ext>
                </a:extLst>
              </a:tr>
              <a:tr h="289117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369291459"/>
                  </a:ext>
                </a:extLst>
              </a:tr>
            </a:tbl>
          </a:graphicData>
        </a:graphic>
      </p:graphicFrame>
    </p:spTree>
    <p:extLst>
      <p:ext uri="{BB962C8B-B14F-4D97-AF65-F5344CB8AC3E}">
        <p14:creationId xmlns:p14="http://schemas.microsoft.com/office/powerpoint/2010/main" val="4007477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6.2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en-US"/>
              <a:t>Data Collection and Processing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masters (technological) skills to acquire, pre-process, process and manage the necessary data to create value for individuals, organizations and domains. </a:t>
            </a:r>
          </a:p>
          <a:p>
            <a:pPr marL="0" indent="0"/>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6</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6254212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6</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351123" cy="576000"/>
          </a:xfrm>
          <a:prstGeom prst="rect">
            <a:avLst/>
          </a:prstGeom>
        </p:spPr>
        <p:txBody>
          <a:bodyPr spcFirstLastPara="1" wrap="square" lIns="91425" tIns="91425" rIns="91425" bIns="91425" anchor="ctr" anchorCtr="0">
            <a:noAutofit/>
          </a:bodyPr>
          <a:lstStyle/>
          <a:p>
            <a:r>
              <a:rPr lang="en-US" sz="1050"/>
              <a:t>The student masters (technological) skills to acquire, pre-process, process and manage the necessary data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6.2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perform basic ETL operations such as read/write, clean, and explore data using standard Python libraries.</a:t>
            </a:r>
            <a:endParaRPr lang="en-US"/>
          </a:p>
          <a:p>
            <a:pPr marL="0" lvl="0" indent="0" algn="l">
              <a:spcBef>
                <a:spcPts val="0"/>
              </a:spcBef>
              <a:spcAft>
                <a:spcPts val="0"/>
              </a:spcAft>
              <a:buNone/>
            </a:pPr>
            <a:endParaRPr lang="en-US" i="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Data Collection and Processing</a:t>
            </a:r>
            <a:endParaRPr lang="en-US"/>
          </a:p>
        </p:txBody>
      </p:sp>
      <p:graphicFrame>
        <p:nvGraphicFramePr>
          <p:cNvPr id="2" name="Table 1">
            <a:extLst>
              <a:ext uri="{FF2B5EF4-FFF2-40B4-BE49-F238E27FC236}">
                <a16:creationId xmlns:a16="http://schemas.microsoft.com/office/drawing/2014/main" id="{1F5721F6-C620-592B-C011-BF4A3BBF31FB}"/>
              </a:ext>
            </a:extLst>
          </p:cNvPr>
          <p:cNvGraphicFramePr>
            <a:graphicFrameLocks noGrp="1"/>
          </p:cNvGraphicFramePr>
          <p:nvPr>
            <p:extLst>
              <p:ext uri="{D42A27DB-BD31-4B8C-83A1-F6EECF244321}">
                <p14:modId xmlns:p14="http://schemas.microsoft.com/office/powerpoint/2010/main" val="3151947256"/>
              </p:ext>
            </p:extLst>
          </p:nvPr>
        </p:nvGraphicFramePr>
        <p:xfrm>
          <a:off x="0" y="1069800"/>
          <a:ext cx="9143993" cy="4130208"/>
        </p:xfrm>
        <a:graphic>
          <a:graphicData uri="http://schemas.openxmlformats.org/drawingml/2006/table">
            <a:tbl>
              <a:tblPr/>
              <a:tblGrid>
                <a:gridCol w="1520944">
                  <a:extLst>
                    <a:ext uri="{9D8B030D-6E8A-4147-A177-3AD203B41FA5}">
                      <a16:colId xmlns:a16="http://schemas.microsoft.com/office/drawing/2014/main" val="2003549626"/>
                    </a:ext>
                  </a:extLst>
                </a:gridCol>
                <a:gridCol w="3060215">
                  <a:extLst>
                    <a:ext uri="{9D8B030D-6E8A-4147-A177-3AD203B41FA5}">
                      <a16:colId xmlns:a16="http://schemas.microsoft.com/office/drawing/2014/main" val="2448315005"/>
                    </a:ext>
                  </a:extLst>
                </a:gridCol>
                <a:gridCol w="4562834">
                  <a:extLst>
                    <a:ext uri="{9D8B030D-6E8A-4147-A177-3AD203B41FA5}">
                      <a16:colId xmlns:a16="http://schemas.microsoft.com/office/drawing/2014/main" val="105465083"/>
                    </a:ext>
                  </a:extLst>
                </a:gridCol>
              </a:tblGrid>
              <a:tr h="443567">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A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B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041141703"/>
                  </a:ext>
                </a:extLst>
              </a:tr>
              <a:tr h="1472615">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cap="none" noProof="0" err="1">
                          <a:solidFill>
                            <a:srgbClr val="000000"/>
                          </a:solidFill>
                          <a:effectLst/>
                          <a:highlight>
                            <a:srgbClr val="FFE1CC"/>
                          </a:highlight>
                          <a:latin typeface="Calibri"/>
                          <a:ea typeface="+mn-ea"/>
                          <a:cs typeface="+mn-cs"/>
                          <a:sym typeface="Arial"/>
                        </a:rPr>
                        <a:t>DataLab</a:t>
                      </a:r>
                      <a:r>
                        <a:rPr lang="en-US" sz="1000" b="0" i="0" u="none" strike="noStrike" cap="none" noProof="0">
                          <a:solidFill>
                            <a:srgbClr val="000000"/>
                          </a:solidFill>
                          <a:effectLst/>
                          <a:highlight>
                            <a:srgbClr val="FFE1CC"/>
                          </a:highlight>
                          <a:latin typeface="Calibri"/>
                          <a:ea typeface="+mn-ea"/>
                          <a:cs typeface="+mn-cs"/>
                          <a:sym typeface="Arial"/>
                        </a:rPr>
                        <a:t>.</a:t>
                      </a:r>
                    </a:p>
                    <a:p>
                      <a:pPr lvl="0" algn="l">
                        <a:buNone/>
                      </a:pPr>
                      <a:endParaRPr lang="en-US" sz="1000" b="0" i="0" u="none" strike="noStrike">
                        <a:solidFill>
                          <a:srgbClr val="000000"/>
                        </a:solidFill>
                        <a:effectLst/>
                        <a:highlight>
                          <a:srgbClr val="FEF2CD"/>
                        </a:highligh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is able to clean and pre-process and </a:t>
                      </a:r>
                      <a:r>
                        <a:rPr lang="en-US" sz="1000" b="0" i="0" u="none" strike="noStrike" cap="none" noProof="0" err="1">
                          <a:solidFill>
                            <a:srgbClr val="000000"/>
                          </a:solidFill>
                          <a:effectLst/>
                          <a:highlight>
                            <a:srgbClr val="FFE1CC"/>
                          </a:highlight>
                          <a:latin typeface="Calibri"/>
                          <a:ea typeface="+mn-ea"/>
                          <a:cs typeface="+mn-cs"/>
                          <a:sym typeface="Arial"/>
                        </a:rPr>
                        <a:t>visualise</a:t>
                      </a:r>
                      <a:r>
                        <a:rPr lang="en-US" sz="1000" b="0" i="0" u="none" strike="noStrike" cap="none" noProof="0">
                          <a:solidFill>
                            <a:srgbClr val="000000"/>
                          </a:solidFill>
                          <a:effectLst/>
                          <a:highlight>
                            <a:srgbClr val="FFE1CC"/>
                          </a:highlight>
                          <a:latin typeface="Calibri"/>
                          <a:ea typeface="+mn-ea"/>
                          <a:cs typeface="+mn-cs"/>
                          <a:sym typeface="Arial"/>
                        </a:rPr>
                        <a:t> data using Python libraries.</a:t>
                      </a:r>
                      <a:endParaRPr lang="en-US" sz="1000" b="0" i="0" u="none" strike="noStrike" cap="none">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is able to use metadata from the dataset  to </a:t>
                      </a:r>
                      <a:r>
                        <a:rPr lang="en-US" sz="1000" b="0" i="0" u="none" strike="noStrike" cap="none" noProof="0" err="1">
                          <a:solidFill>
                            <a:srgbClr val="000000"/>
                          </a:solidFill>
                          <a:effectLst/>
                          <a:highlight>
                            <a:srgbClr val="FFE1CC"/>
                          </a:highlight>
                          <a:latin typeface="Calibri"/>
                          <a:ea typeface="+mn-ea"/>
                          <a:cs typeface="+mn-cs"/>
                          <a:sym typeface="Arial"/>
                        </a:rPr>
                        <a:t>analyse</a:t>
                      </a:r>
                      <a:r>
                        <a:rPr lang="en-US" sz="1000" b="0" i="0" u="none" strike="noStrike" cap="none" noProof="0">
                          <a:solidFill>
                            <a:srgbClr val="000000"/>
                          </a:solidFill>
                          <a:effectLst/>
                          <a:highlight>
                            <a:srgbClr val="FFE1CC"/>
                          </a:highlight>
                          <a:latin typeface="Calibri"/>
                          <a:ea typeface="+mn-ea"/>
                          <a:cs typeface="+mn-cs"/>
                          <a:sym typeface="Arial"/>
                        </a:rPr>
                        <a:t> the different types of data with describing the role (e.g. id / feature/ target) as well as detecting missed values.</a:t>
                      </a:r>
                      <a:endParaRPr lang="en-US" sz="1000" b="0" i="0" u="none" strike="noStrike" cap="none">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131454656"/>
                  </a:ext>
                </a:extLst>
              </a:tr>
              <a:tr h="2157518">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66779070"/>
                  </a:ext>
                </a:extLst>
              </a:tr>
            </a:tbl>
          </a:graphicData>
        </a:graphic>
      </p:graphicFrame>
    </p:spTree>
    <p:extLst>
      <p:ext uri="{BB962C8B-B14F-4D97-AF65-F5344CB8AC3E}">
        <p14:creationId xmlns:p14="http://schemas.microsoft.com/office/powerpoint/2010/main" val="1307979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8.1</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9339090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8.1</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understand different types of supervised and unsupervised machine learning algorithms for data analysis  and can implement these to solve a business objective using industry standard Python libraries.</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446303457"/>
              </p:ext>
            </p:extLst>
          </p:nvPr>
        </p:nvGraphicFramePr>
        <p:xfrm>
          <a:off x="0" y="1069800"/>
          <a:ext cx="9144001" cy="407370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has a sufficient knowledge about ML algorithms. 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r>
                        <a:rPr lang="en-US" sz="1000" b="0" i="0" u="none" strike="noStrike">
                          <a:solidFill>
                            <a:srgbClr val="000000"/>
                          </a:solidFill>
                          <a:effectLst/>
                          <a:highlight>
                            <a:srgbClr val="FEF2CD"/>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regression concepts and build a regression baseline using dataset. </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understand classification concepts and build a classification baseline using dataset</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clustering concepts and build a clustering baseline to segment patients into clusters using dataset.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is able to do the feature selection and engineering in dataset and is able to improve their model by tuning its hyperparameter(s) using a validation set and justify their model improvement(s) in the context of the business objective.</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a:t>
                      </a:r>
                      <a:r>
                        <a:rPr lang="en-US" sz="1000" b="0" i="0" u="none" strike="noStrike" noProof="0" err="1">
                          <a:solidFill>
                            <a:srgbClr val="000000"/>
                          </a:solidFill>
                          <a:effectLst/>
                          <a:highlight>
                            <a:srgbClr val="FFE1CC"/>
                          </a:highlight>
                          <a:latin typeface="Calibri"/>
                        </a:rPr>
                        <a:t>analyse</a:t>
                      </a:r>
                      <a:r>
                        <a:rPr lang="en-US" sz="1000" b="0" i="0" u="none" strike="noStrike" noProof="0">
                          <a:solidFill>
                            <a:srgbClr val="000000"/>
                          </a:solidFill>
                          <a:effectLst/>
                          <a:highlight>
                            <a:srgbClr val="FFE1CC"/>
                          </a:highlight>
                          <a:latin typeface="Calibri"/>
                        </a:rPr>
                        <a:t> and interpret the results obtained from the ML algorithms for model selection based on the solution requirements and dataset features.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83093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9643193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8.2</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perform elementary operations on matrices and understand the concepts of derivatives, gradients, optimization algorithms, and can implement a simple machine learning model from scratch.</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830487356"/>
              </p:ext>
            </p:extLst>
          </p:nvPr>
        </p:nvGraphicFramePr>
        <p:xfrm>
          <a:off x="0" y="1069800"/>
          <a:ext cx="9144001" cy="502230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2">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demonstrate a comprehensive understanding of key optimization algorithms, critically </a:t>
                      </a:r>
                      <a:r>
                        <a:rPr lang="en-US" sz="1000" b="0" i="0" u="none" strike="noStrike" noProof="0" err="1">
                          <a:solidFill>
                            <a:srgbClr val="000000"/>
                          </a:solidFill>
                          <a:effectLst/>
                          <a:highlight>
                            <a:srgbClr val="FFE1CC"/>
                          </a:highlight>
                          <a:latin typeface="Calibri"/>
                        </a:rPr>
                        <a:t>analyse</a:t>
                      </a:r>
                      <a:r>
                        <a:rPr lang="en-US" sz="1000" b="0" i="0" u="none" strike="noStrike" noProof="0">
                          <a:solidFill>
                            <a:srgbClr val="000000"/>
                          </a:solidFill>
                          <a:effectLst/>
                          <a:highlight>
                            <a:srgbClr val="FFE1CC"/>
                          </a:highlight>
                          <a:latin typeface="Calibri"/>
                        </a:rPr>
                        <a:t> their performance, and apply them to solve complex minimization and maximization problems. Furthermore, the student will have the capability to assess the impact of algorithm parameters on performance and convergence in mathematical optimization.</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implement all steps of training a regression model from scratch for their project, including implementing the cost function and finding its derivative, training the model using an optimization algorithm, evaluating the model's performance using appropriate regression metrics, and performing accurate predictions based on the trained model. </a:t>
                      </a:r>
                      <a:endParaRPr lang="en-US" sz="1000">
                        <a:latin typeface="Calibri"/>
                      </a:endParaRPr>
                    </a:p>
                    <a:p>
                      <a:pPr lvl="0" algn="l">
                        <a:buNone/>
                      </a:pPr>
                      <a:endParaRPr lang="en-US" sz="1000" b="0" i="0" u="none" strike="noStrike" noProof="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conduct fine-tuning of hyperparameters for regression models implemented from scratch, which includes implementing the regularized form of the cost function, testing different optimization algorithms (modifying them as necessary when incorporating regularization), studying the impact of learning rates on training performance, and examining how scaling features influences model performance and generalization. </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implement all steps of training a classification model from scratch for their project, including defining the cost function and calculating its derivative, training the model using an optimization algorithm, evaluating the model's performance with relevant classification metrics, and making accurate predictions based on the trained model.</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carry out hyperparameter fine-tuning for classification models developed from scratch, focusing on testing various optimization algorithms (modifying them as necessary to integrate regularization), implementing the regularized form of the cost function, analyzing the effects of learning rates on training performance, and assessing how scaling features affects model performance and generalization. </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4280157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11.1</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Reporting and Advising</a:t>
            </a:r>
            <a:endParaRPr/>
          </a:p>
        </p:txBody>
      </p:sp>
      <p:sp>
        <p:nvSpPr>
          <p:cNvPr id="365" name="Google Shape;365;p39"/>
          <p:cNvSpPr txBox="1">
            <a:spLocks noGrp="1"/>
          </p:cNvSpPr>
          <p:nvPr>
            <p:ph type="subTitle" idx="2"/>
          </p:nvPr>
        </p:nvSpPr>
        <p:spPr>
          <a:xfrm>
            <a:off x="4572000" y="3353563"/>
            <a:ext cx="4114800" cy="685800"/>
          </a:xfrm>
          <a:prstGeom prst="rect">
            <a:avLst/>
          </a:prstGeom>
        </p:spPr>
        <p:txBody>
          <a:bodyPr spcFirstLastPara="1" wrap="square" lIns="91425" tIns="91425" rIns="91425" bIns="91425" anchor="ctr" anchorCtr="0">
            <a:noAutofit/>
          </a:bodyPr>
          <a:lstStyle/>
          <a:p>
            <a:pPr marL="0" indent="0"/>
            <a:r>
              <a:rPr lang="en-US"/>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
          </a:p>
        </p:txBody>
      </p:sp>
      <p:sp>
        <p:nvSpPr>
          <p:cNvPr id="366" name="Google Shape;366;p39"/>
          <p:cNvSpPr txBox="1"/>
          <p:nvPr/>
        </p:nvSpPr>
        <p:spPr>
          <a:xfrm>
            <a:off x="-1152144" y="1013655"/>
            <a:ext cx="5823204"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6558611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90795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11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509088" cy="576000"/>
          </a:xfrm>
          <a:prstGeom prst="rect">
            <a:avLst/>
          </a:prstGeom>
        </p:spPr>
        <p:txBody>
          <a:bodyPr spcFirstLastPara="1" wrap="square" lIns="91425" tIns="91425" rIns="91425" bIns="91425" anchor="ctr" anchorCtr="0">
            <a:noAutofit/>
          </a:bodyPr>
          <a:lstStyle/>
          <a:p>
            <a:pPr marL="0" indent="0"/>
            <a:r>
              <a:rPr lang="en-US" sz="1050"/>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GB"/>
          </a:p>
        </p:txBody>
      </p:sp>
      <p:sp>
        <p:nvSpPr>
          <p:cNvPr id="397" name="Google Shape;397;p42"/>
          <p:cNvSpPr txBox="1">
            <a:spLocks noGrp="1"/>
          </p:cNvSpPr>
          <p:nvPr>
            <p:ph type="title" idx="4"/>
          </p:nvPr>
        </p:nvSpPr>
        <p:spPr>
          <a:xfrm>
            <a:off x="0" y="576000"/>
            <a:ext cx="1157712"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11.1</a:t>
            </a:r>
            <a:endParaRPr/>
          </a:p>
        </p:txBody>
      </p:sp>
      <p:sp>
        <p:nvSpPr>
          <p:cNvPr id="398" name="Google Shape;398;p42"/>
          <p:cNvSpPr txBox="1">
            <a:spLocks noGrp="1"/>
          </p:cNvSpPr>
          <p:nvPr>
            <p:ph type="title" idx="5"/>
          </p:nvPr>
        </p:nvSpPr>
        <p:spPr>
          <a:xfrm>
            <a:off x="1044450" y="576000"/>
            <a:ext cx="7315200" cy="493800"/>
          </a:xfrm>
          <a:prstGeom prst="rect">
            <a:avLst/>
          </a:prstGeom>
        </p:spPr>
        <p:txBody>
          <a:bodyPr spcFirstLastPara="1" wrap="square" lIns="91425" tIns="91425" rIns="91425" bIns="91425" anchor="ctr" anchorCtr="0">
            <a:noAutofit/>
          </a:bodyPr>
          <a:lstStyle/>
          <a:p>
            <a:r>
              <a:rPr lang="en-US" i="0"/>
              <a:t>The student is able to communicate technical concepts by means of a structured, coherent, and well-formatted professional report.</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Reporting and Advising</a:t>
            </a:r>
            <a:endParaRPr sz="900"/>
          </a:p>
        </p:txBody>
      </p:sp>
      <p:graphicFrame>
        <p:nvGraphicFramePr>
          <p:cNvPr id="2" name="Table 1">
            <a:extLst>
              <a:ext uri="{FF2B5EF4-FFF2-40B4-BE49-F238E27FC236}">
                <a16:creationId xmlns:a16="http://schemas.microsoft.com/office/drawing/2014/main" id="{AA669EC2-980A-B4FE-9112-D450A8EFD54D}"/>
              </a:ext>
            </a:extLst>
          </p:cNvPr>
          <p:cNvGraphicFramePr>
            <a:graphicFrameLocks noGrp="1"/>
          </p:cNvGraphicFramePr>
          <p:nvPr>
            <p:extLst>
              <p:ext uri="{D42A27DB-BD31-4B8C-83A1-F6EECF244321}">
                <p14:modId xmlns:p14="http://schemas.microsoft.com/office/powerpoint/2010/main" val="533302219"/>
              </p:ext>
            </p:extLst>
          </p:nvPr>
        </p:nvGraphicFramePr>
        <p:xfrm>
          <a:off x="0" y="1053422"/>
          <a:ext cx="9144001" cy="4090078"/>
        </p:xfrm>
        <a:graphic>
          <a:graphicData uri="http://schemas.openxmlformats.org/drawingml/2006/table">
            <a:tbl>
              <a:tblPr/>
              <a:tblGrid>
                <a:gridCol w="1520946">
                  <a:extLst>
                    <a:ext uri="{9D8B030D-6E8A-4147-A177-3AD203B41FA5}">
                      <a16:colId xmlns:a16="http://schemas.microsoft.com/office/drawing/2014/main" val="2968662855"/>
                    </a:ext>
                  </a:extLst>
                </a:gridCol>
                <a:gridCol w="1502622">
                  <a:extLst>
                    <a:ext uri="{9D8B030D-6E8A-4147-A177-3AD203B41FA5}">
                      <a16:colId xmlns:a16="http://schemas.microsoft.com/office/drawing/2014/main" val="2533108805"/>
                    </a:ext>
                  </a:extLst>
                </a:gridCol>
                <a:gridCol w="1557595">
                  <a:extLst>
                    <a:ext uri="{9D8B030D-6E8A-4147-A177-3AD203B41FA5}">
                      <a16:colId xmlns:a16="http://schemas.microsoft.com/office/drawing/2014/main" val="78944563"/>
                    </a:ext>
                  </a:extLst>
                </a:gridCol>
                <a:gridCol w="1520946">
                  <a:extLst>
                    <a:ext uri="{9D8B030D-6E8A-4147-A177-3AD203B41FA5}">
                      <a16:colId xmlns:a16="http://schemas.microsoft.com/office/drawing/2014/main" val="3620540080"/>
                    </a:ext>
                  </a:extLst>
                </a:gridCol>
                <a:gridCol w="1520946">
                  <a:extLst>
                    <a:ext uri="{9D8B030D-6E8A-4147-A177-3AD203B41FA5}">
                      <a16:colId xmlns:a16="http://schemas.microsoft.com/office/drawing/2014/main" val="930998757"/>
                    </a:ext>
                  </a:extLst>
                </a:gridCol>
                <a:gridCol w="1520946">
                  <a:extLst>
                    <a:ext uri="{9D8B030D-6E8A-4147-A177-3AD203B41FA5}">
                      <a16:colId xmlns:a16="http://schemas.microsoft.com/office/drawing/2014/main" val="1851329009"/>
                    </a:ext>
                  </a:extLst>
                </a:gridCol>
              </a:tblGrid>
              <a:tr h="343684">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A (Points: 3)</a:t>
                      </a:r>
                      <a:endParaRPr lang="en-US" sz="1000" b="1" i="0" u="none" strike="noStrike">
                        <a:solidFill>
                          <a:srgbClr val="000000"/>
                        </a:solidFill>
                        <a:effectLst/>
                        <a:highlight>
                          <a:srgbClr val="D0D0D0"/>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6059547"/>
                  </a:ext>
                </a:extLst>
              </a:tr>
              <a:tr h="1546814">
                <a:tc>
                  <a:txBody>
                    <a:bodyPr/>
                    <a:lstStyle/>
                    <a:p>
                      <a:pPr lvl="0" algn="l">
                        <a:buNone/>
                      </a:pPr>
                      <a:r>
                        <a:rPr lang="en-US" sz="1000" b="0" i="0" u="none" strike="noStrike" noProof="0">
                          <a:solidFill>
                            <a:srgbClr val="000000"/>
                          </a:solidFill>
                          <a:effectLst/>
                          <a:highlight>
                            <a:srgbClr val="FEF2CD"/>
                          </a:highlight>
                          <a:latin typeface="Calibri"/>
                        </a:rPr>
                        <a:t>The student should present final project and be able to answer the questions related to it during the presentation. 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define the sections (EDA, Regression, Classification, Clustering, Evaluation, Improvement) clearly based on implementations.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students is able to demonstrate an advanced understanding of machine learning concepts.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demonstrate understanding of different types of machine learning algorithms for data analysis and have implementation of baselines based on the defined project and dataset.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critically </a:t>
                      </a:r>
                      <a:r>
                        <a:rPr lang="en-US" sz="1000" b="0" i="0" u="none" strike="noStrike" noProof="0" err="1">
                          <a:solidFill>
                            <a:srgbClr val="000000"/>
                          </a:solidFill>
                          <a:effectLst/>
                          <a:highlight>
                            <a:srgbClr val="F7C7AC"/>
                          </a:highlight>
                          <a:latin typeface="Calibri"/>
                        </a:rPr>
                        <a:t>analyse</a:t>
                      </a:r>
                      <a:r>
                        <a:rPr lang="en-US" sz="1000" b="0" i="0" u="none" strike="noStrike" noProof="0">
                          <a:solidFill>
                            <a:srgbClr val="000000"/>
                          </a:solidFill>
                          <a:effectLst/>
                          <a:highlight>
                            <a:srgbClr val="F7C7AC"/>
                          </a:highlight>
                          <a:latin typeface="Calibri"/>
                        </a:rPr>
                        <a:t> and evaluate their proposed solutions based on its relevance for the business objectives. </a:t>
                      </a:r>
                      <a:r>
                        <a:rPr lang="en-US" sz="1000" b="0" i="0" u="none" strike="noStrike">
                          <a:solidFill>
                            <a:srgbClr val="000000"/>
                          </a:solidFill>
                          <a:effectLst/>
                          <a:highlight>
                            <a:srgbClr val="F7C7AC"/>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has a clean and commented code and is able to identify the shortcomings of the current implementation and propose next steps for improving the quality of implementation.</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4009708987"/>
                  </a:ext>
                </a:extLst>
              </a:tr>
              <a:tr h="2199580">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69269582"/>
                  </a:ext>
                </a:extLst>
              </a:tr>
            </a:tbl>
          </a:graphicData>
        </a:graphic>
      </p:graphicFrame>
    </p:spTree>
    <p:extLst>
      <p:ext uri="{BB962C8B-B14F-4D97-AF65-F5344CB8AC3E}">
        <p14:creationId xmlns:p14="http://schemas.microsoft.com/office/powerpoint/2010/main" val="3301034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t>
            </a:r>
            <a:r>
              <a:rPr lang="en-NL" err="1"/>
              <a:t>edal</a:t>
            </a:r>
            <a:r>
              <a:rPr lang="en-NL"/>
              <a:t> Challenges</a:t>
            </a:r>
            <a:endParaRPr/>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Going the extra mile!</a:t>
            </a:r>
            <a:endParaRPr/>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2832951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4294967295"/>
          </p:nvPr>
        </p:nvSpPr>
        <p:spPr>
          <a:xfrm>
            <a:off x="63194" y="1152000"/>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NL" err="1"/>
              <a:t>ut</a:t>
            </a:r>
            <a:r>
              <a:rPr lang="en-NL"/>
              <a:t> your evidence down here to receive a medal!</a:t>
            </a:r>
            <a:endParaRPr lang="en-GB"/>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Going the extra mile!</a:t>
            </a:r>
            <a:endParaRPr lang="en-GB"/>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Medal Challenges</a:t>
            </a:r>
            <a:endParaRPr lang="en-US"/>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33184646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D</a:t>
            </a:r>
            <a:endParaRPr sz="40000">
              <a:solidFill>
                <a:srgbClr val="999999"/>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My most significant achievements this block</a:t>
            </a:r>
            <a:endParaRPr/>
          </a:p>
        </p:txBody>
      </p:sp>
      <p:sp>
        <p:nvSpPr>
          <p:cNvPr id="507" name="Google Shape;507;p53"/>
          <p:cNvSpPr txBox="1">
            <a:spLocks noGrp="1"/>
          </p:cNvSpPr>
          <p:nvPr>
            <p:ph type="body" idx="3"/>
          </p:nvPr>
        </p:nvSpPr>
        <p:spPr>
          <a:xfrm>
            <a:off x="182880" y="1069848"/>
            <a:ext cx="87783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My most difficult challenges this block</a:t>
            </a:r>
            <a:endParaRPr sz="1400" b="1"/>
          </a:p>
          <a:p>
            <a:pPr marL="0" lvl="0" indent="0" algn="just" rtl="0">
              <a:spcBef>
                <a:spcPts val="80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The most important lessons I learned</a:t>
            </a:r>
            <a:endParaRPr sz="1400" b="1"/>
          </a:p>
          <a:p>
            <a:pPr marL="0" lvl="0" indent="0" algn="just" rtl="0">
              <a:spcBef>
                <a:spcPts val="800"/>
              </a:spcBef>
              <a:spcAft>
                <a:spcPts val="800"/>
              </a:spcAft>
              <a:buNone/>
            </a:pPr>
            <a:r>
              <a:rPr lang="en"/>
              <a:t>...</a:t>
            </a:r>
            <a:endParaRPr/>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5" name="Google Shape;515;p54"/>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
        <p:nvSpPr>
          <p:cNvPr id="516" name="Google Shape;516;p54"/>
          <p:cNvSpPr txBox="1">
            <a:spLocks noGrp="1"/>
          </p:cNvSpPr>
          <p:nvPr>
            <p:ph type="subTitle" idx="1"/>
          </p:nvPr>
        </p:nvSpPr>
        <p:spPr>
          <a:xfrm>
            <a:off x="182880" y="667512"/>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 on my self assessment				My self assessment grade is a</a:t>
            </a:r>
            <a:endParaRPr b="0" i="1"/>
          </a:p>
        </p:txBody>
      </p:sp>
      <p:sp>
        <p:nvSpPr>
          <p:cNvPr id="517" name="Google Shape;517;p54"/>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How I plan to improve next block</a:t>
            </a:r>
            <a:endParaRPr sz="1400" b="1"/>
          </a:p>
          <a:p>
            <a:pPr marL="0" lvl="0" indent="0" algn="just" rtl="0">
              <a:spcBef>
                <a:spcPts val="800"/>
              </a:spcBef>
              <a:spcAft>
                <a:spcPts val="800"/>
              </a:spcAft>
              <a:buNone/>
            </a:pPr>
            <a:r>
              <a:rPr lang="en"/>
              <a:t>...</a:t>
            </a:r>
            <a:endParaRPr/>
          </a:p>
        </p:txBody>
      </p:sp>
      <p:sp>
        <p:nvSpPr>
          <p:cNvPr id="518" name="Google Shape;518;p54"/>
          <p:cNvSpPr txBox="1"/>
          <p:nvPr/>
        </p:nvSpPr>
        <p:spPr>
          <a:xfrm>
            <a:off x="7933066" y="749712"/>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rgbClr val="434343"/>
                </a:solidFill>
                <a:latin typeface="Roboto"/>
                <a:ea typeface="Roboto"/>
                <a:cs typeface="Roboto"/>
                <a:sym typeface="Roboto"/>
              </a:rPr>
              <a:t>x.x</a:t>
            </a:r>
            <a:endParaRPr sz="3600" b="1">
              <a:solidFill>
                <a:srgbClr val="434343"/>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ADAD4AA324BF48804EF76FD903323C" ma:contentTypeVersion="15" ma:contentTypeDescription="Create a new document." ma:contentTypeScope="" ma:versionID="4ea0feda506421460444ca95554a0aab">
  <xsd:schema xmlns:xsd="http://www.w3.org/2001/XMLSchema" xmlns:xs="http://www.w3.org/2001/XMLSchema" xmlns:p="http://schemas.microsoft.com/office/2006/metadata/properties" xmlns:ns2="5ff92c65-ed86-4457-baee-ccd535c9ea21" xmlns:ns3="6c8d291c-a5bf-4049-930d-38db8e991d8e" targetNamespace="http://schemas.microsoft.com/office/2006/metadata/properties" ma:root="true" ma:fieldsID="0fc8cf7d0f5ee312899395875a30595e" ns2:_="" ns3:_="">
    <xsd:import namespace="5ff92c65-ed86-4457-baee-ccd535c9ea21"/>
    <xsd:import namespace="6c8d291c-a5bf-4049-930d-38db8e99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f92c65-ed86-4457-baee-ccd535c9ea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8d291c-a5bf-4049-930d-38db8e991d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ad53588-c864-4711-ad43-fad96b40598a}" ma:internalName="TaxCatchAll" ma:showField="CatchAllData" ma:web="6c8d291c-a5bf-4049-930d-38db8e99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6c8d291c-a5bf-4049-930d-38db8e991d8e">
      <UserInfo>
        <DisplayName/>
        <AccountId xsi:nil="true"/>
        <AccountType/>
      </UserInfo>
    </SharedWithUsers>
    <TaxCatchAll xmlns="6c8d291c-a5bf-4049-930d-38db8e991d8e" xsi:nil="true"/>
    <lcf76f155ced4ddcb4097134ff3c332f xmlns="5ff92c65-ed86-4457-baee-ccd535c9ea2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562638-1947-4789-9FBF-F833DB2C18A8}">
  <ds:schemaRefs>
    <ds:schemaRef ds:uri="5ff92c65-ed86-4457-baee-ccd535c9ea21"/>
    <ds:schemaRef ds:uri="6c8d291c-a5bf-4049-930d-38db8e991d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067B86F-F5BB-4BE6-9A37-0E19E53CB68B}">
  <ds:schemaRefs>
    <ds:schemaRef ds:uri="6c8d291c-a5bf-4049-930d-38db8e991d8e"/>
    <ds:schemaRef ds:uri="http://schemas.microsoft.com/office/2006/documentManagement/types"/>
    <ds:schemaRef ds:uri="http://purl.org/dc/elements/1.1/"/>
    <ds:schemaRef ds:uri="http://purl.org/dc/dcmitype/"/>
    <ds:schemaRef ds:uri="5ff92c65-ed86-4457-baee-ccd535c9ea21"/>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8D9791E-52D0-4ABB-925A-4EAECF798D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2446</TotalTime>
  <Words>8986</Words>
  <Application>Microsoft Office PowerPoint</Application>
  <PresentationFormat>On-screen Show (16:9)</PresentationFormat>
  <Paragraphs>641</Paragraphs>
  <Slides>48</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Roboto</vt:lpstr>
      <vt:lpstr>Proxima Nova</vt:lpstr>
      <vt:lpstr>Arial</vt:lpstr>
      <vt:lpstr>Roboto Light</vt:lpstr>
      <vt:lpstr>Calibri</vt:lpstr>
      <vt:lpstr>Roboto Thin</vt:lpstr>
      <vt:lpstr>Helvetica Neue</vt:lpstr>
      <vt:lpstr>Open Sans</vt:lpstr>
      <vt:lpstr>BUAS Gameday</vt:lpstr>
      <vt:lpstr>« Mohammadali Jaberi » « Jaberi » «creativebrief/projectname»</vt:lpstr>
      <vt:lpstr>How To Use This Template</vt:lpstr>
      <vt:lpstr>Learning Log Structure</vt:lpstr>
      <vt:lpstr>Section A</vt:lpstr>
      <vt:lpstr>Where am I starting?</vt:lpstr>
      <vt:lpstr>What is my plan?</vt:lpstr>
      <vt:lpstr>What are my goals?</vt:lpstr>
      <vt:lpstr>PowerPoint Presentation</vt:lpstr>
      <vt:lpstr>Section B</vt:lpstr>
      <vt:lpstr>Week 1 - Log</vt:lpstr>
      <vt:lpstr>  </vt:lpstr>
      <vt:lpstr>Week 1 - Feedback</vt:lpstr>
      <vt:lpstr>Week 2 - Log</vt:lpstr>
      <vt:lpstr> </vt:lpstr>
      <vt:lpstr>Week 2 - Feedback</vt:lpstr>
      <vt:lpstr>Week 3 - Log</vt:lpstr>
      <vt:lpstr>PowerPoint Presentation</vt:lpstr>
      <vt:lpstr>Week 3 - Feedback</vt:lpstr>
      <vt:lpstr>Week 4 - Log</vt:lpstr>
      <vt:lpstr>Week 4 - Feedback</vt:lpstr>
      <vt:lpstr>Week 5 - Log</vt:lpstr>
      <vt:lpstr>Week 5 - Feedback</vt:lpstr>
      <vt:lpstr>Week 6 - Log</vt:lpstr>
      <vt:lpstr>Week 6 - Feedback</vt:lpstr>
      <vt:lpstr>Week 7 - Log</vt:lpstr>
      <vt:lpstr>Week 7 - Feedback</vt:lpstr>
      <vt:lpstr>Week 8 - Log</vt:lpstr>
      <vt:lpstr>Week 8 - Feedback</vt:lpstr>
      <vt:lpstr>Section C</vt:lpstr>
      <vt:lpstr>ILO 0.2</vt:lpstr>
      <vt:lpstr>ILO 0</vt:lpstr>
      <vt:lpstr>ILO 1.2</vt:lpstr>
      <vt:lpstr>ILO 1</vt:lpstr>
      <vt:lpstr>ILO 2.2</vt:lpstr>
      <vt:lpstr>ILO 2</vt:lpstr>
      <vt:lpstr>ILO 6.2</vt:lpstr>
      <vt:lpstr>ILO 6</vt:lpstr>
      <vt:lpstr>ILO 8.1</vt:lpstr>
      <vt:lpstr>ILO 8</vt:lpstr>
      <vt:lpstr>ILO 8.2</vt:lpstr>
      <vt:lpstr>ILO 8</vt:lpstr>
      <vt:lpstr>ILO 11.1</vt:lpstr>
      <vt:lpstr>ILO 11</vt:lpstr>
      <vt:lpstr>Medal Challenges</vt:lpstr>
      <vt:lpstr>1/1</vt:lpstr>
      <vt:lpstr>Section D</vt:lpstr>
      <vt:lpstr>What did I achieve this block?</vt:lpstr>
      <vt:lpstr>How well am I progressing?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dc:creator>Neggers, Margot</dc:creator>
  <cp:lastModifiedBy>m.jaberi14979@gmail.com</cp:lastModifiedBy>
  <cp:revision>15</cp:revision>
  <cp:lastPrinted>2024-11-19T21:18:05Z</cp:lastPrinted>
  <dcterms:modified xsi:type="dcterms:W3CDTF">2024-12-13T22:41:43Z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0x0101000BADAD4AA324BF48804EF76FD903323C</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